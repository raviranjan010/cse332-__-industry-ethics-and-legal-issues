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31000" cy="93964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tU+FCa7xCQf11hOsitz5UM8/K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70325" y="0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fld id="{00000000-1234-1234-1234-123412341234}" type="slidenum"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911225" y="4464050"/>
            <a:ext cx="5008563" cy="422751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066800" y="704850"/>
            <a:ext cx="4699000" cy="35242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152400" y="838200"/>
            <a:ext cx="4343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»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838200"/>
            <a:ext cx="4343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»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»"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»"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»"/>
              <a:defRPr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1828800" y="-838200"/>
            <a:ext cx="54864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800600" y="2133600"/>
            <a:ext cx="6172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304800" y="0"/>
            <a:ext cx="6172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–"/>
              <a:defRPr b="0" i="0" sz="28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b="0" i="0" sz="24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28600" lvl="5" marL="2743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28600" lvl="6" marL="3200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28600" lvl="7" marL="3657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28600" lvl="8" marL="4114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Relationship Id="rId7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6.png"/><Relationship Id="rId7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2.jpg"/><Relationship Id="rId5" Type="http://schemas.openxmlformats.org/officeDocument/2006/relationships/image" Target="../media/image8.jp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jpg"/><Relationship Id="rId5" Type="http://schemas.openxmlformats.org/officeDocument/2006/relationships/oleObject" Target="../embeddings/oleObject3.bin"/><Relationship Id="rId6" Type="http://schemas.openxmlformats.org/officeDocument/2006/relationships/image" Target="../media/image6.png"/><Relationship Id="rId7" Type="http://schemas.openxmlformats.org/officeDocument/2006/relationships/image" Target="../media/image1.jpg"/><Relationship Id="rId8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6.png"/><Relationship Id="rId7" Type="http://schemas.openxmlformats.org/officeDocument/2006/relationships/image" Target="../media/image1.jpg"/><Relationship Id="rId8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6.png"/><Relationship Id="rId7" Type="http://schemas.openxmlformats.org/officeDocument/2006/relationships/image" Target="../media/image1.jpg"/><Relationship Id="rId8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6.png"/><Relationship Id="rId7" Type="http://schemas.openxmlformats.org/officeDocument/2006/relationships/image" Target="../media/image1.jpg"/><Relationship Id="rId8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6.png"/><Relationship Id="rId7" Type="http://schemas.openxmlformats.org/officeDocument/2006/relationships/image" Target="../media/image1.jp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43669" y="467518"/>
            <a:ext cx="8771731" cy="2809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CSE332</a:t>
            </a:r>
            <a:br>
              <a:rPr lang="en-US" sz="5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Industrial Ethics and Legal Issues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" name="Google Shape;89;p1"/>
          <p:cNvGraphicFramePr/>
          <p:nvPr/>
        </p:nvGraphicFramePr>
        <p:xfrm>
          <a:off x="2717112" y="4940001"/>
          <a:ext cx="2718275" cy="1101725"/>
        </p:xfrm>
        <a:graphic>
          <a:graphicData uri="http://schemas.openxmlformats.org/presentationml/2006/ole">
            <mc:AlternateContent>
              <mc:Choice Requires="v">
                <p:oleObj r:id="rId4" imgH="1101725" imgW="2718275" progId="" spid="_x0000_s1">
                  <p:embed/>
                </p:oleObj>
              </mc:Choice>
              <mc:Fallback>
                <p:oleObj r:id="rId5" imgH="1101725" imgW="2718275" progId="">
                  <p:embed/>
                  <p:pic>
                    <p:nvPicPr>
                      <p:cNvPr id="89" name="Google Shape;89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17112" y="4940001"/>
                        <a:ext cx="27182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1828800" y="2687637"/>
            <a:ext cx="54102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91" name="Google Shape;91;p1"/>
          <p:cNvSpPr txBox="1"/>
          <p:nvPr/>
        </p:nvSpPr>
        <p:spPr>
          <a:xfrm>
            <a:off x="1524000" y="3691234"/>
            <a:ext cx="70353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7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9972"/>
                </a:solidFill>
                <a:latin typeface="Arial"/>
                <a:ea typeface="Arial"/>
                <a:cs typeface="Arial"/>
                <a:sym typeface="Arial"/>
              </a:rPr>
              <a:t>Ethical Behavior of IT Professional</a:t>
            </a:r>
            <a:endParaRPr b="0" i="0" sz="2800" u="none" cap="none" strike="noStrike">
              <a:solidFill>
                <a:srgbClr val="0099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PU Online Approval and Recognitions" id="92" name="Google Shape;92;p1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5607304" y="5260031"/>
            <a:ext cx="1667673" cy="461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</a:rPr>
              <a:t>Profession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profession is a calling that requires specialized knowledge and often long and intensive academic preparation.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Professional ?</a:t>
            </a:r>
            <a:endParaRPr/>
          </a:p>
        </p:txBody>
      </p:sp>
      <p:pic>
        <p:nvPicPr>
          <p:cNvPr descr="logo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5025" y="0"/>
            <a:ext cx="322897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" name="Google Shape;106;p3"/>
          <p:cNvGraphicFramePr/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>
              <mc:Choice Requires="v">
                <p:oleObj r:id="rId4" imgH="727411" imgW="1794734" progId="" spid="_x0000_s1">
                  <p:embed/>
                </p:oleObj>
              </mc:Choice>
              <mc:Fallback>
                <p:oleObj r:id="rId5" imgH="727411" imgW="1794734" progId="">
                  <p:embed/>
                  <p:pic>
                    <p:nvPicPr>
                      <p:cNvPr id="106" name="Google Shape;106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LPU Online Approval and Recognitions" id="107" name="Google Shape;107;p3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7241586" y="858788"/>
            <a:ext cx="885099" cy="2450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7929" y="96078"/>
            <a:ext cx="7086600" cy="523220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omic Sans MS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Professional Employee</a:t>
            </a:r>
            <a:endParaRPr b="1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9792" y="992333"/>
            <a:ext cx="7086600" cy="457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169964" y="887636"/>
            <a:ext cx="7821636" cy="206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omic Sans MS"/>
              <a:buNone/>
            </a:pPr>
            <a:r>
              <a:t/>
            </a:r>
            <a:endParaRPr b="0" i="0" sz="2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who is engaged in the performance of work 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Specialized intellectual instruction.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of discretion and judgement. </a:t>
            </a:r>
            <a:endParaRPr/>
          </a:p>
        </p:txBody>
      </p:sp>
    </p:spTree>
  </p:cSld>
  <p:clrMapOvr>
    <a:masterClrMapping/>
  </p:clrMapOvr>
  <p:transition advClick="0"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252413" y="320675"/>
            <a:ext cx="5381625" cy="5897563"/>
          </a:xfrm>
          <a:prstGeom prst="rect">
            <a:avLst/>
          </a:prstGeom>
          <a:solidFill>
            <a:schemeClr val="dk1">
              <a:alpha val="14901"/>
            </a:schemeClr>
          </a:solidFill>
          <a:ln cap="sq" cmpd="thinThick" w="127000">
            <a:solidFill>
              <a:schemeClr val="dk1">
                <a:alpha val="9803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615950" y="2122488"/>
            <a:ext cx="4654550" cy="362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Professionals such as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doctors, lawyers, and accountants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require advanced training and experience; they must exercise </a:t>
            </a:r>
            <a:r>
              <a:rPr b="1" lang="en-US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Carefulness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and judgment in the course of their work.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picture containing person, building, clothing&#10;&#10;Description generated with high confidence" id="117" name="Google Shape;117;p4"/>
          <p:cNvPicPr preferRelativeResize="0"/>
          <p:nvPr/>
        </p:nvPicPr>
        <p:blipFill rotWithShape="1">
          <a:blip r:embed="rId3">
            <a:alphaModFix/>
          </a:blip>
          <a:srcRect b="31210" l="0" r="0" t="0"/>
          <a:stretch/>
        </p:blipFill>
        <p:spPr>
          <a:xfrm>
            <a:off x="5915025" y="1309689"/>
            <a:ext cx="3032125" cy="18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16202" l="0" r="0" t="0"/>
          <a:stretch/>
        </p:blipFill>
        <p:spPr>
          <a:xfrm>
            <a:off x="5915025" y="3317876"/>
            <a:ext cx="303212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wearing a suit and tie&#10;&#10;Description generated with very high confidence" id="119" name="Google Shape;119;p4"/>
          <p:cNvPicPr preferRelativeResize="0"/>
          <p:nvPr/>
        </p:nvPicPr>
        <p:blipFill rotWithShape="1">
          <a:blip r:embed="rId5">
            <a:alphaModFix/>
          </a:blip>
          <a:srcRect b="44077" l="0" r="5" t="10451"/>
          <a:stretch/>
        </p:blipFill>
        <p:spPr>
          <a:xfrm>
            <a:off x="5844720" y="4986338"/>
            <a:ext cx="303212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120" name="Google Shape;1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5025" y="0"/>
            <a:ext cx="322897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>
              <mc:Choice Requires="v">
                <p:oleObj r:id="rId4" imgH="727411" imgW="1794734" progId="" spid="_x0000_s1">
                  <p:embed/>
                </p:oleObj>
              </mc:Choice>
              <mc:Fallback>
                <p:oleObj r:id="rId5" imgH="727411" imgW="1794734" progId="">
                  <p:embed/>
                  <p:pic>
                    <p:nvPicPr>
                      <p:cNvPr id="127" name="Google Shape;127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LPU Online Approval and Recognitions" id="128" name="Google Shape;128;p5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7241586" y="858788"/>
            <a:ext cx="885099" cy="245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1431" y="23328"/>
            <a:ext cx="7086600" cy="1200329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Are IT Workers Professionals?</a:t>
            </a:r>
            <a:endParaRPr b="1" i="0" sz="2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63" y="1307010"/>
            <a:ext cx="7086600" cy="457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855952" y="1250807"/>
            <a:ext cx="6858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Specialized Knowledge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Ethical Behaviour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Accountability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Commitment to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Continuous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Learning 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6300" y="4114800"/>
            <a:ext cx="43053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29000" y="2590800"/>
            <a:ext cx="5715000" cy="4146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6"/>
          <p:cNvGraphicFramePr/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>
              <mc:Choice Requires="v">
                <p:oleObj r:id="rId4" imgH="727411" imgW="1794734" progId="" spid="_x0000_s1">
                  <p:embed/>
                </p:oleObj>
              </mc:Choice>
              <mc:Fallback>
                <p:oleObj r:id="rId5" imgH="727411" imgW="1794734" progId="">
                  <p:embed/>
                  <p:pic>
                    <p:nvPicPr>
                      <p:cNvPr id="140" name="Google Shape;140;p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LPU Online Approval and Recognitions" id="141" name="Google Shape;141;p6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7241586" y="858788"/>
            <a:ext cx="885099" cy="24502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0" y="115045"/>
            <a:ext cx="7086600" cy="461665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Common Ethical Issues For IT Users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0" y="576710"/>
            <a:ext cx="7086600" cy="457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4" name="Google Shape;144;p6"/>
          <p:cNvSpPr txBox="1"/>
          <p:nvPr>
            <p:ph idx="1" type="body"/>
          </p:nvPr>
        </p:nvSpPr>
        <p:spPr>
          <a:xfrm>
            <a:off x="-228600" y="976817"/>
            <a:ext cx="6858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1319" lvl="1" marL="782637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Privacy Concern 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Cybersecurity Risks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Misuse of IT Resource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Surveillance and </a:t>
            </a:r>
            <a:endParaRPr/>
          </a:p>
          <a:p>
            <a:pPr indent="0" lvl="1" marL="391318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Monitoring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9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5200" y="2971800"/>
            <a:ext cx="5528534" cy="3771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Business Software Alliance (BSA)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304800" y="1676400"/>
            <a:ext cx="3833813" cy="4500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Business Software Alliance (BSA) is a trade group that represents the world’s largest software and hardware manufacturers. </a:t>
            </a:r>
            <a:endParaRPr/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Its mission is to stop the unauthorized copying of software produced by its members.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-2" l="0" r="13564" t="0"/>
          <a:stretch/>
        </p:blipFill>
        <p:spPr>
          <a:xfrm>
            <a:off x="4284663" y="1905000"/>
            <a:ext cx="4230687" cy="4033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025" y="0"/>
            <a:ext cx="322897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More than 100 BSA lawyers and investigators prosecute thousands of </a:t>
            </a: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 of software piracy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each year. </a:t>
            </a:r>
            <a:endParaRPr/>
          </a:p>
          <a:p>
            <a:pPr indent="-1524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omic Sans MS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BSA investigations are usually triggered by calls to the BSA hotline, reports sent to the BSA Web site (www.nopiracy.org), and referrals from member companies.</a:t>
            </a:r>
            <a:endParaRPr/>
          </a:p>
          <a:p>
            <a:pPr indent="-1524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omic Sans MS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5025" y="0"/>
            <a:ext cx="322897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p9"/>
          <p:cNvGraphicFramePr/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>
              <mc:Choice Requires="v">
                <p:oleObj r:id="rId4" imgH="727411" imgW="1794734" progId="" spid="_x0000_s1">
                  <p:embed/>
                </p:oleObj>
              </mc:Choice>
              <mc:Fallback>
                <p:oleObj r:id="rId5" imgH="727411" imgW="1794734" progId="">
                  <p:embed/>
                  <p:pic>
                    <p:nvPicPr>
                      <p:cNvPr id="167" name="Google Shape;167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LPU Online Approval and Recognitions" id="168" name="Google Shape;168;p9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7241586" y="858788"/>
            <a:ext cx="885099" cy="24502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0" y="115045"/>
            <a:ext cx="7086600" cy="830997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Supporting the Ethical Practices Of IT Users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0" y="946768"/>
            <a:ext cx="7086600" cy="457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9"/>
          <p:cNvSpPr txBox="1"/>
          <p:nvPr>
            <p:ph idx="1" type="body"/>
          </p:nvPr>
        </p:nvSpPr>
        <p:spPr>
          <a:xfrm>
            <a:off x="0" y="1001020"/>
            <a:ext cx="6858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1319" lvl="1" marL="782637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Education And Awareness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Clear Policies and Standards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Access Control and Security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Ethical Use Of AI And Automation</a:t>
            </a:r>
            <a:endParaRPr/>
          </a:p>
          <a:p>
            <a:pPr indent="-3913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Collaboration and  community Involvement </a:t>
            </a:r>
            <a:endParaRPr/>
          </a:p>
          <a:p>
            <a:pPr indent="-2389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9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000" y="3779519"/>
            <a:ext cx="6096000" cy="2876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mic Sans MS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p10"/>
          <p:cNvGraphicFramePr/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>
              <mc:Choice Requires="v">
                <p:oleObj r:id="rId4" imgH="727411" imgW="1794734" progId="" spid="_x0000_s1">
                  <p:embed/>
                </p:oleObj>
              </mc:Choice>
              <mc:Fallback>
                <p:oleObj r:id="rId5" imgH="727411" imgW="1794734" progId="">
                  <p:embed/>
                  <p:pic>
                    <p:nvPicPr>
                      <p:cNvPr id="179" name="Google Shape;179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LPU Online Approval and Recognitions" id="180" name="Google Shape;180;p10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7241586" y="858788"/>
            <a:ext cx="885099" cy="24502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0" y="115045"/>
            <a:ext cx="7086600" cy="461665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Supporting the Ethical Practices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0" y="681447"/>
            <a:ext cx="7086600" cy="457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" name="Google Shape;183;p10"/>
          <p:cNvSpPr txBox="1"/>
          <p:nvPr>
            <p:ph idx="1" type="body"/>
          </p:nvPr>
        </p:nvSpPr>
        <p:spPr>
          <a:xfrm>
            <a:off x="0" y="1001020"/>
            <a:ext cx="6858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919" lvl="1" marL="782637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919" lvl="1" marL="782637" rtl="0" algn="l">
              <a:lnSpc>
                <a:spcPct val="161583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6158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2342" y="1110516"/>
            <a:ext cx="8539316" cy="5220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>
            <p:ph idx="1" type="body"/>
          </p:nvPr>
        </p:nvSpPr>
        <p:spPr>
          <a:xfrm>
            <a:off x="2819400" y="2743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62699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Women Empowerment </a:t>
            </a:r>
            <a:endParaRPr/>
          </a:p>
          <a:p>
            <a:pPr indent="-342900" lvl="0" marL="342900" rtl="0" algn="l">
              <a:lnSpc>
                <a:spcPct val="107000"/>
              </a:lnSpc>
              <a:spcBef>
                <a:spcPts val="1240"/>
              </a:spcBef>
              <a:spcAft>
                <a:spcPts val="0"/>
              </a:spcAft>
              <a:buClr>
                <a:srgbClr val="262699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Ethical Aspects of Engineering Practices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omic Sans MS"/>
              <a:buNone/>
            </a:pPr>
            <a:r>
              <a:t/>
            </a:r>
            <a:endParaRPr sz="22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omic Sans MS"/>
              <a:buNone/>
            </a:pPr>
            <a:r>
              <a:t/>
            </a:r>
            <a:endParaRPr sz="22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0" y="644411"/>
            <a:ext cx="7086600" cy="457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0" y="182746"/>
            <a:ext cx="7086600" cy="461665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NEXT TOPIC:</a:t>
            </a:r>
            <a:endParaRPr/>
          </a:p>
        </p:txBody>
      </p:sp>
      <p:graphicFrame>
        <p:nvGraphicFramePr>
          <p:cNvPr id="193" name="Google Shape;193;p11"/>
          <p:cNvGraphicFramePr/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>
              <mc:Choice Requires="v">
                <p:oleObj r:id="rId4" imgH="727411" imgW="1794734" progId="" spid="_x0000_s1">
                  <p:embed/>
                </p:oleObj>
              </mc:Choice>
              <mc:Fallback>
                <p:oleObj r:id="rId5" imgH="727411" imgW="1794734" progId="">
                  <p:embed/>
                  <p:pic>
                    <p:nvPicPr>
                      <p:cNvPr id="193" name="Google Shape;193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descr="blob:https://web.whatsapp.com/179ee611-44f9-4421-b86f-193c8c99f0dd" id="194" name="Google Shape;194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LPU Online Approval and Recognitions" id="195" name="Google Shape;195;p11"/>
          <p:cNvPicPr preferRelativeResize="0"/>
          <p:nvPr/>
        </p:nvPicPr>
        <p:blipFill rotWithShape="1">
          <a:blip r:embed="rId7">
            <a:alphaModFix/>
          </a:blip>
          <a:srcRect b="22274" l="0" r="0" t="22360"/>
          <a:stretch/>
        </p:blipFill>
        <p:spPr>
          <a:xfrm>
            <a:off x="7241586" y="858788"/>
            <a:ext cx="885099" cy="24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1"/>
          <p:cNvPicPr preferRelativeResize="0"/>
          <p:nvPr/>
        </p:nvPicPr>
        <p:blipFill rotWithShape="1">
          <a:blip r:embed="rId8">
            <a:alphaModFix/>
          </a:blip>
          <a:srcRect b="7778" l="10000" r="0" t="7778"/>
          <a:stretch/>
        </p:blipFill>
        <p:spPr>
          <a:xfrm>
            <a:off x="596179" y="2391000"/>
            <a:ext cx="1918421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2000-08-31T01:12:33Z</dcterms:created>
  <dc:creator>Costas Busch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1008A173FEB940478D60637772C2B8AC</vt:lpwstr>
  </property>
  <property fmtid="{D5CDD505-2E9C-101B-9397-08002B2CF9AE}" pid="3" name="KSOProductBuildVer">
    <vt:lpwstr>1033-11.2.0.10258</vt:lpwstr>
  </property>
</Properties>
</file>