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316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58" autoAdjust="0"/>
    <p:restoredTop sz="94660"/>
  </p:normalViewPr>
  <p:slideViewPr>
    <p:cSldViewPr>
      <p:cViewPr varScale="1">
        <p:scale>
          <a:sx n="82" d="100"/>
          <a:sy n="82" d="100"/>
        </p:scale>
        <p:origin x="-696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r>
              <a:rPr/>
              <a:t/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09CB284-352B-4A2C-498D-58633AE6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8715C41-80A8-288F-9834-2E9478508FD3}"/>
              </a:ext>
            </a:extLst>
          </p:cNvPr>
          <p:cNvSpPr txBox="1"/>
          <p:nvPr/>
        </p:nvSpPr>
        <p:spPr>
          <a:xfrm>
            <a:off x="911424" y="836712"/>
            <a:ext cx="609790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Stages from filing to grant of a patent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A2958F3-4C30-539E-0040-BF7CF3109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359932"/>
            <a:ext cx="11233247" cy="516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662561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A24A42-44B1-7CA8-EEAB-B5602A8D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2B863DB-3867-90F3-B4B6-E1656FEEAE4B}"/>
              </a:ext>
            </a:extLst>
          </p:cNvPr>
          <p:cNvSpPr txBox="1"/>
          <p:nvPr/>
        </p:nvSpPr>
        <p:spPr>
          <a:xfrm>
            <a:off x="695400" y="764704"/>
            <a:ext cx="609790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cs typeface="Arial" charset="0"/>
              </a:rPr>
              <a:t>Publication and Examination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ACAC2C0-7040-A0DB-FBF3-16EC9D891B95}"/>
              </a:ext>
            </a:extLst>
          </p:cNvPr>
          <p:cNvSpPr txBox="1"/>
          <p:nvPr/>
        </p:nvSpPr>
        <p:spPr>
          <a:xfrm>
            <a:off x="839416" y="1484784"/>
            <a:ext cx="60979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Rule24-B:Examinationofapplication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C440C6E-C1C9-E086-8289-41F47894BD41}"/>
              </a:ext>
            </a:extLst>
          </p:cNvPr>
          <p:cNvSpPr txBox="1"/>
          <p:nvPr/>
        </p:nvSpPr>
        <p:spPr>
          <a:xfrm>
            <a:off x="839416" y="2326228"/>
            <a:ext cx="11017224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Examination request for divisional application: </a:t>
            </a:r>
          </a:p>
          <a:p>
            <a:r>
              <a:rPr lang="en-US" sz="2400" dirty="0"/>
              <a:t>1. </a:t>
            </a:r>
            <a:r>
              <a:rPr lang="en-US" sz="2400" b="1" dirty="0">
                <a:solidFill>
                  <a:srgbClr val="FF0000"/>
                </a:solidFill>
              </a:rPr>
              <a:t>48 months </a:t>
            </a:r>
            <a:r>
              <a:rPr lang="en-US" sz="2400" dirty="0"/>
              <a:t>from filing date or </a:t>
            </a:r>
            <a:r>
              <a:rPr lang="en-US" sz="2400" b="1" dirty="0">
                <a:solidFill>
                  <a:srgbClr val="FF0000"/>
                </a:solidFill>
              </a:rPr>
              <a:t>priority date</a:t>
            </a:r>
            <a:r>
              <a:rPr lang="en-US" sz="2400" dirty="0"/>
              <a:t>, whichever or </a:t>
            </a:r>
            <a:r>
              <a:rPr lang="en-US" sz="2400" b="1" dirty="0">
                <a:solidFill>
                  <a:srgbClr val="FF0000"/>
                </a:solidFill>
              </a:rPr>
              <a:t>6 months </a:t>
            </a:r>
            <a:r>
              <a:rPr lang="en-US" sz="2400" dirty="0"/>
              <a:t>from further application filing. </a:t>
            </a:r>
          </a:p>
          <a:p>
            <a:endParaRPr lang="en-US" sz="2400" dirty="0"/>
          </a:p>
          <a:p>
            <a:r>
              <a:rPr lang="en-US" sz="2400" dirty="0"/>
              <a:t>2. Controller refers to Examiner </a:t>
            </a:r>
            <a:r>
              <a:rPr lang="en-US" sz="2400" b="1" dirty="0">
                <a:solidFill>
                  <a:srgbClr val="FF0000"/>
                </a:solidFill>
              </a:rPr>
              <a:t>within 1 month </a:t>
            </a:r>
            <a:r>
              <a:rPr lang="en-US" sz="2400" dirty="0"/>
              <a:t>from publication or examination request receipt date whichever is </a:t>
            </a:r>
            <a:r>
              <a:rPr lang="en-US" sz="2400" b="1" dirty="0">
                <a:solidFill>
                  <a:srgbClr val="FF0000"/>
                </a:solidFill>
              </a:rPr>
              <a:t>earlier.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3. Examiner prepares report </a:t>
            </a:r>
            <a:r>
              <a:rPr lang="en-US" sz="2400" b="1" dirty="0">
                <a:solidFill>
                  <a:srgbClr val="FF0000"/>
                </a:solidFill>
              </a:rPr>
              <a:t>in 1-3 months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2619728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7264CF-E494-F068-926D-634827ED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0FDED8C-83C3-91D6-A218-22B9E7C1E9E0}"/>
              </a:ext>
            </a:extLst>
          </p:cNvPr>
          <p:cNvSpPr txBox="1"/>
          <p:nvPr/>
        </p:nvSpPr>
        <p:spPr>
          <a:xfrm>
            <a:off x="839416" y="1628800"/>
            <a:ext cx="6097904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Rule24-B:Examinationofapplication(contd.)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FD08473-3EAD-2BEF-205D-7D45F40BDAF1}"/>
              </a:ext>
            </a:extLst>
          </p:cNvPr>
          <p:cNvSpPr txBox="1"/>
          <p:nvPr/>
        </p:nvSpPr>
        <p:spPr>
          <a:xfrm>
            <a:off x="839416" y="1052736"/>
            <a:ext cx="60979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dirty="0">
                <a:cs typeface="Arial" charset="0"/>
              </a:rPr>
              <a:t>Publication and Examination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D36C000-C652-4572-F02B-E16AC464DD10}"/>
              </a:ext>
            </a:extLst>
          </p:cNvPr>
          <p:cNvSpPr txBox="1"/>
          <p:nvPr/>
        </p:nvSpPr>
        <p:spPr>
          <a:xfrm>
            <a:off x="839416" y="2348880"/>
            <a:ext cx="10729192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1. Controller disposes examiner's report within </a:t>
            </a:r>
            <a:r>
              <a:rPr lang="en-US" sz="2400" b="1" dirty="0">
                <a:solidFill>
                  <a:srgbClr val="FF0000"/>
                </a:solidFill>
              </a:rPr>
              <a:t>one month of receipt</a:t>
            </a:r>
            <a:r>
              <a:rPr lang="en-US" sz="2400" dirty="0"/>
              <a:t>.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E74D0FB-3C85-0384-9F69-648255EAA73C}"/>
              </a:ext>
            </a:extLst>
          </p:cNvPr>
          <p:cNvSpPr txBox="1"/>
          <p:nvPr/>
        </p:nvSpPr>
        <p:spPr>
          <a:xfrm>
            <a:off x="839416" y="2863389"/>
            <a:ext cx="9001000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2. First Examination Report sent </a:t>
            </a:r>
            <a:r>
              <a:rPr lang="en-US" sz="2400" b="1" dirty="0">
                <a:solidFill>
                  <a:srgbClr val="FF0000"/>
                </a:solidFill>
              </a:rPr>
              <a:t>within 6 months </a:t>
            </a:r>
            <a:r>
              <a:rPr lang="en-US" sz="2400" dirty="0"/>
              <a:t>of examination request or publication, whichever is </a:t>
            </a:r>
            <a:r>
              <a:rPr lang="en-US" sz="2400" b="1" dirty="0">
                <a:solidFill>
                  <a:srgbClr val="FF0000"/>
                </a:solidFill>
              </a:rPr>
              <a:t>later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636C4E1-B1B9-8CCE-E43E-C3734E322F49}"/>
              </a:ext>
            </a:extLst>
          </p:cNvPr>
          <p:cNvSpPr txBox="1"/>
          <p:nvPr/>
        </p:nvSpPr>
        <p:spPr>
          <a:xfrm>
            <a:off x="911424" y="4063718"/>
            <a:ext cx="8784976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3. Third-party requesters receive intimation upon filing examination request.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E9856D4-79DF-51B6-5C8B-CD65DD78DE4B}"/>
              </a:ext>
            </a:extLst>
          </p:cNvPr>
          <p:cNvSpPr txBox="1"/>
          <p:nvPr/>
        </p:nvSpPr>
        <p:spPr>
          <a:xfrm>
            <a:off x="946136" y="5455390"/>
            <a:ext cx="91103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4. Applicant </a:t>
            </a:r>
            <a:r>
              <a:rPr lang="en-US" sz="2400" b="1" dirty="0">
                <a:solidFill>
                  <a:srgbClr val="FF0000"/>
                </a:solidFill>
              </a:rPr>
              <a:t>complies</a:t>
            </a:r>
            <a:r>
              <a:rPr lang="en-US" sz="2400" dirty="0"/>
              <a:t> with requirements within </a:t>
            </a:r>
            <a:r>
              <a:rPr lang="en-US" sz="2400" b="1" dirty="0">
                <a:solidFill>
                  <a:srgbClr val="FF0000"/>
                </a:solidFill>
              </a:rPr>
              <a:t>12 month</a:t>
            </a:r>
            <a:r>
              <a:rPr lang="en-US" sz="2400" dirty="0"/>
              <a:t>s of objection.</a:t>
            </a:r>
          </a:p>
        </p:txBody>
      </p:sp>
    </p:spTree>
    <p:extLst>
      <p:ext uri="{BB962C8B-B14F-4D97-AF65-F5344CB8AC3E}">
        <p14:creationId xmlns:p14="http://schemas.microsoft.com/office/powerpoint/2010/main" xmlns="" val="35170206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4C2EC3-3A22-5DA5-C100-CB649DA9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B6363D2-9871-FB5A-32C1-5BB3801A6842}"/>
              </a:ext>
            </a:extLst>
          </p:cNvPr>
          <p:cNvSpPr txBox="1"/>
          <p:nvPr/>
        </p:nvSpPr>
        <p:spPr>
          <a:xfrm>
            <a:off x="1847528" y="476672"/>
            <a:ext cx="6097904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A PROCEDURE FROM FILING TO</a:t>
            </a:r>
          </a:p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GRANT OF PATENT (Cont.)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BF4D42D-EC56-BD15-7504-D1E7DD02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1556792"/>
            <a:ext cx="10402752" cy="48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8255951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F42261-D6BD-3083-4A65-13A2CB52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813FC95-0AA5-EBD2-C236-4A57C9A68BD6}"/>
              </a:ext>
            </a:extLst>
          </p:cNvPr>
          <p:cNvSpPr txBox="1"/>
          <p:nvPr/>
        </p:nvSpPr>
        <p:spPr>
          <a:xfrm>
            <a:off x="2999656" y="476672"/>
            <a:ext cx="7583552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 dirty="0">
                <a:cs typeface="Arial" charset="0"/>
              </a:rPr>
              <a:t> </a:t>
            </a:r>
            <a:r>
              <a:rPr lang="en-US" sz="2800" b="1" dirty="0">
                <a:cs typeface="Arial" charset="0"/>
              </a:rPr>
              <a:t>IMPORTANT FEES IN DIFFERENT PROCEEDINGS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F54A457-1A17-8BFD-269D-080F955A7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3628"/>
            <a:ext cx="10441160" cy="4610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3E00E3B-F6EF-986E-4EF5-2DAD83317E8F}"/>
              </a:ext>
            </a:extLst>
          </p:cNvPr>
          <p:cNvSpPr txBox="1"/>
          <p:nvPr/>
        </p:nvSpPr>
        <p:spPr>
          <a:xfrm>
            <a:off x="752972" y="5835247"/>
            <a:ext cx="743126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Note: Professional Patent Drafting costs approximately ₹30,000</a:t>
            </a:r>
          </a:p>
        </p:txBody>
      </p:sp>
    </p:spTree>
    <p:extLst>
      <p:ext uri="{BB962C8B-B14F-4D97-AF65-F5344CB8AC3E}">
        <p14:creationId xmlns:p14="http://schemas.microsoft.com/office/powerpoint/2010/main" xmlns="" val="9007421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2CB7ACC-4DDD-C224-21A8-4765464E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2D3A186-EF17-8E0A-8751-D257723F86EE}"/>
              </a:ext>
            </a:extLst>
          </p:cNvPr>
          <p:cNvSpPr txBox="1"/>
          <p:nvPr/>
        </p:nvSpPr>
        <p:spPr>
          <a:xfrm>
            <a:off x="4079776" y="476672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latin typeface="Calibri" panose="020F0502020204030204" pitchFamily="34" charset="0"/>
              </a:rPr>
              <a:t>DUTIES OF PATENTEE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318C8C6-B1CD-3D54-B3A9-78929BC0375D}"/>
              </a:ext>
            </a:extLst>
          </p:cNvPr>
          <p:cNvSpPr txBox="1"/>
          <p:nvPr/>
        </p:nvSpPr>
        <p:spPr>
          <a:xfrm>
            <a:off x="623392" y="1196752"/>
            <a:ext cx="10585176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</a:rPr>
              <a:t>Maintenance of the patent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Pay renewal fees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Every year till the end of the term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Time limit: </a:t>
            </a:r>
          </a:p>
          <a:p>
            <a:pPr algn="l"/>
            <a:r>
              <a:rPr lang="en-US" sz="2400" b="1" dirty="0">
                <a:solidFill>
                  <a:srgbClr val="C61200"/>
                </a:solidFill>
              </a:rPr>
              <a:t>      </a:t>
            </a:r>
            <a:r>
              <a:rPr lang="en-US" sz="2400" b="1" i="0" u="none" strike="noStrike" baseline="0" dirty="0">
                <a:solidFill>
                  <a:srgbClr val="C61200"/>
                </a:solidFill>
              </a:rPr>
              <a:t>before end of the </a:t>
            </a:r>
            <a:r>
              <a:rPr lang="en-US" sz="2400" b="1" i="0" u="none" strike="noStrike" baseline="0" dirty="0" err="1">
                <a:solidFill>
                  <a:srgbClr val="C61200"/>
                </a:solidFill>
              </a:rPr>
              <a:t>preceeding</a:t>
            </a:r>
            <a:r>
              <a:rPr lang="en-US" sz="2400" b="1" i="0" u="none" strike="noStrike" baseline="0" dirty="0">
                <a:solidFill>
                  <a:srgbClr val="C61200"/>
                </a:solidFill>
              </a:rPr>
              <a:t> year ( 6months extn. Available 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CA1F8D-BF0B-B89C-FB12-C6FABA0A7309}"/>
              </a:ext>
            </a:extLst>
          </p:cNvPr>
          <p:cNvSpPr txBox="1"/>
          <p:nvPr/>
        </p:nvSpPr>
        <p:spPr>
          <a:xfrm>
            <a:off x="623392" y="3722257"/>
            <a:ext cx="799288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</a:rPr>
              <a:t>Working of the patents: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8600"/>
                </a:solidFill>
              </a:rPr>
              <a:t>Inventions are to be worked in India on commercial scale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8600"/>
                </a:solidFill>
              </a:rPr>
              <a:t>Failing which compulsory </a:t>
            </a:r>
            <a:r>
              <a:rPr lang="en-US" sz="2400" b="1" i="0" u="none" strike="noStrike" baseline="0" dirty="0" err="1">
                <a:solidFill>
                  <a:srgbClr val="008600"/>
                </a:solidFill>
              </a:rPr>
              <a:t>licencemay</a:t>
            </a:r>
            <a:r>
              <a:rPr lang="en-US" sz="2400" b="1" i="0" u="none" strike="noStrike" baseline="0" dirty="0">
                <a:solidFill>
                  <a:srgbClr val="008600"/>
                </a:solidFill>
              </a:rPr>
              <a:t> be issued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312952812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2382CA-2CD1-8F18-04F2-F95D65F5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6325838-0403-C670-2C37-469FFDA28E16}"/>
              </a:ext>
            </a:extLst>
          </p:cNvPr>
          <p:cNvSpPr txBox="1"/>
          <p:nvPr/>
        </p:nvSpPr>
        <p:spPr>
          <a:xfrm>
            <a:off x="4007768" y="404664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1"/>
                </a:solidFill>
              </a:rPr>
              <a:t>Patent Infringement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6E47D8A-4527-6840-6121-9F5B30FB92A4}"/>
              </a:ext>
            </a:extLst>
          </p:cNvPr>
          <p:cNvSpPr txBox="1"/>
          <p:nvPr/>
        </p:nvSpPr>
        <p:spPr>
          <a:xfrm>
            <a:off x="947428" y="1916832"/>
            <a:ext cx="10297144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Demand the infringer stop &amp; pay damages for past infringement.</a:t>
            </a:r>
          </a:p>
          <a:p>
            <a:pPr marL="457200" indent="-457200" algn="l">
              <a:buAutoNum type="arabicPeriod"/>
            </a:pPr>
            <a:endParaRPr lang="en-US" sz="2400" b="0" i="0" u="none" strike="noStrike" baseline="0" dirty="0">
              <a:solidFill>
                <a:srgbClr val="C00000"/>
              </a:solidFill>
              <a:latin typeface="Microsoft Sans Serif" panose="020B0604020202020204" pitchFamily="34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2. Offer a “Royalty”</a:t>
            </a:r>
          </a:p>
          <a:p>
            <a:pPr algn="l"/>
            <a:endParaRPr lang="en-US" sz="2400" b="0" i="0" u="none" strike="noStrike" baseline="0" dirty="0">
              <a:solidFill>
                <a:srgbClr val="C00000"/>
              </a:solidFill>
              <a:latin typeface="Microsoft Sans Serif" panose="020B0604020202020204" pitchFamily="34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3. Ignore the infringement or postpone action.</a:t>
            </a:r>
          </a:p>
          <a:p>
            <a:pPr algn="l"/>
            <a:endParaRPr lang="en-US" sz="2400" b="0" i="0" u="none" strike="noStrike" baseline="0" dirty="0">
              <a:solidFill>
                <a:srgbClr val="C00000"/>
              </a:solidFill>
              <a:latin typeface="Microsoft Sans Serif" panose="020B0604020202020204" pitchFamily="34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4. File a patent infringement lawsuit in federal court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97518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449DA3-64CB-4E41-A9B8-B751E4C1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4765777-EC52-3FD1-0951-F5109B29CED2}"/>
              </a:ext>
            </a:extLst>
          </p:cNvPr>
          <p:cNvSpPr txBox="1"/>
          <p:nvPr/>
        </p:nvSpPr>
        <p:spPr>
          <a:xfrm>
            <a:off x="3719736" y="476672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Litigation </a:t>
            </a:r>
            <a:r>
              <a:rPr lang="en-US" sz="32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vs 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Licensing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D8BBE63-A59D-C20E-DC89-167E9FF80C76}"/>
              </a:ext>
            </a:extLst>
          </p:cNvPr>
          <p:cNvSpPr txBox="1"/>
          <p:nvPr/>
        </p:nvSpPr>
        <p:spPr>
          <a:xfrm>
            <a:off x="1487488" y="1268760"/>
            <a:ext cx="609790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If the objective is to stop a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competitor from offering a </a:t>
            </a:r>
          </a:p>
          <a:p>
            <a:pPr algn="l"/>
            <a:r>
              <a:rPr lang="en-US" sz="2400" dirty="0">
                <a:solidFill>
                  <a:srgbClr val="C00000"/>
                </a:solidFill>
                <a:latin typeface="Microsoft Sans Serif" panose="020B0604020202020204" pitchFamily="34" charset="0"/>
              </a:rPr>
              <a:t>p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roduct</a:t>
            </a:r>
            <a:r>
              <a:rPr lang="en-US" sz="2400" dirty="0">
                <a:solidFill>
                  <a:srgbClr val="C00000"/>
                </a:solidFill>
                <a:latin typeface="Microsoft Sans Serif" panose="020B06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that infringes one’s patent.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888F511-1D0D-B794-45D3-09A65AB67ACA}"/>
              </a:ext>
            </a:extLst>
          </p:cNvPr>
          <p:cNvSpPr txBox="1"/>
          <p:nvPr/>
        </p:nvSpPr>
        <p:spPr>
          <a:xfrm>
            <a:off x="6672064" y="1268760"/>
            <a:ext cx="6097904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If the objective is to obtain royalty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for the use of one’s invention.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4BF0B61-9485-7CD2-9DFE-B4DF9E3A1A73}"/>
              </a:ext>
            </a:extLst>
          </p:cNvPr>
          <p:cNvSpPr txBox="1"/>
          <p:nvPr/>
        </p:nvSpPr>
        <p:spPr>
          <a:xfrm>
            <a:off x="983432" y="3167390"/>
            <a:ext cx="638365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tx1"/>
                </a:solidFill>
              </a:rPr>
              <a:t>Alternatives To Litigation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EE8E4F5-B962-9135-C9EB-E0EC5BA47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4077072"/>
            <a:ext cx="2088232" cy="18722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76A76CF-AC8E-B7B2-6503-5F9F4E4E41F6}"/>
              </a:ext>
            </a:extLst>
          </p:cNvPr>
          <p:cNvSpPr txBox="1"/>
          <p:nvPr/>
        </p:nvSpPr>
        <p:spPr>
          <a:xfrm>
            <a:off x="3935762" y="4228346"/>
            <a:ext cx="792087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</a:rPr>
              <a:t>Litigations are costly, timely, &amp; disruptive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</a:rPr>
              <a:t>Alternative dispute resolutions (ADR) include </a:t>
            </a:r>
            <a:r>
              <a:rPr lang="en-US" sz="2400" b="1" i="0" u="none" strike="noStrike" baseline="0" dirty="0">
                <a:solidFill>
                  <a:schemeClr val="tx1"/>
                </a:solidFill>
              </a:rPr>
              <a:t>Mediation </a:t>
            </a:r>
            <a:r>
              <a:rPr lang="en-US" sz="2400" b="0" i="0" u="none" strike="noStrike" baseline="0" dirty="0">
                <a:solidFill>
                  <a:schemeClr val="tx1"/>
                </a:solidFill>
              </a:rPr>
              <a:t>&amp; </a:t>
            </a:r>
            <a:r>
              <a:rPr lang="en-US" sz="2400" b="1" i="0" u="none" strike="noStrike" baseline="0" dirty="0">
                <a:solidFill>
                  <a:schemeClr val="tx1"/>
                </a:solidFill>
              </a:rPr>
              <a:t>Arbitration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777497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8A4730A-04E1-0B7B-DB0C-C41EB0920745}"/>
              </a:ext>
            </a:extLst>
          </p:cNvPr>
          <p:cNvSpPr txBox="1"/>
          <p:nvPr/>
        </p:nvSpPr>
        <p:spPr>
          <a:xfrm>
            <a:off x="3503712" y="476672"/>
            <a:ext cx="6097904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Trade-Related Aspects of Intellectual</a:t>
            </a:r>
          </a:p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Property Rights(TRIPS) in the World</a:t>
            </a:r>
          </a:p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Trade Organization </a:t>
            </a:r>
            <a:r>
              <a:rPr lang="en-US" sz="2800" b="1" i="0" u="none" strike="noStrike" baseline="0" dirty="0">
                <a:latin typeface="Calibri,Bold"/>
              </a:rPr>
              <a:t>Compliance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CCA0882-CEFA-29C5-533F-F7A245E45854}"/>
              </a:ext>
            </a:extLst>
          </p:cNvPr>
          <p:cNvSpPr txBox="1"/>
          <p:nvPr/>
        </p:nvSpPr>
        <p:spPr>
          <a:xfrm>
            <a:off x="839416" y="2060848"/>
            <a:ext cx="1022513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TRIPS</a:t>
            </a:r>
            <a:r>
              <a:rPr lang="en-US" sz="2400" b="1" dirty="0"/>
              <a:t> </a:t>
            </a:r>
            <a:r>
              <a:rPr lang="en-US" sz="2400" dirty="0"/>
              <a:t>Agreement elevated </a:t>
            </a:r>
            <a:r>
              <a:rPr lang="en-US" sz="2400" b="1" dirty="0">
                <a:solidFill>
                  <a:srgbClr val="FF0000"/>
                </a:solidFill>
              </a:rPr>
              <a:t>IPR protection </a:t>
            </a:r>
            <a:r>
              <a:rPr lang="en-US" sz="2400" dirty="0"/>
              <a:t>internationally binding.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66698A2-9016-14B7-856C-D1C6338C0726}"/>
              </a:ext>
            </a:extLst>
          </p:cNvPr>
          <p:cNvSpPr txBox="1"/>
          <p:nvPr/>
        </p:nvSpPr>
        <p:spPr>
          <a:xfrm>
            <a:off x="839416" y="3013501"/>
            <a:ext cx="99371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India signed TRIPS Agreement </a:t>
            </a:r>
            <a:r>
              <a:rPr lang="en-US" sz="2400" b="1" dirty="0">
                <a:solidFill>
                  <a:srgbClr val="FF0000"/>
                </a:solidFill>
              </a:rPr>
              <a:t>in 1995 </a:t>
            </a:r>
            <a:r>
              <a:rPr lang="en-US" sz="2400" dirty="0"/>
              <a:t>and implementing required changes.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43722F0-FF22-99FA-0719-C736DD2AE563}"/>
              </a:ext>
            </a:extLst>
          </p:cNvPr>
          <p:cNvSpPr txBox="1"/>
          <p:nvPr/>
        </p:nvSpPr>
        <p:spPr>
          <a:xfrm>
            <a:off x="824980" y="4149080"/>
            <a:ext cx="9735516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India enacted </a:t>
            </a:r>
            <a:r>
              <a:rPr lang="en-US" sz="2400" b="1" dirty="0">
                <a:solidFill>
                  <a:srgbClr val="FF0000"/>
                </a:solidFill>
              </a:rPr>
              <a:t>TRIPS-compliant IP laws </a:t>
            </a:r>
            <a:r>
              <a:rPr lang="en-US" sz="2400" dirty="0"/>
              <a:t>for trademarks, copyright, designs, GI, and integrated circuits.</a:t>
            </a:r>
          </a:p>
        </p:txBody>
      </p:sp>
    </p:spTree>
    <p:extLst>
      <p:ext uri="{BB962C8B-B14F-4D97-AF65-F5344CB8AC3E}">
        <p14:creationId xmlns:p14="http://schemas.microsoft.com/office/powerpoint/2010/main" xmlns="" val="36538111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353</Words>
  <Application>Microsoft Office PowerPoint</Application>
  <PresentationFormat>Custom</PresentationFormat>
  <Paragraphs>57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26</cp:revision>
  <dcterms:modified xsi:type="dcterms:W3CDTF">2025-02-04T11:21:01Z</dcterms:modified>
</cp:coreProperties>
</file>