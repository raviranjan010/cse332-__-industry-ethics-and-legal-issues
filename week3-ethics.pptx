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01" r:id="rId2"/>
    <p:sldId id="326" r:id="rId3"/>
    <p:sldId id="494" r:id="rId4"/>
    <p:sldId id="514" r:id="rId5"/>
    <p:sldId id="503" r:id="rId6"/>
    <p:sldId id="512" r:id="rId7"/>
    <p:sldId id="336" r:id="rId8"/>
    <p:sldId id="337" r:id="rId9"/>
    <p:sldId id="513" r:id="rId10"/>
    <p:sldId id="516" r:id="rId11"/>
    <p:sldId id="510" r:id="rId12"/>
  </p:sldIdLst>
  <p:sldSz cx="9144000" cy="6858000" type="screen4x3"/>
  <p:notesSz cx="6831013" cy="93964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50E"/>
    <a:srgbClr val="C3E2FB"/>
    <a:srgbClr val="FF3300"/>
    <a:srgbClr val="00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6" autoAdjust="0"/>
    <p:restoredTop sz="92165" autoAdjust="0"/>
  </p:normalViewPr>
  <p:slideViewPr>
    <p:cSldViewPr showGuides="1">
      <p:cViewPr varScale="1">
        <p:scale>
          <a:sx n="58" d="100"/>
          <a:sy n="58" d="100"/>
        </p:scale>
        <p:origin x="10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066800" y="704850"/>
            <a:ext cx="4699000" cy="35242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‹#›</a:t>
            </a:fld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73230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9795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3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71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B0B2-0D2F-08BA-A816-A57B470E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54697-62DC-7694-CDFB-2E3966B87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FC1BE-5663-3C17-2D37-0673736A3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680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>
            <a:extLst>
              <a:ext uri="{FF2B5EF4-FFF2-40B4-BE49-F238E27FC236}">
                <a16:creationId xmlns:a16="http://schemas.microsoft.com/office/drawing/2014/main" id="{C899C562-DB62-306D-4393-2201751FF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Notes Placeholder 2">
            <a:extLst>
              <a:ext uri="{FF2B5EF4-FFF2-40B4-BE49-F238E27FC236}">
                <a16:creationId xmlns:a16="http://schemas.microsoft.com/office/drawing/2014/main" id="{D9CDF815-9E3B-53D1-C9A9-F451F58EA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44388" name="Slide Number Placeholder 3">
            <a:extLst>
              <a:ext uri="{FF2B5EF4-FFF2-40B4-BE49-F238E27FC236}">
                <a16:creationId xmlns:a16="http://schemas.microsoft.com/office/drawing/2014/main" id="{CE5B1B64-C492-4E49-B032-7CF143D78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AA9BCC0-109B-414D-BFF7-F64AF13317A6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F6B0-8B55-AF34-C734-8A2A17FB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A9CD4-82A4-DC6B-1679-5124821ED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8AF95-C3EB-304F-2EE3-E5F0C902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0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2742B-577F-3083-23C4-C1D571F4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FEA55-1D34-60B7-AB79-9AABEF253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3BF39-BDB2-E423-B25D-28D8960BF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4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Fall 2004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Costas Busch - RPI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en-US" dirty="0"/>
              <a:t>‹#›</a:t>
            </a:fld>
            <a:endParaRPr lang="en-US" altLang="en-US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69" y="467518"/>
            <a:ext cx="8771731" cy="280908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CSE332</a:t>
            </a: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Industrial Ethics and Legal Issues</a:t>
            </a:r>
            <a:endParaRPr lang="en-IN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6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299251"/>
              </p:ext>
            </p:extLst>
          </p:nvPr>
        </p:nvGraphicFramePr>
        <p:xfrm>
          <a:off x="2717112" y="4940001"/>
          <a:ext cx="27182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102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112" y="4940001"/>
                        <a:ext cx="27182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>
            <a:cxnSpLocks/>
          </p:cNvCxnSpPr>
          <p:nvPr/>
        </p:nvCxnSpPr>
        <p:spPr>
          <a:xfrm>
            <a:off x="1828800" y="2687637"/>
            <a:ext cx="54102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24000" y="3691234"/>
            <a:ext cx="7035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Ethical Behavior of IT Professional</a:t>
            </a:r>
            <a:endParaRPr lang="en-IN" sz="28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7" descr="LPU Online Approval and Recognitions">
            <a:extLst>
              <a:ext uri="{FF2B5EF4-FFF2-40B4-BE49-F238E27FC236}">
                <a16:creationId xmlns:a16="http://schemas.microsoft.com/office/drawing/2014/main" id="{8EA9E7E6-9BF9-EF9C-7674-09EDA04AC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5607304" y="5260031"/>
            <a:ext cx="1667673" cy="46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74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>
            <a:extLst>
              <a:ext uri="{FF2B5EF4-FFF2-40B4-BE49-F238E27FC236}">
                <a16:creationId xmlns:a16="http://schemas.microsoft.com/office/drawing/2014/main" id="{EACA2BE9-FD49-25BF-1CBC-B25A2397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 dirty="0">
                <a:solidFill>
                  <a:srgbClr val="C00000"/>
                </a:solidFill>
              </a:rPr>
              <a:t>Profession</a:t>
            </a:r>
          </a:p>
        </p:txBody>
      </p:sp>
      <p:sp>
        <p:nvSpPr>
          <p:cNvPr id="134147" name="Content Placeholder 2">
            <a:extLst>
              <a:ext uri="{FF2B5EF4-FFF2-40B4-BE49-F238E27FC236}">
                <a16:creationId xmlns:a16="http://schemas.microsoft.com/office/drawing/2014/main" id="{18BB7CE9-E172-C128-A4F2-9FB74865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profession is a calling that requires specialized knowledge and often long and intensive academic preparation.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?</a:t>
            </a:r>
          </a:p>
        </p:txBody>
      </p:sp>
      <p:pic>
        <p:nvPicPr>
          <p:cNvPr id="134148" name="Picture 3" descr="logo.png">
            <a:extLst>
              <a:ext uri="{FF2B5EF4-FFF2-40B4-BE49-F238E27FC236}">
                <a16:creationId xmlns:a16="http://schemas.microsoft.com/office/drawing/2014/main" id="{DAE2168F-ECE6-7BDE-F8FA-05D8361CB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52400" y="152400"/>
            <a:ext cx="8839200" cy="6096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kern="1200" cap="none" spc="0" normalizeH="0" baseline="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52400" y="838200"/>
            <a:ext cx="88392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Object 86">
            <a:extLst>
              <a:ext uri="{FF2B5EF4-FFF2-40B4-BE49-F238E27FC236}">
                <a16:creationId xmlns:a16="http://schemas.microsoft.com/office/drawing/2014/main" id="{46BAA872-9015-1758-8569-933C4AEB0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08683"/>
              </p:ext>
            </p:extLst>
          </p:nvPr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23" name="Object 86">
                        <a:extLst>
                          <a:ext uri="{FF2B5EF4-FFF2-40B4-BE49-F238E27FC236}">
                            <a16:creationId xmlns:a16="http://schemas.microsoft.com/office/drawing/2014/main" id="{46BAA872-9015-1758-8569-933C4AEB0D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 descr="LPU Online Approval and Recognition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4F21B-440F-8D2B-31C3-0CA574AF8F6D}"/>
              </a:ext>
            </a:extLst>
          </p:cNvPr>
          <p:cNvSpPr txBox="1"/>
          <p:nvPr/>
        </p:nvSpPr>
        <p:spPr>
          <a:xfrm>
            <a:off x="17929" y="96078"/>
            <a:ext cx="7086600" cy="523220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altLang="en-US" sz="2800" b="1" dirty="0">
                <a:solidFill>
                  <a:srgbClr val="C00000"/>
                </a:solidFill>
              </a:rPr>
              <a:t>Professional Employee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77127-2A00-3257-0D80-C629D014F8F4}"/>
              </a:ext>
            </a:extLst>
          </p:cNvPr>
          <p:cNvSpPr/>
          <p:nvPr/>
        </p:nvSpPr>
        <p:spPr>
          <a:xfrm>
            <a:off x="19792" y="992333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784549-60DD-CC41-61FA-4F71B6B90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64" y="887636"/>
            <a:ext cx="7821636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who is engaged in the performance of work 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intellectual instruction.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of discretion and judgement. </a:t>
            </a:r>
          </a:p>
        </p:txBody>
      </p:sp>
    </p:spTree>
  </p:cSld>
  <p:clrMapOvr>
    <a:masterClrMapping/>
  </p:clrMapOvr>
  <p:transition spd="slow" advClick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D7031-1F28-6F2C-56CF-5573CC7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B27D6A8-6B4A-F228-DD5C-C48DE1E31DD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ltGray">
          <a:xfrm>
            <a:off x="252413" y="320675"/>
            <a:ext cx="5381625" cy="589756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7219" name="Content Placeholder 13">
            <a:extLst>
              <a:ext uri="{FF2B5EF4-FFF2-40B4-BE49-F238E27FC236}">
                <a16:creationId xmlns:a16="http://schemas.microsoft.com/office/drawing/2014/main" id="{B9958463-F3F1-EDD2-D4F4-23496937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" y="2122488"/>
            <a:ext cx="4654550" cy="3625850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 such as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doctors, lawyers, and accountants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advanced training and experience; they must exercise </a:t>
            </a:r>
            <a:r>
              <a:rPr lang="en-US" altLang="en-US" sz="18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Carefulness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judgment in the course of their work.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7220" name="Content Placeholder 4" descr="A picture containing person, building, clothing&#10;&#10;Description generated with high confidence">
            <a:extLst>
              <a:ext uri="{FF2B5EF4-FFF2-40B4-BE49-F238E27FC236}">
                <a16:creationId xmlns:a16="http://schemas.microsoft.com/office/drawing/2014/main" id="{84AF757E-AF2F-1B58-FD26-1C1F4DA1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10"/>
          <a:stretch>
            <a:fillRect/>
          </a:stretch>
        </p:blipFill>
        <p:spPr bwMode="auto">
          <a:xfrm>
            <a:off x="5915025" y="1309689"/>
            <a:ext cx="3032125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21" name="Picture 8">
            <a:extLst>
              <a:ext uri="{FF2B5EF4-FFF2-40B4-BE49-F238E27FC236}">
                <a16:creationId xmlns:a16="http://schemas.microsoft.com/office/drawing/2014/main" id="{7599DD8E-1B8B-2CEB-C0AE-127F4E17D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2"/>
          <a:stretch>
            <a:fillRect/>
          </a:stretch>
        </p:blipFill>
        <p:spPr bwMode="auto">
          <a:xfrm>
            <a:off x="5915025" y="3317876"/>
            <a:ext cx="3032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22" name="Picture 6" descr="A person wearing a suit and tie&#10;&#10;Description generated with very high confidence">
            <a:extLst>
              <a:ext uri="{FF2B5EF4-FFF2-40B4-BE49-F238E27FC236}">
                <a16:creationId xmlns:a16="http://schemas.microsoft.com/office/drawing/2014/main" id="{085C981C-6264-4240-90B4-2C99D191C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r="5" b="44077"/>
          <a:stretch>
            <a:fillRect/>
          </a:stretch>
        </p:blipFill>
        <p:spPr bwMode="auto">
          <a:xfrm>
            <a:off x="5844720" y="4986338"/>
            <a:ext cx="3032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3" descr="logo.png">
            <a:extLst>
              <a:ext uri="{FF2B5EF4-FFF2-40B4-BE49-F238E27FC236}">
                <a16:creationId xmlns:a16="http://schemas.microsoft.com/office/drawing/2014/main" id="{842A3E20-3CC1-8893-109A-9A88C1EE0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21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1248-48A4-E9B8-867C-970C5B62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4C1E9F69-A482-65DC-AA3F-BE778974901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52400"/>
            <a:ext cx="8839200" cy="6096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kern="1200" cap="none" spc="0" normalizeH="0" baseline="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65FB258-3087-B14F-F7E0-0E43A207397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838200"/>
            <a:ext cx="88392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Object 86">
            <a:extLst>
              <a:ext uri="{FF2B5EF4-FFF2-40B4-BE49-F238E27FC236}">
                <a16:creationId xmlns:a16="http://schemas.microsoft.com/office/drawing/2014/main" id="{53486CD5-EAF3-2C41-A9C2-B94FEBD6B0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23" name="Object 86">
                        <a:extLst>
                          <a:ext uri="{FF2B5EF4-FFF2-40B4-BE49-F238E27FC236}">
                            <a16:creationId xmlns:a16="http://schemas.microsoft.com/office/drawing/2014/main" id="{53486CD5-EAF3-2C41-A9C2-B94FEBD6B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 descr="LPU Online Approval and Recognitions">
            <a:extLst>
              <a:ext uri="{FF2B5EF4-FFF2-40B4-BE49-F238E27FC236}">
                <a16:creationId xmlns:a16="http://schemas.microsoft.com/office/drawing/2014/main" id="{CD445A92-308B-5945-4FF8-E5A143684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17970F-CFBD-F410-41B5-E987B492244C}"/>
              </a:ext>
            </a:extLst>
          </p:cNvPr>
          <p:cNvSpPr txBox="1"/>
          <p:nvPr/>
        </p:nvSpPr>
        <p:spPr>
          <a:xfrm>
            <a:off x="11431" y="23328"/>
            <a:ext cx="7086600" cy="1200329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altLang="en-US" sz="3600" b="1" dirty="0">
                <a:solidFill>
                  <a:srgbClr val="C00000"/>
                </a:solidFill>
              </a:rPr>
              <a:t>Are IT Workers Professionals?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4DCBF3-D61A-1145-FF5A-5D8DE0424DA9}"/>
              </a:ext>
            </a:extLst>
          </p:cNvPr>
          <p:cNvSpPr/>
          <p:nvPr/>
        </p:nvSpPr>
        <p:spPr>
          <a:xfrm>
            <a:off x="8263" y="1307010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5956-50BE-A3DE-4086-C5BC5052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952" y="1250807"/>
            <a:ext cx="6858000" cy="3962400"/>
          </a:xfrm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Specialized Knowledge</a:t>
            </a:r>
          </a:p>
          <a:p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Behaviour</a:t>
            </a:r>
          </a:p>
          <a:p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Accountability </a:t>
            </a:r>
          </a:p>
          <a:p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Commitment to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 </a:t>
            </a:r>
          </a:p>
          <a:p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2AD853-AA88-16FC-9377-2AD5BD363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4114800"/>
            <a:ext cx="43053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5A873D-27F3-4806-CA77-52F78EFA87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590800"/>
            <a:ext cx="5715000" cy="41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9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994E-A57B-055B-A6E7-09229301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7C805126-EB61-C897-CD22-9BECEE42429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52400"/>
            <a:ext cx="8839200" cy="6096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kern="1200" cap="none" spc="0" normalizeH="0" baseline="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7471427-7B23-23D6-2351-C170E5EC963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838200"/>
            <a:ext cx="88392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Object 86">
            <a:extLst>
              <a:ext uri="{FF2B5EF4-FFF2-40B4-BE49-F238E27FC236}">
                <a16:creationId xmlns:a16="http://schemas.microsoft.com/office/drawing/2014/main" id="{DE2AE8D3-C2DE-E138-12EC-2C24D770E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23" name="Object 86">
                        <a:extLst>
                          <a:ext uri="{FF2B5EF4-FFF2-40B4-BE49-F238E27FC236}">
                            <a16:creationId xmlns:a16="http://schemas.microsoft.com/office/drawing/2014/main" id="{53486CD5-EAF3-2C41-A9C2-B94FEBD6B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 descr="LPU Online Approval and Recognitions">
            <a:extLst>
              <a:ext uri="{FF2B5EF4-FFF2-40B4-BE49-F238E27FC236}">
                <a16:creationId xmlns:a16="http://schemas.microsoft.com/office/drawing/2014/main" id="{648F1B02-9736-1818-32E5-73BE44F7F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07FE43-EC7A-31B8-18EE-27286B2EC779}"/>
              </a:ext>
            </a:extLst>
          </p:cNvPr>
          <p:cNvSpPr txBox="1"/>
          <p:nvPr/>
        </p:nvSpPr>
        <p:spPr>
          <a:xfrm>
            <a:off x="0" y="115045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Common Ethical Issues For IT 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76CC3-7CDC-6DCD-8F75-CCCC4E1137C9}"/>
              </a:ext>
            </a:extLst>
          </p:cNvPr>
          <p:cNvSpPr/>
          <p:nvPr/>
        </p:nvSpPr>
        <p:spPr>
          <a:xfrm>
            <a:off x="0" y="576710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493EC-BF64-5ED6-802C-86ACFE4F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8600" y="976817"/>
            <a:ext cx="6858000" cy="3962400"/>
          </a:xfrm>
        </p:spPr>
        <p:txBody>
          <a:bodyPr/>
          <a:lstStyle/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Times New Roman" panose="02020603050405020304" pitchFamily="18" charset="0"/>
                <a:ea typeface="Barlow SemiCondensed Bold"/>
                <a:cs typeface="Times New Roman" panose="02020603050405020304" pitchFamily="18" charset="0"/>
                <a:sym typeface="Barlow SemiCondensed Bold"/>
              </a:rPr>
              <a:t>Privacy Concern 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Times New Roman" panose="02020603050405020304" pitchFamily="18" charset="0"/>
                <a:ea typeface="Barlow SemiCondensed Bold"/>
                <a:cs typeface="Times New Roman" panose="02020603050405020304" pitchFamily="18" charset="0"/>
                <a:sym typeface="Barlow SemiCondensed Bold"/>
              </a:rPr>
              <a:t>Cybersecurity Risks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altLang="en-US" sz="2400" spc="101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Condensed Bold"/>
              </a:rPr>
              <a:t>Misuse of IT Resource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altLang="en-US" sz="2400" spc="101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Condensed Bold"/>
              </a:rPr>
              <a:t>Surveillance and </a:t>
            </a:r>
          </a:p>
          <a:p>
            <a:pPr marL="391318" lvl="1" indent="0">
              <a:lnSpc>
                <a:spcPts val="3878"/>
              </a:lnSpc>
              <a:buNone/>
            </a:pPr>
            <a:r>
              <a:rPr lang="en-US" altLang="en-US" sz="2400" spc="101" dirty="0">
                <a:latin typeface="Times New Roman" panose="02020603050405020304" pitchFamily="18" charset="0"/>
                <a:cs typeface="Times New Roman" panose="02020603050405020304" pitchFamily="18" charset="0"/>
                <a:sym typeface="Barlow SemiCondensed Bold"/>
              </a:rPr>
              <a:t>    Monitoring  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endParaRPr lang="en-US" sz="2400" spc="101" dirty="0">
              <a:solidFill>
                <a:srgbClr val="FFFFFF"/>
              </a:solidFill>
              <a:latin typeface="Times New Roman" panose="02020603050405020304" pitchFamily="18" charset="0"/>
              <a:ea typeface="Barlow SemiCondensed Bold"/>
              <a:cs typeface="Times New Roman" panose="02020603050405020304" pitchFamily="18" charset="0"/>
              <a:sym typeface="Barlow SemiCondensed Bold"/>
            </a:endParaRPr>
          </a:p>
          <a:p>
            <a:pPr marL="0" indent="0">
              <a:lnSpc>
                <a:spcPts val="3878"/>
              </a:lnSpc>
              <a:spcBef>
                <a:spcPct val="0"/>
              </a:spcBef>
              <a:buNone/>
            </a:pPr>
            <a:endParaRPr lang="en-US" sz="2400" spc="101" dirty="0">
              <a:solidFill>
                <a:srgbClr val="FFFFFF"/>
              </a:solidFill>
              <a:latin typeface="Times New Roman" panose="02020603050405020304" pitchFamily="18" charset="0"/>
              <a:ea typeface="Barlow SemiCondensed Bold"/>
              <a:cs typeface="Times New Roman" panose="02020603050405020304" pitchFamily="18" charset="0"/>
              <a:sym typeface="Barlow SemiCondensed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34157-3CF0-5CF1-A1BB-C1E48509BA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971800"/>
            <a:ext cx="5528534" cy="37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1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">
            <a:extLst>
              <a:ext uri="{FF2B5EF4-FFF2-40B4-BE49-F238E27FC236}">
                <a16:creationId xmlns:a16="http://schemas.microsoft.com/office/drawing/2014/main" id="{ABEFA778-AB71-BB5A-8C0F-6C1D0217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pPr eaLnBrk="1" hangingPunct="1"/>
            <a:r>
              <a:rPr lang="en-IN" altLang="en-US" b="1">
                <a:solidFill>
                  <a:srgbClr val="FF0000"/>
                </a:solidFill>
              </a:rPr>
              <a:t>Business Software Alliance (BSA)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18E73-9CAA-72B3-11CE-7950C142C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3833813" cy="4500563"/>
          </a:xfrm>
        </p:spPr>
        <p:txBody>
          <a:bodyPr>
            <a:normAutofit/>
          </a:bodyPr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Software Alliance (BSA) is a trade group that represents the world’s largest software and hardware manufacturers. </a:t>
            </a:r>
          </a:p>
          <a:p>
            <a:pPr algn="just" eaLnBrk="1" hangingPunct="1">
              <a:buFont typeface="Arial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mission is to stop the unauthorized copying of software produced by its members.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2340" name="Picture 3">
            <a:extLst>
              <a:ext uri="{FF2B5EF4-FFF2-40B4-BE49-F238E27FC236}">
                <a16:creationId xmlns:a16="http://schemas.microsoft.com/office/drawing/2014/main" id="{FA17CBF9-5B88-AF1F-DFF5-BFDAF673A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64" b="-2"/>
          <a:stretch>
            <a:fillRect/>
          </a:stretch>
        </p:blipFill>
        <p:spPr bwMode="auto">
          <a:xfrm>
            <a:off x="4284663" y="1905000"/>
            <a:ext cx="4230687" cy="403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1" name="Picture 3" descr="logo.png">
            <a:extLst>
              <a:ext uri="{FF2B5EF4-FFF2-40B4-BE49-F238E27FC236}">
                <a16:creationId xmlns:a16="http://schemas.microsoft.com/office/drawing/2014/main" id="{EF2C42C3-8D59-43DB-DBF1-F13481A70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0"/>
            <a:ext cx="3228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Content Placeholder 2">
            <a:extLst>
              <a:ext uri="{FF2B5EF4-FFF2-40B4-BE49-F238E27FC236}">
                <a16:creationId xmlns:a16="http://schemas.microsoft.com/office/drawing/2014/main" id="{84BEBE0B-AFBC-64E3-96B9-1BD805A8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just" eaLnBrk="1" hangingPunct="1"/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100 BSA lawyers and investigators prosecute thousands of </a:t>
            </a:r>
            <a:r>
              <a:rPr lang="en-I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cases of software piracy </a:t>
            </a:r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year. </a:t>
            </a:r>
          </a:p>
          <a:p>
            <a:pPr algn="just" eaLnBrk="1" hangingPunct="1"/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I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BSA investigations are usually triggered by calls to the BSA hotline, reports sent to the BSA Web site (www.nopiracy.org), and referrals from member companies.</a:t>
            </a:r>
          </a:p>
          <a:p>
            <a:pPr algn="just" eaLnBrk="1" hangingPunct="1"/>
            <a:endParaRPr lang="en-I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63" name="Picture 3" descr="logo.png">
            <a:extLst>
              <a:ext uri="{FF2B5EF4-FFF2-40B4-BE49-F238E27FC236}">
                <a16:creationId xmlns:a16="http://schemas.microsoft.com/office/drawing/2014/main" id="{38C13862-00E5-7B52-D15A-D2F3086B1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0"/>
            <a:ext cx="3228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277A-6A5F-E4A8-6E6E-AB1273EE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B27356EA-0749-2A75-7C20-0ED436AD7B6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52400"/>
            <a:ext cx="8839200" cy="6096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kern="1200" cap="none" spc="0" normalizeH="0" baseline="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6E7D9AF-4715-6F05-6CAC-F89C6417004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838200"/>
            <a:ext cx="88392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Object 86">
            <a:extLst>
              <a:ext uri="{FF2B5EF4-FFF2-40B4-BE49-F238E27FC236}">
                <a16:creationId xmlns:a16="http://schemas.microsoft.com/office/drawing/2014/main" id="{085C69AA-21D1-2FCA-22A8-A9A2B017D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23" name="Object 86">
                        <a:extLst>
                          <a:ext uri="{FF2B5EF4-FFF2-40B4-BE49-F238E27FC236}">
                            <a16:creationId xmlns:a16="http://schemas.microsoft.com/office/drawing/2014/main" id="{DE2AE8D3-C2DE-E138-12EC-2C24D770E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 descr="LPU Online Approval and Recognitions">
            <a:extLst>
              <a:ext uri="{FF2B5EF4-FFF2-40B4-BE49-F238E27FC236}">
                <a16:creationId xmlns:a16="http://schemas.microsoft.com/office/drawing/2014/main" id="{03AB82F4-20DC-AE1A-67FC-CA45D564AF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7A3E67-D36D-EC10-8FBA-EF734CD43164}"/>
              </a:ext>
            </a:extLst>
          </p:cNvPr>
          <p:cNvSpPr txBox="1"/>
          <p:nvPr/>
        </p:nvSpPr>
        <p:spPr>
          <a:xfrm>
            <a:off x="0" y="115045"/>
            <a:ext cx="7086600" cy="830997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Supporting the Ethical Practices Of IT 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5123A-4BAF-B922-D520-D880294CC28D}"/>
              </a:ext>
            </a:extLst>
          </p:cNvPr>
          <p:cNvSpPr/>
          <p:nvPr/>
        </p:nvSpPr>
        <p:spPr>
          <a:xfrm>
            <a:off x="0" y="946768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B9BA-B0CE-97D1-F9FB-E4A65FD4C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020"/>
            <a:ext cx="6858000" cy="3962400"/>
          </a:xfrm>
        </p:spPr>
        <p:txBody>
          <a:bodyPr/>
          <a:lstStyle/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Arial" panose="020B0604020202020204" pitchFamily="34" charset="0"/>
                <a:ea typeface="Barlow SemiCondensed Bold"/>
                <a:cs typeface="Arial" panose="020B0604020202020204" pitchFamily="34" charset="0"/>
                <a:sym typeface="Barlow SemiCondensed Bold"/>
              </a:rPr>
              <a:t>Education And Awareness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Arial" panose="020B0604020202020204" pitchFamily="34" charset="0"/>
                <a:ea typeface="Barlow SemiCondensed Bold"/>
                <a:cs typeface="Arial" panose="020B0604020202020204" pitchFamily="34" charset="0"/>
                <a:sym typeface="Barlow SemiCondensed Bold"/>
              </a:rPr>
              <a:t>Clear Policies and Standards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Arial" panose="020B0604020202020204" pitchFamily="34" charset="0"/>
                <a:ea typeface="Barlow SemiCondensed Bold"/>
                <a:cs typeface="Arial" panose="020B0604020202020204" pitchFamily="34" charset="0"/>
                <a:sym typeface="Barlow SemiCondensed Bold"/>
              </a:rPr>
              <a:t>Access Control and Security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Arial" panose="020B0604020202020204" pitchFamily="34" charset="0"/>
                <a:ea typeface="Barlow SemiCondensed Bold"/>
                <a:cs typeface="Arial" panose="020B0604020202020204" pitchFamily="34" charset="0"/>
                <a:sym typeface="Barlow SemiCondensed Bold"/>
              </a:rPr>
              <a:t>Ethical Use Of AI And Automation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r>
              <a:rPr lang="en-US" sz="2400" spc="101" dirty="0">
                <a:latin typeface="Arial" panose="020B0604020202020204" pitchFamily="34" charset="0"/>
                <a:ea typeface="Barlow SemiCondensed Bold"/>
                <a:cs typeface="Arial" panose="020B0604020202020204" pitchFamily="34" charset="0"/>
                <a:sym typeface="Barlow SemiCondensed Bold"/>
              </a:rPr>
              <a:t>Collaboration and  community Involvement </a:t>
            </a: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endParaRPr lang="en-US" sz="2400" spc="101" dirty="0"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>
              <a:lnSpc>
                <a:spcPts val="3878"/>
              </a:lnSpc>
              <a:spcBef>
                <a:spcPct val="0"/>
              </a:spcBef>
            </a:pPr>
            <a:endParaRPr lang="en-US" sz="2400" spc="101" dirty="0"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endParaRPr lang="en-US" sz="2400" spc="101" dirty="0">
              <a:solidFill>
                <a:srgbClr val="FFFFFF"/>
              </a:solidFill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 marL="0" indent="0">
              <a:lnSpc>
                <a:spcPts val="3878"/>
              </a:lnSpc>
              <a:spcBef>
                <a:spcPct val="0"/>
              </a:spcBef>
              <a:buNone/>
            </a:pPr>
            <a:endParaRPr lang="en-US" sz="2400" spc="101" dirty="0">
              <a:solidFill>
                <a:srgbClr val="FFFFFF"/>
              </a:solidFill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BEF2E-3F02-DD2D-5CD9-0D490831B3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779519"/>
            <a:ext cx="6096000" cy="287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10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7756-A72E-A246-6F1A-71717DBB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66B5C0E7-9008-B764-567C-488BF018563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52400"/>
            <a:ext cx="8839200" cy="6096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kern="1200" cap="none" spc="0" normalizeH="0" baseline="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C75141A-9AA2-7020-022F-EB78F2CF861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838200"/>
            <a:ext cx="8839200" cy="5486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b="1" kern="1200" cap="none" spc="0" normalizeH="0" baseline="0" noProof="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23" name="Object 86">
            <a:extLst>
              <a:ext uri="{FF2B5EF4-FFF2-40B4-BE49-F238E27FC236}">
                <a16:creationId xmlns:a16="http://schemas.microsoft.com/office/drawing/2014/main" id="{E142120A-F657-308E-61B4-5A5E9CA99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937020" imgH="5409524" progId="">
                  <p:embed/>
                </p:oleObj>
              </mc:Choice>
              <mc:Fallback>
                <p:oleObj r:id="rId3" imgW="13937020" imgH="5409524" progId="">
                  <p:embed/>
                  <p:pic>
                    <p:nvPicPr>
                      <p:cNvPr id="23" name="Object 86">
                        <a:extLst>
                          <a:ext uri="{FF2B5EF4-FFF2-40B4-BE49-F238E27FC236}">
                            <a16:creationId xmlns:a16="http://schemas.microsoft.com/office/drawing/2014/main" id="{085C69AA-21D1-2FCA-22A8-A9A2B017D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 descr="LPU Online Approval and Recognitions">
            <a:extLst>
              <a:ext uri="{FF2B5EF4-FFF2-40B4-BE49-F238E27FC236}">
                <a16:creationId xmlns:a16="http://schemas.microsoft.com/office/drawing/2014/main" id="{BB5895A1-6A85-DA58-A2CE-5CCBD5232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D36CFC-FFED-F8F8-B27A-0DC5C981B0FC}"/>
              </a:ext>
            </a:extLst>
          </p:cNvPr>
          <p:cNvSpPr txBox="1"/>
          <p:nvPr/>
        </p:nvSpPr>
        <p:spPr>
          <a:xfrm>
            <a:off x="0" y="115045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Supporting the Ethical Practices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96D3E-E54B-1350-378C-7D0A284C3470}"/>
              </a:ext>
            </a:extLst>
          </p:cNvPr>
          <p:cNvSpPr/>
          <p:nvPr/>
        </p:nvSpPr>
        <p:spPr>
          <a:xfrm>
            <a:off x="0" y="681447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5B42E-77C2-266F-9566-DE961D82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020"/>
            <a:ext cx="6858000" cy="3962400"/>
          </a:xfrm>
        </p:spPr>
        <p:txBody>
          <a:bodyPr/>
          <a:lstStyle/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endParaRPr lang="en-US" sz="2400" spc="101" dirty="0"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>
              <a:lnSpc>
                <a:spcPts val="3878"/>
              </a:lnSpc>
              <a:spcBef>
                <a:spcPct val="0"/>
              </a:spcBef>
            </a:pPr>
            <a:endParaRPr lang="en-US" sz="2400" spc="101" dirty="0"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 marL="782637" lvl="1" indent="-391319">
              <a:lnSpc>
                <a:spcPts val="3878"/>
              </a:lnSpc>
              <a:buFont typeface="Arial"/>
              <a:buChar char="•"/>
            </a:pPr>
            <a:endParaRPr lang="en-US" sz="2400" spc="101" dirty="0">
              <a:solidFill>
                <a:srgbClr val="FFFFFF"/>
              </a:solidFill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  <a:p>
            <a:pPr marL="0" indent="0">
              <a:lnSpc>
                <a:spcPts val="3878"/>
              </a:lnSpc>
              <a:spcBef>
                <a:spcPct val="0"/>
              </a:spcBef>
              <a:buNone/>
            </a:pPr>
            <a:endParaRPr lang="en-US" sz="2400" spc="101" dirty="0">
              <a:solidFill>
                <a:srgbClr val="FFFFFF"/>
              </a:solidFill>
              <a:latin typeface="Arial" panose="020B0604020202020204" pitchFamily="34" charset="0"/>
              <a:ea typeface="Barlow SemiCondensed Bold"/>
              <a:cs typeface="Arial" panose="020B0604020202020204" pitchFamily="34" charset="0"/>
              <a:sym typeface="Barlow SemiCondensed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2601B-D69D-1180-AAB7-0B6E3525E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2" y="1124399"/>
            <a:ext cx="8539316" cy="522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6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7DA2-4B14-FD3E-E7C5-7E4B0804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D02A3-0931-EC26-99FD-2DD45AA6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2743200"/>
            <a:ext cx="8839200" cy="548640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kern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Women Empowerment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Ethical Aspects of Engineering Practices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2200" kern="100" dirty="0"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793455-F13A-A6F3-75CB-25DF1B74040D}"/>
              </a:ext>
            </a:extLst>
          </p:cNvPr>
          <p:cNvSpPr/>
          <p:nvPr/>
        </p:nvSpPr>
        <p:spPr>
          <a:xfrm>
            <a:off x="0" y="644411"/>
            <a:ext cx="7086600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0533B-CCB9-E2BE-5D02-8DD2F27187BC}"/>
              </a:ext>
            </a:extLst>
          </p:cNvPr>
          <p:cNvSpPr txBox="1"/>
          <p:nvPr/>
        </p:nvSpPr>
        <p:spPr>
          <a:xfrm>
            <a:off x="0" y="182746"/>
            <a:ext cx="7086600" cy="461665"/>
          </a:xfrm>
          <a:prstGeom prst="rect">
            <a:avLst/>
          </a:prstGeom>
          <a:solidFill>
            <a:srgbClr val="F2850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spcAft>
                <a:spcPts val="0"/>
              </a:spcAft>
            </a:pPr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NEXT TOPIC:</a:t>
            </a:r>
          </a:p>
        </p:txBody>
      </p:sp>
      <p:graphicFrame>
        <p:nvGraphicFramePr>
          <p:cNvPr id="6" name="Object 86">
            <a:extLst>
              <a:ext uri="{FF2B5EF4-FFF2-40B4-BE49-F238E27FC236}">
                <a16:creationId xmlns:a16="http://schemas.microsoft.com/office/drawing/2014/main" id="{BAE350BA-4932-F72E-D80C-05B9F1F1B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81761"/>
          <a:ext cx="1794734" cy="72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37020" imgH="5409524" progId="">
                  <p:embed/>
                </p:oleObj>
              </mc:Choice>
              <mc:Fallback>
                <p:oleObj r:id="rId2" imgW="13937020" imgH="5409524" progId="">
                  <p:embed/>
                  <p:pic>
                    <p:nvPicPr>
                      <p:cNvPr id="6" name="Object 86">
                        <a:extLst>
                          <a:ext uri="{FF2B5EF4-FFF2-40B4-BE49-F238E27FC236}">
                            <a16:creationId xmlns:a16="http://schemas.microsoft.com/office/drawing/2014/main" id="{BAE350BA-4932-F72E-D80C-05B9F1F1B4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81761"/>
                        <a:ext cx="1794734" cy="727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5" descr="blob:https://web.whatsapp.com/179ee611-44f9-4421-b86f-193c8c99f0dd">
            <a:extLst>
              <a:ext uri="{FF2B5EF4-FFF2-40B4-BE49-F238E27FC236}">
                <a16:creationId xmlns:a16="http://schemas.microsoft.com/office/drawing/2014/main" id="{93C240B0-171E-8E95-20EA-461E719D1D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LPU Online Approval and Recognitions">
            <a:extLst>
              <a:ext uri="{FF2B5EF4-FFF2-40B4-BE49-F238E27FC236}">
                <a16:creationId xmlns:a16="http://schemas.microsoft.com/office/drawing/2014/main" id="{865E4C4E-1749-B984-5536-EACFBEE425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60" b="22274"/>
          <a:stretch/>
        </p:blipFill>
        <p:spPr bwMode="auto">
          <a:xfrm>
            <a:off x="7241586" y="858788"/>
            <a:ext cx="885099" cy="24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CBF06B-6271-30CD-C960-769F384521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00" t="7778" b="7778"/>
          <a:stretch/>
        </p:blipFill>
        <p:spPr>
          <a:xfrm>
            <a:off x="596179" y="2391000"/>
            <a:ext cx="191842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3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249</Words>
  <Application>Microsoft Office PowerPoint</Application>
  <PresentationFormat>On-screen Show (4:3)</PresentationFormat>
  <Paragraphs>50</Paragraphs>
  <Slides>11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Comic Sans MS</vt:lpstr>
      <vt:lpstr>Times New Roman</vt:lpstr>
      <vt:lpstr>Wingdings</vt:lpstr>
      <vt:lpstr>class</vt:lpstr>
      <vt:lpstr>CSE332 Industrial Ethics and Legal Issues</vt:lpstr>
      <vt:lpstr>Profession</vt:lpstr>
      <vt:lpstr>PowerPoint Presentation</vt:lpstr>
      <vt:lpstr>PowerPoint Presentation</vt:lpstr>
      <vt:lpstr>PowerPoint Presentation</vt:lpstr>
      <vt:lpstr>PowerPoint Presentation</vt:lpstr>
      <vt:lpstr>Business Software Alliance (BSA)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Jatinder Kaur</cp:lastModifiedBy>
  <cp:revision>669</cp:revision>
  <cp:lastPrinted>2000-09-11T14:23:11Z</cp:lastPrinted>
  <dcterms:created xsi:type="dcterms:W3CDTF">2000-08-31T01:12:33Z</dcterms:created>
  <dcterms:modified xsi:type="dcterms:W3CDTF">2025-01-18T09:18:48Z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1008A173FEB940478D60637772C2B8AC</vt:lpwstr>
  </property>
  <property fmtid="{D5CDD505-2E9C-101B-9397-08002B2CF9AE}" pid="3" name="KSOProductBuildVer">
    <vt:lpwstr>1033-11.2.0.10258</vt:lpwstr>
  </property>
</Properties>
</file>