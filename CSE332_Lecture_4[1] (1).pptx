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1" r:id="rId13"/>
    <p:sldId id="272" r:id="rId14"/>
    <p:sldId id="268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66" r:id="rId2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082691-BDF8-42C3-B3B1-C2714273D7CE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A54E96-CA10-4433-A477-A64B75F8FF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105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54E96-CA10-4433-A477-A64B75F8FF6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898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54E96-CA10-4433-A477-A64B75F8FF6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281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54E96-CA10-4433-A477-A64B75F8FF60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18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54E96-CA10-4433-A477-A64B75F8FF60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669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54E96-CA10-4433-A477-A64B75F8FF6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753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54E96-CA10-4433-A477-A64B75F8FF60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187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54E96-CA10-4433-A477-A64B75F8FF60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899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54E96-CA10-4433-A477-A64B75F8FF60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0198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54E96-CA10-4433-A477-A64B75F8FF60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493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54E96-CA10-4433-A477-A64B75F8FF60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4677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54E96-CA10-4433-A477-A64B75F8FF60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9767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54E96-CA10-4433-A477-A64B75F8FF60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0497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54E96-CA10-4433-A477-A64B75F8FF60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6296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54E96-CA10-4433-A477-A64B75F8FF60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027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54E96-CA10-4433-A477-A64B75F8FF60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273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2926" y="1155903"/>
            <a:ext cx="6838950" cy="1403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115823"/>
            <a:ext cx="7086600" cy="460375"/>
          </a:xfrm>
          <a:custGeom>
            <a:avLst/>
            <a:gdLst/>
            <a:ahLst/>
            <a:cxnLst/>
            <a:rect l="l" t="t" r="r" b="b"/>
            <a:pathLst>
              <a:path w="7086600" h="460375">
                <a:moveTo>
                  <a:pt x="7086600" y="0"/>
                </a:moveTo>
                <a:lnTo>
                  <a:pt x="0" y="0"/>
                </a:lnTo>
                <a:lnTo>
                  <a:pt x="0" y="460248"/>
                </a:lnTo>
                <a:lnTo>
                  <a:pt x="7086600" y="460248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1120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9172" y="1334950"/>
            <a:ext cx="5913120" cy="1534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nopiracy.org/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400" spc="-10" dirty="0">
                <a:solidFill>
                  <a:srgbClr val="000000"/>
                </a:solidFill>
                <a:latin typeface="Arial MT"/>
                <a:cs typeface="Arial MT"/>
              </a:rPr>
              <a:t>CSE332</a:t>
            </a:r>
            <a:endParaRPr sz="5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Industrial</a:t>
            </a:r>
            <a:r>
              <a:rPr sz="36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Ethics</a:t>
            </a:r>
            <a:r>
              <a:rPr sz="36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360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Legal </a:t>
            </a:r>
            <a:r>
              <a:rPr sz="3600" spc="-10" dirty="0">
                <a:solidFill>
                  <a:srgbClr val="000000"/>
                </a:solidFill>
                <a:latin typeface="Arial MT"/>
                <a:cs typeface="Arial MT"/>
              </a:rPr>
              <a:t>Issues</a:t>
            </a:r>
            <a:endParaRPr sz="36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5767" y="4940808"/>
            <a:ext cx="2718816" cy="110032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802108" y="2657721"/>
            <a:ext cx="5471160" cy="99695"/>
            <a:chOff x="1802108" y="2657721"/>
            <a:chExt cx="5471160" cy="996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2108" y="2657721"/>
              <a:ext cx="5470705" cy="99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30324" y="2689859"/>
              <a:ext cx="5410200" cy="0"/>
            </a:xfrm>
            <a:custGeom>
              <a:avLst/>
              <a:gdLst/>
              <a:ahLst/>
              <a:cxnLst/>
              <a:rect l="l" t="t" r="r" b="b"/>
              <a:pathLst>
                <a:path w="5410200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ln w="39624">
              <a:solidFill>
                <a:srgbClr val="2C2C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0431" y="3818759"/>
            <a:ext cx="5416350" cy="30125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03375" y="3714115"/>
            <a:ext cx="54654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Ethical</a:t>
            </a:r>
            <a:r>
              <a:rPr sz="2800" spc="-60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Behavior</a:t>
            </a:r>
            <a:r>
              <a:rPr sz="2800" spc="15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of</a:t>
            </a:r>
            <a:r>
              <a:rPr sz="2800" spc="-45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IT</a:t>
            </a:r>
            <a:r>
              <a:rPr sz="2800" spc="-90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9973"/>
                </a:solidFill>
                <a:latin typeface="Arial MT"/>
                <a:cs typeface="Arial MT"/>
              </a:rPr>
              <a:t>Professional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08320" y="5260847"/>
            <a:ext cx="1667255" cy="4602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984885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 ICS  IN  INFORMATION       TECHNOLOGY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334950"/>
            <a:ext cx="8153400" cy="1015663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some examples that raise public concern about the ethical use of information technology: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2484775"/>
            <a:ext cx="83058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Ethical concerns in technology's workplace use.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Copyright violation harms music and films.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2800" dirty="0"/>
              <a:t>Spam emails enable low-cost marketing.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2800" dirty="0"/>
              <a:t>Hacking, plagiarism, and tracking persist. ​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6365" y="145745"/>
            <a:ext cx="22701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C00000"/>
                </a:solidFill>
                <a:latin typeface="Comic Sans MS"/>
                <a:cs typeface="Comic Sans MS"/>
              </a:rPr>
              <a:t>Profession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859358"/>
            <a:ext cx="868235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3200" spc="68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profession</a:t>
            </a:r>
            <a:r>
              <a:rPr sz="3200" spc="7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r>
              <a:rPr sz="3200" spc="7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3200" spc="7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calling</a:t>
            </a:r>
            <a:r>
              <a:rPr sz="3200" spc="70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that</a:t>
            </a:r>
            <a:r>
              <a:rPr sz="3200" spc="69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requires</a:t>
            </a:r>
            <a:r>
              <a:rPr sz="3200" spc="7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Times New Roman"/>
                <a:cs typeface="Times New Roman"/>
              </a:rPr>
              <a:t>specialized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knowledge</a:t>
            </a:r>
            <a:r>
              <a:rPr sz="3200" spc="6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200" spc="6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often</a:t>
            </a:r>
            <a:r>
              <a:rPr sz="3200" spc="6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long</a:t>
            </a:r>
            <a:r>
              <a:rPr sz="3200" spc="6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200" spc="6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intensive</a:t>
            </a:r>
            <a:r>
              <a:rPr sz="3200" spc="6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Times New Roman"/>
                <a:cs typeface="Times New Roman"/>
              </a:rPr>
              <a:t>academic preparation.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3591509"/>
            <a:ext cx="231902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Professional</a:t>
            </a:r>
            <a:r>
              <a:rPr sz="3200" spc="-7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3333CC"/>
                </a:solidFill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6167" y="0"/>
            <a:ext cx="3227832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8" y="97535"/>
            <a:ext cx="7086600" cy="521334"/>
          </a:xfrm>
          <a:custGeom>
            <a:avLst/>
            <a:gdLst/>
            <a:ahLst/>
            <a:cxnLst/>
            <a:rect l="l" t="t" r="r" b="b"/>
            <a:pathLst>
              <a:path w="7086600" h="521334">
                <a:moveTo>
                  <a:pt x="7086600" y="0"/>
                </a:moveTo>
                <a:lnTo>
                  <a:pt x="0" y="0"/>
                </a:lnTo>
                <a:lnTo>
                  <a:pt x="0" y="521207"/>
                </a:lnTo>
                <a:lnTo>
                  <a:pt x="7086600" y="521207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88" rIns="0" bIns="0" rtlCol="0">
            <a:spAutoFit/>
          </a:bodyPr>
          <a:lstStyle/>
          <a:p>
            <a:pPr marL="1677035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solidFill>
                  <a:srgbClr val="C00000"/>
                </a:solidFill>
                <a:latin typeface="Comic Sans MS"/>
                <a:cs typeface="Comic Sans MS"/>
              </a:rPr>
              <a:t>Professional</a:t>
            </a:r>
            <a:r>
              <a:rPr sz="2800" b="1" spc="-9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omic Sans MS"/>
                <a:cs typeface="Comic Sans MS"/>
              </a:rPr>
              <a:t>Employee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88" y="993647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19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41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/>
              <a:t>One</a:t>
            </a:r>
            <a:r>
              <a:rPr spc="-5" dirty="0"/>
              <a:t> </a:t>
            </a:r>
            <a:r>
              <a:rPr dirty="0"/>
              <a:t>who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engaged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performance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work</a:t>
            </a:r>
            <a:r>
              <a:rPr spc="-10" dirty="0"/>
              <a:t> </a:t>
            </a:r>
            <a:r>
              <a:rPr spc="-50" dirty="0"/>
              <a:t>.</a:t>
            </a:r>
          </a:p>
          <a:p>
            <a:pPr marL="356870" indent="-34417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/>
              <a:t>Specialized</a:t>
            </a:r>
            <a:r>
              <a:rPr spc="-80" dirty="0"/>
              <a:t> </a:t>
            </a:r>
            <a:r>
              <a:rPr dirty="0"/>
              <a:t>intellectual</a:t>
            </a:r>
            <a:r>
              <a:rPr spc="-65" dirty="0"/>
              <a:t> </a:t>
            </a:r>
            <a:r>
              <a:rPr spc="-10" dirty="0"/>
              <a:t>instruction.</a:t>
            </a:r>
          </a:p>
          <a:p>
            <a:pPr marL="356870" indent="-34417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/>
              <a:t>Exercise</a:t>
            </a:r>
            <a:r>
              <a:rPr spc="-4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discretion</a:t>
            </a:r>
            <a:r>
              <a:rPr spc="-9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judgement.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8976" y="256031"/>
            <a:ext cx="5507990" cy="6026150"/>
            <a:chOff x="188976" y="256031"/>
            <a:chExt cx="5507990" cy="6026150"/>
          </a:xfrm>
        </p:grpSpPr>
        <p:sp>
          <p:nvSpPr>
            <p:cNvPr id="3" name="object 3"/>
            <p:cNvSpPr/>
            <p:nvPr/>
          </p:nvSpPr>
          <p:spPr>
            <a:xfrm>
              <a:off x="252984" y="320039"/>
              <a:ext cx="5379720" cy="5897880"/>
            </a:xfrm>
            <a:custGeom>
              <a:avLst/>
              <a:gdLst/>
              <a:ahLst/>
              <a:cxnLst/>
              <a:rect l="l" t="t" r="r" b="b"/>
              <a:pathLst>
                <a:path w="5379720" h="5897880">
                  <a:moveTo>
                    <a:pt x="5379720" y="0"/>
                  </a:moveTo>
                  <a:lnTo>
                    <a:pt x="0" y="0"/>
                  </a:lnTo>
                  <a:lnTo>
                    <a:pt x="0" y="5897880"/>
                  </a:lnTo>
                  <a:lnTo>
                    <a:pt x="5379720" y="5897880"/>
                  </a:lnTo>
                  <a:lnTo>
                    <a:pt x="537972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8976" y="256031"/>
              <a:ext cx="5507990" cy="6026150"/>
            </a:xfrm>
            <a:custGeom>
              <a:avLst/>
              <a:gdLst/>
              <a:ahLst/>
              <a:cxnLst/>
              <a:rect l="l" t="t" r="r" b="b"/>
              <a:pathLst>
                <a:path w="5507990" h="6026150">
                  <a:moveTo>
                    <a:pt x="5443728" y="0"/>
                  </a:moveTo>
                  <a:lnTo>
                    <a:pt x="64008" y="0"/>
                  </a:lnTo>
                  <a:lnTo>
                    <a:pt x="39090" y="5036"/>
                  </a:lnTo>
                  <a:lnTo>
                    <a:pt x="18745" y="18764"/>
                  </a:lnTo>
                  <a:lnTo>
                    <a:pt x="5029" y="39112"/>
                  </a:lnTo>
                  <a:lnTo>
                    <a:pt x="0" y="64008"/>
                  </a:lnTo>
                  <a:lnTo>
                    <a:pt x="0" y="5961888"/>
                  </a:lnTo>
                  <a:lnTo>
                    <a:pt x="5029" y="5986800"/>
                  </a:lnTo>
                  <a:lnTo>
                    <a:pt x="18745" y="6007146"/>
                  </a:lnTo>
                  <a:lnTo>
                    <a:pt x="39090" y="6020865"/>
                  </a:lnTo>
                  <a:lnTo>
                    <a:pt x="64008" y="6025896"/>
                  </a:lnTo>
                  <a:lnTo>
                    <a:pt x="5443728" y="6025896"/>
                  </a:lnTo>
                  <a:lnTo>
                    <a:pt x="5468623" y="6020865"/>
                  </a:lnTo>
                  <a:lnTo>
                    <a:pt x="5488971" y="6007146"/>
                  </a:lnTo>
                  <a:lnTo>
                    <a:pt x="5493595" y="6000292"/>
                  </a:lnTo>
                  <a:lnTo>
                    <a:pt x="64008" y="6000292"/>
                  </a:lnTo>
                  <a:lnTo>
                    <a:pt x="49059" y="5997274"/>
                  </a:lnTo>
                  <a:lnTo>
                    <a:pt x="36852" y="5989043"/>
                  </a:lnTo>
                  <a:lnTo>
                    <a:pt x="28621" y="5976836"/>
                  </a:lnTo>
                  <a:lnTo>
                    <a:pt x="25603" y="5961888"/>
                  </a:lnTo>
                  <a:lnTo>
                    <a:pt x="25603" y="64008"/>
                  </a:lnTo>
                  <a:lnTo>
                    <a:pt x="28621" y="49067"/>
                  </a:lnTo>
                  <a:lnTo>
                    <a:pt x="36852" y="36877"/>
                  </a:lnTo>
                  <a:lnTo>
                    <a:pt x="49059" y="28664"/>
                  </a:lnTo>
                  <a:lnTo>
                    <a:pt x="64008" y="25653"/>
                  </a:lnTo>
                  <a:lnTo>
                    <a:pt x="5493620" y="25653"/>
                  </a:lnTo>
                  <a:lnTo>
                    <a:pt x="5488971" y="18764"/>
                  </a:lnTo>
                  <a:lnTo>
                    <a:pt x="5468623" y="5036"/>
                  </a:lnTo>
                  <a:lnTo>
                    <a:pt x="5443728" y="0"/>
                  </a:lnTo>
                  <a:close/>
                </a:path>
                <a:path w="5507990" h="6026150">
                  <a:moveTo>
                    <a:pt x="5493620" y="25653"/>
                  </a:moveTo>
                  <a:lnTo>
                    <a:pt x="5443728" y="25653"/>
                  </a:lnTo>
                  <a:lnTo>
                    <a:pt x="5458668" y="28664"/>
                  </a:lnTo>
                  <a:lnTo>
                    <a:pt x="5470858" y="36877"/>
                  </a:lnTo>
                  <a:lnTo>
                    <a:pt x="5479071" y="49067"/>
                  </a:lnTo>
                  <a:lnTo>
                    <a:pt x="5482082" y="64008"/>
                  </a:lnTo>
                  <a:lnTo>
                    <a:pt x="5482082" y="5961888"/>
                  </a:lnTo>
                  <a:lnTo>
                    <a:pt x="5479071" y="5976836"/>
                  </a:lnTo>
                  <a:lnTo>
                    <a:pt x="5470858" y="5989043"/>
                  </a:lnTo>
                  <a:lnTo>
                    <a:pt x="5458668" y="5997274"/>
                  </a:lnTo>
                  <a:lnTo>
                    <a:pt x="5443728" y="6000292"/>
                  </a:lnTo>
                  <a:lnTo>
                    <a:pt x="5493595" y="6000292"/>
                  </a:lnTo>
                  <a:lnTo>
                    <a:pt x="5502699" y="5986800"/>
                  </a:lnTo>
                  <a:lnTo>
                    <a:pt x="5507736" y="5961888"/>
                  </a:lnTo>
                  <a:lnTo>
                    <a:pt x="5507736" y="64008"/>
                  </a:lnTo>
                  <a:lnTo>
                    <a:pt x="5502699" y="39112"/>
                  </a:lnTo>
                  <a:lnTo>
                    <a:pt x="5493620" y="25653"/>
                  </a:lnTo>
                  <a:close/>
                </a:path>
                <a:path w="5507990" h="6026150">
                  <a:moveTo>
                    <a:pt x="5450840" y="51181"/>
                  </a:moveTo>
                  <a:lnTo>
                    <a:pt x="56934" y="51181"/>
                  </a:lnTo>
                  <a:lnTo>
                    <a:pt x="51206" y="56896"/>
                  </a:lnTo>
                  <a:lnTo>
                    <a:pt x="51206" y="5968961"/>
                  </a:lnTo>
                  <a:lnTo>
                    <a:pt x="56934" y="5974689"/>
                  </a:lnTo>
                  <a:lnTo>
                    <a:pt x="5450840" y="5974689"/>
                  </a:lnTo>
                  <a:lnTo>
                    <a:pt x="5456555" y="5968961"/>
                  </a:lnTo>
                  <a:lnTo>
                    <a:pt x="5456555" y="5897880"/>
                  </a:lnTo>
                  <a:lnTo>
                    <a:pt x="128016" y="5897880"/>
                  </a:lnTo>
                  <a:lnTo>
                    <a:pt x="128016" y="128016"/>
                  </a:lnTo>
                  <a:lnTo>
                    <a:pt x="5456555" y="128016"/>
                  </a:lnTo>
                  <a:lnTo>
                    <a:pt x="5456555" y="56896"/>
                  </a:lnTo>
                  <a:lnTo>
                    <a:pt x="5450840" y="51181"/>
                  </a:lnTo>
                  <a:close/>
                </a:path>
                <a:path w="5507990" h="6026150">
                  <a:moveTo>
                    <a:pt x="5456555" y="128016"/>
                  </a:moveTo>
                  <a:lnTo>
                    <a:pt x="5379720" y="128016"/>
                  </a:lnTo>
                  <a:lnTo>
                    <a:pt x="5379720" y="5897880"/>
                  </a:lnTo>
                  <a:lnTo>
                    <a:pt x="5456555" y="5897880"/>
                  </a:lnTo>
                  <a:lnTo>
                    <a:pt x="5456555" y="128016"/>
                  </a:lnTo>
                  <a:close/>
                </a:path>
              </a:pathLst>
            </a:custGeom>
            <a:solidFill>
              <a:srgbClr val="000000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95045" y="2147138"/>
            <a:ext cx="4502150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Professionals</a:t>
            </a:r>
            <a:r>
              <a:rPr sz="2000" spc="15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such</a:t>
            </a:r>
            <a:r>
              <a:rPr sz="2000" spc="14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as</a:t>
            </a:r>
            <a:r>
              <a:rPr sz="2000" spc="15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doctors,</a:t>
            </a:r>
            <a:r>
              <a:rPr sz="2000" b="1" spc="15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lawyers,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b="1" spc="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accountants</a:t>
            </a:r>
            <a:r>
              <a:rPr sz="2000" b="1" spc="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require</a:t>
            </a:r>
            <a:r>
              <a:rPr sz="2000" spc="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advanced</a:t>
            </a:r>
            <a:r>
              <a:rPr sz="2000" spc="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training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spc="260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experience;</a:t>
            </a:r>
            <a:r>
              <a:rPr sz="2000" spc="260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they</a:t>
            </a:r>
            <a:r>
              <a:rPr sz="2000" spc="254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must</a:t>
            </a:r>
            <a:r>
              <a:rPr sz="2000" spc="260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exercise </a:t>
            </a:r>
            <a:r>
              <a:rPr sz="1800" b="1" dirty="0">
                <a:solidFill>
                  <a:srgbClr val="374151"/>
                </a:solidFill>
                <a:latin typeface="Times New Roman"/>
                <a:cs typeface="Times New Roman"/>
              </a:rPr>
              <a:t>Carefulness</a:t>
            </a:r>
            <a:r>
              <a:rPr sz="1800" b="1" spc="30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spc="2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judgment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in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course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of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their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 work.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6167" y="1310639"/>
            <a:ext cx="3029712" cy="18623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6167" y="3319271"/>
            <a:ext cx="3029712" cy="1524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9676" y="4986528"/>
            <a:ext cx="2051766" cy="15240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16167" y="0"/>
            <a:ext cx="3227832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1" y="24383"/>
            <a:ext cx="7086600" cy="1198245"/>
          </a:xfrm>
          <a:custGeom>
            <a:avLst/>
            <a:gdLst/>
            <a:ahLst/>
            <a:cxnLst/>
            <a:rect l="l" t="t" r="r" b="b"/>
            <a:pathLst>
              <a:path w="7086600" h="1198245">
                <a:moveTo>
                  <a:pt x="7086600" y="0"/>
                </a:moveTo>
                <a:lnTo>
                  <a:pt x="0" y="0"/>
                </a:lnTo>
                <a:lnTo>
                  <a:pt x="0" y="1197863"/>
                </a:lnTo>
                <a:lnTo>
                  <a:pt x="7086600" y="1197863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002155" marR="5080" indent="-274320">
              <a:lnSpc>
                <a:spcPts val="4300"/>
              </a:lnSpc>
              <a:spcBef>
                <a:spcPts val="220"/>
              </a:spcBef>
            </a:pPr>
            <a:r>
              <a:rPr sz="3600" b="1" dirty="0">
                <a:solidFill>
                  <a:srgbClr val="C00000"/>
                </a:solidFill>
                <a:latin typeface="Comic Sans MS"/>
                <a:cs typeface="Comic Sans MS"/>
              </a:rPr>
              <a:t>Are</a:t>
            </a:r>
            <a:r>
              <a:rPr sz="3600" b="1" spc="-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3600" b="1" dirty="0">
                <a:solidFill>
                  <a:srgbClr val="C00000"/>
                </a:solidFill>
                <a:latin typeface="Comic Sans MS"/>
                <a:cs typeface="Comic Sans MS"/>
              </a:rPr>
              <a:t>IT</a:t>
            </a:r>
            <a:r>
              <a:rPr sz="3600" b="1" spc="-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Comic Sans MS"/>
                <a:cs typeface="Comic Sans MS"/>
              </a:rPr>
              <a:t>Workers Professionals?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" y="1307591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19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923" y="1641852"/>
            <a:ext cx="3248025" cy="266001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70"/>
              </a:spcBef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Specialized</a:t>
            </a:r>
            <a:r>
              <a:rPr sz="2400" spc="-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Knowledge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80"/>
              </a:spcBef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Ethical</a:t>
            </a:r>
            <a:r>
              <a:rPr sz="2400" spc="-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Behaviour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har char="•"/>
              <a:tabLst>
                <a:tab pos="356870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Accountability</a:t>
            </a:r>
            <a:endParaRPr sz="2400">
              <a:latin typeface="Times New Roman"/>
              <a:cs typeface="Times New Roman"/>
            </a:endParaRPr>
          </a:p>
          <a:p>
            <a:pPr marL="12700" marR="963930" indent="344170">
              <a:lnSpc>
                <a:spcPct val="120000"/>
              </a:lnSpc>
              <a:spcBef>
                <a:spcPts val="5"/>
              </a:spcBef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Commitment</a:t>
            </a:r>
            <a:r>
              <a:rPr sz="2400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333CC"/>
                </a:solidFill>
                <a:latin typeface="Times New Roman"/>
                <a:cs typeface="Times New Roman"/>
              </a:rPr>
              <a:t>to </a:t>
            </a: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Continuous Learning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29000" y="2590798"/>
            <a:ext cx="5715000" cy="4145279"/>
            <a:chOff x="3429000" y="2590798"/>
            <a:chExt cx="5715000" cy="414527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87824" y="4717385"/>
              <a:ext cx="4303776" cy="16834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9000" y="2590798"/>
              <a:ext cx="5715000" cy="41452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5823"/>
            <a:ext cx="7086600" cy="460375"/>
          </a:xfrm>
          <a:custGeom>
            <a:avLst/>
            <a:gdLst/>
            <a:ahLst/>
            <a:cxnLst/>
            <a:rect l="l" t="t" r="r" b="b"/>
            <a:pathLst>
              <a:path w="7086600" h="460375">
                <a:moveTo>
                  <a:pt x="7086600" y="0"/>
                </a:moveTo>
                <a:lnTo>
                  <a:pt x="0" y="0"/>
                </a:lnTo>
                <a:lnTo>
                  <a:pt x="0" y="460248"/>
                </a:lnTo>
                <a:lnTo>
                  <a:pt x="7086600" y="460248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3326" y="129616"/>
            <a:ext cx="60820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</a:t>
            </a:r>
            <a:r>
              <a:rPr spc="-55" dirty="0"/>
              <a:t> </a:t>
            </a:r>
            <a:r>
              <a:rPr dirty="0"/>
              <a:t>Ethical</a:t>
            </a:r>
            <a:r>
              <a:rPr spc="-15" dirty="0"/>
              <a:t> </a:t>
            </a:r>
            <a:r>
              <a:rPr dirty="0"/>
              <a:t>Issues</a:t>
            </a:r>
            <a:r>
              <a:rPr spc="-6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IT</a:t>
            </a:r>
            <a:r>
              <a:rPr spc="-40" dirty="0"/>
              <a:t> </a:t>
            </a:r>
            <a:r>
              <a:rPr spc="-10" dirty="0"/>
              <a:t>Users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576072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20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0284" y="876173"/>
            <a:ext cx="3446779" cy="2867660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405765" indent="-393065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70" dirty="0">
                <a:solidFill>
                  <a:srgbClr val="3333CC"/>
                </a:solidFill>
                <a:latin typeface="Times New Roman"/>
                <a:cs typeface="Times New Roman"/>
              </a:rPr>
              <a:t>Privacy</a:t>
            </a:r>
            <a:r>
              <a:rPr sz="2400" spc="2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60" dirty="0">
                <a:solidFill>
                  <a:srgbClr val="3333CC"/>
                </a:solidFill>
                <a:latin typeface="Times New Roman"/>
                <a:cs typeface="Times New Roman"/>
              </a:rPr>
              <a:t>Concern</a:t>
            </a:r>
            <a:endParaRPr sz="24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75" dirty="0">
                <a:solidFill>
                  <a:srgbClr val="3333CC"/>
                </a:solidFill>
                <a:latin typeface="Times New Roman"/>
                <a:cs typeface="Times New Roman"/>
              </a:rPr>
              <a:t>Cybersecurity</a:t>
            </a:r>
            <a:r>
              <a:rPr sz="2400" spc="3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Times New Roman"/>
                <a:cs typeface="Times New Roman"/>
              </a:rPr>
              <a:t>Risks</a:t>
            </a:r>
            <a:endParaRPr sz="24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70" dirty="0">
                <a:solidFill>
                  <a:srgbClr val="3333CC"/>
                </a:solidFill>
                <a:latin typeface="Times New Roman"/>
                <a:cs typeface="Times New Roman"/>
              </a:rPr>
              <a:t>Misuse</a:t>
            </a:r>
            <a:r>
              <a:rPr sz="2400" spc="26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of</a:t>
            </a:r>
            <a:r>
              <a:rPr sz="2400" spc="2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IT</a:t>
            </a:r>
            <a:r>
              <a:rPr sz="2400" spc="2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Times New Roman"/>
                <a:cs typeface="Times New Roman"/>
              </a:rPr>
              <a:t>Resource</a:t>
            </a:r>
            <a:endParaRPr sz="2400">
              <a:latin typeface="Times New Roman"/>
              <a:cs typeface="Times New Roman"/>
            </a:endParaRPr>
          </a:p>
          <a:p>
            <a:pPr marL="369570" marR="808990" indent="-357505">
              <a:lnSpc>
                <a:spcPts val="4490"/>
              </a:lnSpc>
              <a:spcBef>
                <a:spcPts val="195"/>
              </a:spcBef>
              <a:buChar char="•"/>
              <a:tabLst>
                <a:tab pos="369570" algn="l"/>
                <a:tab pos="405765" algn="l"/>
              </a:tabLst>
            </a:pPr>
            <a:r>
              <a:rPr sz="2400" dirty="0">
                <a:solidFill>
                  <a:srgbClr val="3333CC"/>
                </a:solidFill>
                <a:latin typeface="Arial MT"/>
                <a:cs typeface="Arial MT"/>
              </a:rPr>
              <a:t>	</a:t>
            </a:r>
            <a:r>
              <a:rPr sz="2400" spc="80" dirty="0">
                <a:solidFill>
                  <a:srgbClr val="3333CC"/>
                </a:solidFill>
                <a:latin typeface="Times New Roman"/>
                <a:cs typeface="Times New Roman"/>
              </a:rPr>
              <a:t>Surveillance</a:t>
            </a:r>
            <a:r>
              <a:rPr sz="2400" spc="25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30" dirty="0">
                <a:solidFill>
                  <a:srgbClr val="3333CC"/>
                </a:solidFill>
                <a:latin typeface="Times New Roman"/>
                <a:cs typeface="Times New Roman"/>
              </a:rPr>
              <a:t>and </a:t>
            </a:r>
            <a:r>
              <a:rPr sz="2400" spc="65" dirty="0">
                <a:solidFill>
                  <a:srgbClr val="3333CC"/>
                </a:solidFill>
                <a:latin typeface="Times New Roman"/>
                <a:cs typeface="Times New Roman"/>
              </a:rPr>
              <a:t>Monitoring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3011424"/>
            <a:ext cx="5529072" cy="3770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568" y="716737"/>
            <a:ext cx="745870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0000"/>
                </a:solidFill>
                <a:latin typeface="Comic Sans MS"/>
                <a:cs typeface="Comic Sans MS"/>
              </a:rPr>
              <a:t>Business</a:t>
            </a:r>
            <a:r>
              <a:rPr sz="3600" b="1" spc="-1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omic Sans MS"/>
                <a:cs typeface="Comic Sans MS"/>
              </a:rPr>
              <a:t>Software</a:t>
            </a:r>
            <a:r>
              <a:rPr sz="3600" b="1" spc="-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omic Sans MS"/>
                <a:cs typeface="Comic Sans MS"/>
              </a:rPr>
              <a:t>Alliance</a:t>
            </a:r>
            <a:r>
              <a:rPr sz="3600" b="1" spc="-8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600" b="1" spc="-10" dirty="0">
                <a:solidFill>
                  <a:srgbClr val="FF0000"/>
                </a:solidFill>
                <a:latin typeface="Comic Sans MS"/>
                <a:cs typeface="Comic Sans MS"/>
              </a:rPr>
              <a:t>(BSA)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701164"/>
            <a:ext cx="367728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56870" algn="l"/>
              </a:tabLst>
            </a:pP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2000" spc="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Business</a:t>
            </a:r>
            <a:r>
              <a:rPr sz="2000" spc="6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Software</a:t>
            </a:r>
            <a:r>
              <a:rPr sz="2000" spc="1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Alliance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8268" y="2005660"/>
            <a:ext cx="105283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0900" algn="l"/>
              </a:tabLst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(BSA)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represents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software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1223" y="2005660"/>
            <a:ext cx="215074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80" marR="5080" indent="-18415" algn="r">
              <a:lnSpc>
                <a:spcPct val="100000"/>
              </a:lnSpc>
              <a:spcBef>
                <a:spcPts val="95"/>
              </a:spcBef>
              <a:tabLst>
                <a:tab pos="302260" algn="l"/>
                <a:tab pos="515620" algn="l"/>
                <a:tab pos="960755" algn="l"/>
                <a:tab pos="988060" algn="l"/>
                <a:tab pos="1460500" algn="l"/>
                <a:tab pos="1756410" algn="l"/>
              </a:tabLst>
            </a:pPr>
            <a:r>
              <a:rPr sz="2000" spc="-50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trade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group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that 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world’s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largest 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hardware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2921000"/>
            <a:ext cx="1872614" cy="1061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manufacturers.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844550" algn="l"/>
              </a:tabLst>
            </a:pP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Its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mission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8268" y="3957269"/>
            <a:ext cx="134810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unauthorized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32558" y="4262754"/>
            <a:ext cx="156273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92860" algn="l"/>
              </a:tabLst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produced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by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4564" y="3652773"/>
            <a:ext cx="1831339" cy="939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1150" marR="5080" indent="-299085" algn="r">
              <a:lnSpc>
                <a:spcPct val="100000"/>
              </a:lnSpc>
              <a:spcBef>
                <a:spcPts val="90"/>
              </a:spcBef>
              <a:tabLst>
                <a:tab pos="414655" algn="l"/>
                <a:tab pos="847725" algn="l"/>
                <a:tab pos="1506220" algn="l"/>
                <a:tab pos="1604010" algn="l"/>
              </a:tabLst>
            </a:pP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stop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the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copying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of its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8268" y="4262754"/>
            <a:ext cx="1009650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software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members.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5488" y="1905050"/>
            <a:ext cx="4230623" cy="40323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6167" y="0"/>
            <a:ext cx="3227832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317116"/>
            <a:ext cx="8077834" cy="386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8890" indent="-34480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</a:tabLst>
            </a:pP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More</a:t>
            </a:r>
            <a:r>
              <a:rPr sz="3000" spc="3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than</a:t>
            </a:r>
            <a:r>
              <a:rPr sz="3000" spc="4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100</a:t>
            </a:r>
            <a:r>
              <a:rPr sz="3000" spc="4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3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lawyers</a:t>
            </a:r>
            <a:r>
              <a:rPr sz="3000" spc="5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000" spc="4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spc="-10" dirty="0">
                <a:solidFill>
                  <a:srgbClr val="3333CC"/>
                </a:solidFill>
                <a:latin typeface="Times New Roman"/>
                <a:cs typeface="Times New Roman"/>
              </a:rPr>
              <a:t>investigators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prosecute</a:t>
            </a:r>
            <a:r>
              <a:rPr sz="3000" spc="5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thousands</a:t>
            </a:r>
            <a:r>
              <a:rPr sz="3000" spc="5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of</a:t>
            </a:r>
            <a:r>
              <a:rPr sz="3000" spc="5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cases</a:t>
            </a:r>
            <a:r>
              <a:rPr sz="3000" spc="5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spc="5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3000" spc="5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piracy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each</a:t>
            </a:r>
            <a:r>
              <a:rPr sz="3000" spc="-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3333CC"/>
                </a:solidFill>
                <a:latin typeface="Times New Roman"/>
                <a:cs typeface="Times New Roman"/>
              </a:rPr>
              <a:t>year.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95"/>
              </a:spcBef>
              <a:buClr>
                <a:srgbClr val="3333CC"/>
              </a:buClr>
              <a:buFont typeface="Times New Roman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356870" marR="5080" indent="-344805" algn="just">
              <a:lnSpc>
                <a:spcPct val="100000"/>
              </a:lnSpc>
              <a:buChar char="•"/>
              <a:tabLst>
                <a:tab pos="356870" algn="l"/>
              </a:tabLst>
            </a:pP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investigations</a:t>
            </a:r>
            <a:r>
              <a:rPr sz="3000" spc="28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are</a:t>
            </a:r>
            <a:r>
              <a:rPr sz="3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usually</a:t>
            </a:r>
            <a:r>
              <a:rPr sz="3000" spc="2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triggered</a:t>
            </a:r>
            <a:r>
              <a:rPr sz="3000" spc="29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by</a:t>
            </a:r>
            <a:r>
              <a:rPr sz="3000" spc="28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3333CC"/>
                </a:solidFill>
                <a:latin typeface="Times New Roman"/>
                <a:cs typeface="Times New Roman"/>
              </a:rPr>
              <a:t>calls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3000" spc="2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3000" spc="2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hotline,</a:t>
            </a:r>
            <a:r>
              <a:rPr sz="3000" spc="229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reports</a:t>
            </a:r>
            <a:r>
              <a:rPr sz="3000" spc="2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sent</a:t>
            </a:r>
            <a:r>
              <a:rPr sz="3000" spc="2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3000" spc="2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3000" spc="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2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3333CC"/>
                </a:solidFill>
                <a:latin typeface="Times New Roman"/>
                <a:cs typeface="Times New Roman"/>
              </a:rPr>
              <a:t>Web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site</a:t>
            </a:r>
            <a:r>
              <a:rPr sz="3000" spc="60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  <a:hlinkClick r:id="rId2"/>
              </a:rPr>
              <a:t>(www.nopiracy.org),</a:t>
            </a:r>
            <a:r>
              <a:rPr sz="3000" spc="60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000" spc="61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referrals</a:t>
            </a:r>
            <a:r>
              <a:rPr sz="3000" spc="60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spc="-20" dirty="0">
                <a:solidFill>
                  <a:srgbClr val="3333CC"/>
                </a:solidFill>
                <a:latin typeface="Times New Roman"/>
                <a:cs typeface="Times New Roman"/>
              </a:rPr>
              <a:t>from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member</a:t>
            </a:r>
            <a:r>
              <a:rPr sz="3000" spc="-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3333CC"/>
                </a:solidFill>
                <a:latin typeface="Times New Roman"/>
                <a:cs typeface="Times New Roman"/>
              </a:rPr>
              <a:t>companies.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6167" y="0"/>
            <a:ext cx="3227832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115823"/>
            <a:ext cx="7086600" cy="878205"/>
            <a:chOff x="0" y="115823"/>
            <a:chExt cx="7086600" cy="878205"/>
          </a:xfrm>
        </p:grpSpPr>
        <p:sp>
          <p:nvSpPr>
            <p:cNvPr id="5" name="object 5"/>
            <p:cNvSpPr/>
            <p:nvPr/>
          </p:nvSpPr>
          <p:spPr>
            <a:xfrm>
              <a:off x="0" y="115823"/>
              <a:ext cx="7086600" cy="829310"/>
            </a:xfrm>
            <a:custGeom>
              <a:avLst/>
              <a:gdLst/>
              <a:ahLst/>
              <a:cxnLst/>
              <a:rect l="l" t="t" r="r" b="b"/>
              <a:pathLst>
                <a:path w="7086600" h="829310">
                  <a:moveTo>
                    <a:pt x="7086600" y="0"/>
                  </a:moveTo>
                  <a:lnTo>
                    <a:pt x="0" y="0"/>
                  </a:lnTo>
                  <a:lnTo>
                    <a:pt x="0" y="829055"/>
                  </a:lnTo>
                  <a:lnTo>
                    <a:pt x="7086600" y="829055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F185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947927"/>
              <a:ext cx="7086600" cy="45720"/>
            </a:xfrm>
            <a:custGeom>
              <a:avLst/>
              <a:gdLst/>
              <a:ahLst/>
              <a:cxnLst/>
              <a:rect l="l" t="t" r="r" b="b"/>
              <a:pathLst>
                <a:path w="7086600" h="45719">
                  <a:moveTo>
                    <a:pt x="70866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7086600" y="45720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4830" y="129616"/>
            <a:ext cx="6395720" cy="4132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Supporting</a:t>
            </a:r>
            <a:r>
              <a:rPr sz="2400" spc="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2400" spc="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Ethical</a:t>
            </a:r>
            <a:r>
              <a:rPr sz="2400" spc="-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Practices Of</a:t>
            </a:r>
            <a:r>
              <a:rPr sz="2400" spc="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Black"/>
                <a:cs typeface="Arial Black"/>
              </a:rPr>
              <a:t>IT</a:t>
            </a:r>
            <a:endParaRPr sz="2400">
              <a:latin typeface="Arial Black"/>
              <a:cs typeface="Arial Black"/>
            </a:endParaRPr>
          </a:p>
          <a:p>
            <a:pPr marL="5080" algn="ctr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FFFFFF"/>
                </a:solidFill>
                <a:latin typeface="Arial Black"/>
                <a:cs typeface="Arial Black"/>
              </a:rPr>
              <a:t>Users</a:t>
            </a:r>
            <a:endParaRPr sz="2400">
              <a:latin typeface="Arial Black"/>
              <a:cs typeface="Arial Black"/>
            </a:endParaRPr>
          </a:p>
          <a:p>
            <a:pPr marL="529590" indent="-393065">
              <a:lnSpc>
                <a:spcPct val="100000"/>
              </a:lnSpc>
              <a:spcBef>
                <a:spcPts val="1885"/>
              </a:spcBef>
              <a:buChar char="•"/>
              <a:tabLst>
                <a:tab pos="52959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Education</a:t>
            </a:r>
            <a:r>
              <a:rPr sz="2400" spc="21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5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21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0" dirty="0">
                <a:solidFill>
                  <a:srgbClr val="3333CC"/>
                </a:solidFill>
                <a:latin typeface="Arial MT"/>
                <a:cs typeface="Arial MT"/>
              </a:rPr>
              <a:t>Awareness</a:t>
            </a:r>
            <a:endParaRPr sz="2400">
              <a:latin typeface="Arial MT"/>
              <a:cs typeface="Arial MT"/>
            </a:endParaRPr>
          </a:p>
          <a:p>
            <a:pPr marL="529590" indent="-393065">
              <a:lnSpc>
                <a:spcPct val="100000"/>
              </a:lnSpc>
              <a:spcBef>
                <a:spcPts val="1590"/>
              </a:spcBef>
              <a:buChar char="•"/>
              <a:tabLst>
                <a:tab pos="529590" algn="l"/>
              </a:tabLst>
            </a:pPr>
            <a:r>
              <a:rPr sz="2400" spc="60" dirty="0">
                <a:solidFill>
                  <a:srgbClr val="3333CC"/>
                </a:solidFill>
                <a:latin typeface="Arial MT"/>
                <a:cs typeface="Arial MT"/>
              </a:rPr>
              <a:t>Clear</a:t>
            </a:r>
            <a:r>
              <a:rPr sz="2400" spc="229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3333CC"/>
                </a:solidFill>
                <a:latin typeface="Arial MT"/>
                <a:cs typeface="Arial MT"/>
              </a:rPr>
              <a:t>Policies</a:t>
            </a:r>
            <a:r>
              <a:rPr sz="2400" spc="26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22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Standards</a:t>
            </a:r>
            <a:endParaRPr sz="2400">
              <a:latin typeface="Arial MT"/>
              <a:cs typeface="Arial MT"/>
            </a:endParaRPr>
          </a:p>
          <a:p>
            <a:pPr marL="529590" indent="-393065">
              <a:lnSpc>
                <a:spcPct val="100000"/>
              </a:lnSpc>
              <a:spcBef>
                <a:spcPts val="1610"/>
              </a:spcBef>
              <a:buChar char="•"/>
              <a:tabLst>
                <a:tab pos="52959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Access</a:t>
            </a:r>
            <a:r>
              <a:rPr sz="2400" spc="19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3333CC"/>
                </a:solidFill>
                <a:latin typeface="Arial MT"/>
                <a:cs typeface="Arial MT"/>
              </a:rPr>
              <a:t>Control</a:t>
            </a:r>
            <a:r>
              <a:rPr sz="2400" spc="24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18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Security</a:t>
            </a:r>
            <a:endParaRPr sz="2400">
              <a:latin typeface="Arial MT"/>
              <a:cs typeface="Arial MT"/>
            </a:endParaRPr>
          </a:p>
          <a:p>
            <a:pPr marL="529590" indent="-393065">
              <a:lnSpc>
                <a:spcPct val="100000"/>
              </a:lnSpc>
              <a:spcBef>
                <a:spcPts val="1585"/>
              </a:spcBef>
              <a:buChar char="•"/>
              <a:tabLst>
                <a:tab pos="52959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Ethical</a:t>
            </a:r>
            <a:r>
              <a:rPr sz="2400" spc="229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CC"/>
                </a:solidFill>
                <a:latin typeface="Arial MT"/>
                <a:cs typeface="Arial MT"/>
              </a:rPr>
              <a:t>Use</a:t>
            </a:r>
            <a:r>
              <a:rPr sz="2400" spc="23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45" dirty="0">
                <a:solidFill>
                  <a:srgbClr val="3333CC"/>
                </a:solidFill>
                <a:latin typeface="Arial MT"/>
                <a:cs typeface="Arial MT"/>
              </a:rPr>
              <a:t>Of</a:t>
            </a:r>
            <a:r>
              <a:rPr sz="2400" spc="22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Arial MT"/>
                <a:cs typeface="Arial MT"/>
              </a:rPr>
              <a:t>AI</a:t>
            </a:r>
            <a:r>
              <a:rPr sz="2400" spc="204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5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23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Automation</a:t>
            </a:r>
            <a:endParaRPr sz="2400">
              <a:latin typeface="Arial MT"/>
              <a:cs typeface="Arial MT"/>
            </a:endParaRPr>
          </a:p>
          <a:p>
            <a:pPr marL="530225" marR="1479550" indent="-393700">
              <a:lnSpc>
                <a:spcPct val="135100"/>
              </a:lnSpc>
              <a:spcBef>
                <a:spcPts val="600"/>
              </a:spcBef>
              <a:buChar char="•"/>
              <a:tabLst>
                <a:tab pos="530225" algn="l"/>
                <a:tab pos="333121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Collaboration</a:t>
            </a:r>
            <a:r>
              <a:rPr sz="2400" spc="25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25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dirty="0">
                <a:solidFill>
                  <a:srgbClr val="3333CC"/>
                </a:solidFill>
                <a:latin typeface="Arial MT"/>
                <a:cs typeface="Arial MT"/>
              </a:rPr>
              <a:t>	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community Involvement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8000" y="3779520"/>
            <a:ext cx="6096000" cy="28773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823594">
              <a:lnSpc>
                <a:spcPct val="100000"/>
              </a:lnSpc>
              <a:spcBef>
                <a:spcPts val="100"/>
              </a:spcBef>
            </a:pPr>
            <a:r>
              <a:rPr dirty="0"/>
              <a:t>Supporting</a:t>
            </a:r>
            <a:r>
              <a:rPr spc="1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dirty="0"/>
              <a:t>Ethical</a:t>
            </a:r>
            <a:r>
              <a:rPr spc="10" dirty="0"/>
              <a:t> </a:t>
            </a:r>
            <a:r>
              <a:rPr spc="-10" dirty="0"/>
              <a:t>Practices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82751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20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752" y="1124711"/>
            <a:ext cx="8540496" cy="52212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84F96-B8ED-9E66-AB08-4865FEB0A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9A332-1EB8-7C5B-0BF4-79BE0582E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34950"/>
            <a:ext cx="6781292" cy="3389450"/>
          </a:xfrm>
        </p:spPr>
        <p:txBody>
          <a:bodyPr/>
          <a:lstStyle/>
          <a:p>
            <a:r>
              <a:rPr lang="en-US" b="1" dirty="0"/>
              <a:t>Q1.</a:t>
            </a:r>
            <a:r>
              <a:rPr lang="en-US" dirty="0"/>
              <a:t> What is the primary role of ethical behavior in IT?</a:t>
            </a:r>
            <a:br>
              <a:rPr lang="en-US" dirty="0"/>
            </a:br>
            <a:r>
              <a:rPr lang="en-US" dirty="0"/>
              <a:t>a) Profit maximization</a:t>
            </a:r>
            <a:br>
              <a:rPr lang="en-US" dirty="0"/>
            </a:br>
            <a:r>
              <a:rPr lang="en-US" dirty="0"/>
              <a:t>b) Protecting users' privacy and data</a:t>
            </a:r>
            <a:br>
              <a:rPr lang="en-US" dirty="0"/>
            </a:br>
            <a:r>
              <a:rPr lang="en-US" dirty="0"/>
              <a:t>c) Increasing sales</a:t>
            </a:r>
            <a:br>
              <a:rPr lang="en-US" dirty="0"/>
            </a:br>
            <a:r>
              <a:rPr lang="en-US" dirty="0"/>
              <a:t>d) Reducing software costs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1078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FD3FD-63E6-587C-69C3-173651D68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C431D-E2ED-8520-F60B-5ABD7AFB6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334950"/>
            <a:ext cx="6857492" cy="3465650"/>
          </a:xfrm>
        </p:spPr>
        <p:txBody>
          <a:bodyPr/>
          <a:lstStyle/>
          <a:p>
            <a:r>
              <a:rPr lang="en-US" dirty="0"/>
              <a:t>Which organization is known for combating software piracy?</a:t>
            </a:r>
            <a:br>
              <a:rPr lang="en-US" dirty="0"/>
            </a:br>
            <a:r>
              <a:rPr lang="en-US" dirty="0"/>
              <a:t>a) IEEE</a:t>
            </a:r>
            <a:br>
              <a:rPr lang="en-US" dirty="0"/>
            </a:br>
            <a:r>
              <a:rPr lang="en-US" dirty="0"/>
              <a:t>b) Business Software Alliance (BSA)</a:t>
            </a:r>
            <a:br>
              <a:rPr lang="en-US" dirty="0"/>
            </a:br>
            <a:r>
              <a:rPr lang="en-US" dirty="0"/>
              <a:t>c) ACM</a:t>
            </a:r>
            <a:br>
              <a:rPr lang="en-US" dirty="0"/>
            </a:br>
            <a:r>
              <a:rPr lang="en-US" dirty="0"/>
              <a:t>d) WTO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5283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6DDD0-ED0F-B504-12DB-69B4F22E2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15C234-C17F-5260-0A65-A53AFB3FC9D2}"/>
              </a:ext>
            </a:extLst>
          </p:cNvPr>
          <p:cNvSpPr txBox="1"/>
          <p:nvPr/>
        </p:nvSpPr>
        <p:spPr>
          <a:xfrm>
            <a:off x="685800" y="2519180"/>
            <a:ext cx="61259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What is the main ethical issue in AI and automation?</a:t>
            </a:r>
            <a:br>
              <a:rPr lang="en-US" sz="2400" dirty="0"/>
            </a:br>
            <a:r>
              <a:rPr lang="en-US" sz="2400" dirty="0"/>
              <a:t>a) High production cost</a:t>
            </a:r>
            <a:br>
              <a:rPr lang="en-US" sz="2400" dirty="0"/>
            </a:br>
            <a:r>
              <a:rPr lang="en-US" sz="2400" dirty="0"/>
              <a:t>b) Privacy and data bias</a:t>
            </a:r>
            <a:br>
              <a:rPr lang="en-US" sz="2400" dirty="0"/>
            </a:br>
            <a:r>
              <a:rPr lang="en-US" sz="2400" dirty="0"/>
              <a:t>c) Fast decision-making</a:t>
            </a:r>
            <a:br>
              <a:rPr lang="en-US" sz="2400" dirty="0"/>
            </a:br>
            <a:r>
              <a:rPr lang="en-US" sz="2400" dirty="0"/>
              <a:t>d) Lack of performance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4469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C9C1E-D52D-3F27-AB39-1441A207A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9E0E1-68F1-7A85-E36A-6F0DD04F247E}"/>
              </a:ext>
            </a:extLst>
          </p:cNvPr>
          <p:cNvSpPr txBox="1"/>
          <p:nvPr/>
        </p:nvSpPr>
        <p:spPr>
          <a:xfrm>
            <a:off x="1066800" y="2380681"/>
            <a:ext cx="57449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employee uses office resources for personal social media browsing during work hours. What ethical principle is violated?</a:t>
            </a:r>
            <a:br>
              <a:rPr lang="en-US" dirty="0"/>
            </a:br>
            <a:r>
              <a:rPr lang="en-US" dirty="0"/>
              <a:t>a) Privacy</a:t>
            </a:r>
            <a:br>
              <a:rPr lang="en-US" dirty="0"/>
            </a:br>
            <a:r>
              <a:rPr lang="en-US" dirty="0"/>
              <a:t>b) Copyright violation</a:t>
            </a:r>
            <a:br>
              <a:rPr lang="en-US" dirty="0"/>
            </a:br>
            <a:r>
              <a:rPr lang="en-US" dirty="0"/>
              <a:t>c) Misuse of IT resources</a:t>
            </a:r>
            <a:br>
              <a:rPr lang="en-US" dirty="0"/>
            </a:br>
            <a:r>
              <a:rPr lang="en-US" dirty="0"/>
              <a:t>d) Surveillance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1310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422D-DEE6-26AC-B693-58E7EB934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AECCC9-DF03-1C21-B9C8-A37BEA0EEC7B}"/>
              </a:ext>
            </a:extLst>
          </p:cNvPr>
          <p:cNvSpPr txBox="1"/>
          <p:nvPr/>
        </p:nvSpPr>
        <p:spPr>
          <a:xfrm>
            <a:off x="0" y="1826683"/>
            <a:ext cx="681173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Scenario 1:</a:t>
            </a:r>
            <a:br>
              <a:rPr lang="en-US" dirty="0"/>
            </a:br>
            <a:r>
              <a:rPr lang="en-US" dirty="0"/>
              <a:t>A software company collects user data without informing the users. The data is used to improve product performance.</a:t>
            </a:r>
            <a:br>
              <a:rPr lang="en-US" dirty="0"/>
            </a:br>
            <a:r>
              <a:rPr lang="en-US" b="1" dirty="0"/>
              <a:t>Question:</a:t>
            </a:r>
            <a:br>
              <a:rPr lang="en-US" dirty="0"/>
            </a:br>
            <a:r>
              <a:rPr lang="en-US" dirty="0"/>
              <a:t>What ethical principle is violated in this situation?</a:t>
            </a:r>
            <a:br>
              <a:rPr lang="en-US" dirty="0"/>
            </a:br>
            <a:r>
              <a:rPr lang="en-US" dirty="0"/>
              <a:t>a) Transparency</a:t>
            </a:r>
            <a:br>
              <a:rPr lang="en-US" dirty="0"/>
            </a:br>
            <a:r>
              <a:rPr lang="en-US" dirty="0"/>
              <a:t>b) Accountability</a:t>
            </a:r>
            <a:br>
              <a:rPr lang="en-US" dirty="0"/>
            </a:br>
            <a:r>
              <a:rPr lang="en-US" dirty="0"/>
              <a:t>c) Privacy</a:t>
            </a:r>
            <a:br>
              <a:rPr lang="en-US" dirty="0"/>
            </a:br>
            <a:r>
              <a:rPr lang="en-US" dirty="0"/>
              <a:t>d) Efficiency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006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7359-0A42-B72F-35EA-867D0DB94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9CDA2C-BC61-00F0-64E4-CC1000B206D0}"/>
              </a:ext>
            </a:extLst>
          </p:cNvPr>
          <p:cNvSpPr txBox="1"/>
          <p:nvPr/>
        </p:nvSpPr>
        <p:spPr>
          <a:xfrm>
            <a:off x="457200" y="1826683"/>
            <a:ext cx="63545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Scenario 2:</a:t>
            </a:r>
            <a:br>
              <a:rPr lang="en-US" dirty="0"/>
            </a:br>
            <a:r>
              <a:rPr lang="en-US" dirty="0"/>
              <a:t>An IT firm stores customer passwords in plain text without encryption. A data breach exposes these passwords.</a:t>
            </a:r>
            <a:br>
              <a:rPr lang="en-US" dirty="0"/>
            </a:br>
            <a:r>
              <a:rPr lang="en-US" b="1" dirty="0"/>
              <a:t>Question:</a:t>
            </a:r>
            <a:br>
              <a:rPr lang="en-US" dirty="0"/>
            </a:br>
            <a:r>
              <a:rPr lang="en-US" dirty="0"/>
              <a:t>What best practice should have been followed to prevent this issue?</a:t>
            </a:r>
            <a:br>
              <a:rPr lang="en-US" dirty="0"/>
            </a:br>
            <a:r>
              <a:rPr lang="en-US" dirty="0"/>
              <a:t>a) Data masking</a:t>
            </a:r>
            <a:br>
              <a:rPr lang="en-US" dirty="0"/>
            </a:br>
            <a:r>
              <a:rPr lang="en-US" dirty="0"/>
              <a:t>b) Two-factor authentication</a:t>
            </a:r>
            <a:br>
              <a:rPr lang="en-US" dirty="0"/>
            </a:br>
            <a:r>
              <a:rPr lang="en-US" dirty="0"/>
              <a:t>c) Encryption</a:t>
            </a:r>
            <a:br>
              <a:rPr lang="en-US" dirty="0"/>
            </a:br>
            <a:r>
              <a:rPr lang="en-US" dirty="0"/>
              <a:t>d) Access control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9942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753D6-FF8F-E816-00AB-AA2930E9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BF2CEC-831C-F905-6070-935F58D35BCD}"/>
              </a:ext>
            </a:extLst>
          </p:cNvPr>
          <p:cNvSpPr txBox="1"/>
          <p:nvPr/>
        </p:nvSpPr>
        <p:spPr>
          <a:xfrm>
            <a:off x="304800" y="1826683"/>
            <a:ext cx="8001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healthcare startup develops an AI tool to predict diseases. However, the training data includes only male patients, making the predictions biased against female patients.</a:t>
            </a:r>
            <a:br>
              <a:rPr lang="en-US" dirty="0"/>
            </a:br>
            <a:r>
              <a:rPr lang="en-US" b="1" dirty="0"/>
              <a:t>Question:</a:t>
            </a:r>
            <a:br>
              <a:rPr lang="en-US" dirty="0"/>
            </a:br>
            <a:r>
              <a:rPr lang="en-US" dirty="0"/>
              <a:t>What action should the company take to correct the ethical issue?</a:t>
            </a:r>
            <a:br>
              <a:rPr lang="en-US" dirty="0"/>
            </a:br>
            <a:r>
              <a:rPr lang="en-US" dirty="0"/>
              <a:t>a) Ignore the issue</a:t>
            </a:r>
            <a:br>
              <a:rPr lang="en-US" dirty="0"/>
            </a:br>
            <a:r>
              <a:rPr lang="en-US" dirty="0"/>
              <a:t>b) Collect diverse training data</a:t>
            </a:r>
            <a:br>
              <a:rPr lang="en-US" dirty="0"/>
            </a:br>
            <a:r>
              <a:rPr lang="en-US" dirty="0"/>
              <a:t>c) Remove the AI tool from the market</a:t>
            </a:r>
            <a:br>
              <a:rPr lang="en-US" dirty="0"/>
            </a:br>
            <a:r>
              <a:rPr lang="en-US" dirty="0"/>
              <a:t>d) Increase AI speed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1112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751F-4219-8014-5C8A-DB04BA03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7D3C79-B685-052E-B60F-FCB10F9AC23C}"/>
              </a:ext>
            </a:extLst>
          </p:cNvPr>
          <p:cNvSpPr txBox="1"/>
          <p:nvPr/>
        </p:nvSpPr>
        <p:spPr>
          <a:xfrm>
            <a:off x="228600" y="2133600"/>
            <a:ext cx="8229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software development firm aims to promote women in leadership roles. They have 20% women employees but no women in leadership positions.</a:t>
            </a:r>
            <a:br>
              <a:rPr lang="en-US" dirty="0"/>
            </a:br>
            <a:r>
              <a:rPr lang="en-US" b="1" dirty="0"/>
              <a:t>Question:</a:t>
            </a:r>
            <a:br>
              <a:rPr lang="en-US" dirty="0"/>
            </a:br>
            <a:r>
              <a:rPr lang="en-US" dirty="0"/>
              <a:t>Which initiative would best promote women empowerment?</a:t>
            </a:r>
            <a:br>
              <a:rPr lang="en-US" dirty="0"/>
            </a:br>
            <a:r>
              <a:rPr lang="en-US" dirty="0"/>
              <a:t>a) Increasing work hours</a:t>
            </a:r>
            <a:br>
              <a:rPr lang="en-US" dirty="0"/>
            </a:br>
            <a:r>
              <a:rPr lang="en-US" dirty="0"/>
              <a:t>b) Offering leadership training programs for women</a:t>
            </a:r>
            <a:br>
              <a:rPr lang="en-US" dirty="0"/>
            </a:br>
            <a:r>
              <a:rPr lang="en-US" dirty="0"/>
              <a:t>c) Hiring only male managers</a:t>
            </a:r>
            <a:br>
              <a:rPr lang="en-US" dirty="0"/>
            </a:br>
            <a:r>
              <a:rPr lang="en-US" dirty="0"/>
              <a:t>d) Reducing female recruitment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2204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A5449-DE24-AC2A-937E-3A60842B9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CB438-7DA3-950E-0808-47A3865A560A}"/>
              </a:ext>
            </a:extLst>
          </p:cNvPr>
          <p:cNvSpPr txBox="1"/>
          <p:nvPr/>
        </p:nvSpPr>
        <p:spPr>
          <a:xfrm>
            <a:off x="914400" y="2519180"/>
            <a:ext cx="58973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is the primary responsibility of an IT professional regarding customer data?</a:t>
            </a:r>
            <a:br>
              <a:rPr lang="en-US" dirty="0"/>
            </a:br>
            <a:r>
              <a:rPr lang="en-US" dirty="0"/>
              <a:t>a) Selling data to third parties</a:t>
            </a:r>
            <a:br>
              <a:rPr lang="en-US" dirty="0"/>
            </a:br>
            <a:r>
              <a:rPr lang="en-US" dirty="0"/>
              <a:t>b) Protecting the privacy of customer data</a:t>
            </a:r>
            <a:br>
              <a:rPr lang="en-US" dirty="0"/>
            </a:br>
            <a:r>
              <a:rPr lang="en-US" dirty="0"/>
              <a:t>c) Ignoring data breaches</a:t>
            </a:r>
            <a:br>
              <a:rPr lang="en-US" dirty="0"/>
            </a:br>
            <a:r>
              <a:rPr lang="en-US" dirty="0"/>
              <a:t>d) Encrypting only sensitive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5488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48560-712F-E51D-A7CD-C2332764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AF88D0-373A-E4B1-EAC3-62A1732E8BF4}"/>
              </a:ext>
            </a:extLst>
          </p:cNvPr>
          <p:cNvSpPr txBox="1"/>
          <p:nvPr/>
        </p:nvSpPr>
        <p:spPr>
          <a:xfrm>
            <a:off x="457200" y="2380681"/>
            <a:ext cx="63545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employee installs pirated software on the company’s computer. Which ethical issue does this represent?</a:t>
            </a:r>
            <a:br>
              <a:rPr lang="en-US" dirty="0"/>
            </a:br>
            <a:r>
              <a:rPr lang="en-US" dirty="0"/>
              <a:t>a) Cybercrime</a:t>
            </a:r>
            <a:br>
              <a:rPr lang="en-US" dirty="0"/>
            </a:br>
            <a:r>
              <a:rPr lang="en-US" dirty="0"/>
              <a:t>b) Plagiarism</a:t>
            </a:r>
            <a:br>
              <a:rPr lang="en-US" dirty="0"/>
            </a:br>
            <a:r>
              <a:rPr lang="en-US" dirty="0"/>
              <a:t>c) Software piracy</a:t>
            </a:r>
            <a:br>
              <a:rPr lang="en-US" dirty="0"/>
            </a:br>
            <a:r>
              <a:rPr lang="en-US" dirty="0"/>
              <a:t>d) Privacy violation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0766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87EC5-69C5-8655-78FC-49F1F3175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4929F6-1826-26D8-B03B-A5AE909EE141}"/>
              </a:ext>
            </a:extLst>
          </p:cNvPr>
          <p:cNvSpPr txBox="1"/>
          <p:nvPr/>
        </p:nvSpPr>
        <p:spPr>
          <a:xfrm>
            <a:off x="685800" y="2380681"/>
            <a:ext cx="61259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is the most appropriate method for ensuring </a:t>
            </a:r>
            <a:r>
              <a:rPr lang="en-US" b="1" dirty="0"/>
              <a:t>data privacy</a:t>
            </a:r>
            <a:r>
              <a:rPr lang="en-US" dirty="0"/>
              <a:t> in cloud storage systems?</a:t>
            </a:r>
            <a:br>
              <a:rPr lang="en-US" dirty="0"/>
            </a:br>
            <a:r>
              <a:rPr lang="en-US" dirty="0"/>
              <a:t>a) Public Wi-Fi usage</a:t>
            </a:r>
            <a:br>
              <a:rPr lang="en-US" dirty="0"/>
            </a:br>
            <a:r>
              <a:rPr lang="en-US" dirty="0"/>
              <a:t>b) Data encryption</a:t>
            </a:r>
            <a:br>
              <a:rPr lang="en-US" dirty="0"/>
            </a:br>
            <a:r>
              <a:rPr lang="en-US" dirty="0"/>
              <a:t>c) Installing antivirus only</a:t>
            </a:r>
            <a:br>
              <a:rPr lang="en-US" dirty="0"/>
            </a:br>
            <a:r>
              <a:rPr lang="en-US" dirty="0"/>
              <a:t>d) Using common passwords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1505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4E748-4C13-C69A-8C04-D3A6A48CC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504F78-5417-45D1-5FE3-56417AE7B26B}"/>
              </a:ext>
            </a:extLst>
          </p:cNvPr>
          <p:cNvSpPr txBox="1"/>
          <p:nvPr/>
        </p:nvSpPr>
        <p:spPr>
          <a:xfrm>
            <a:off x="381000" y="2519180"/>
            <a:ext cx="64307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is the primary objective of women empowerment initiatives in STEM fields?</a:t>
            </a:r>
            <a:br>
              <a:rPr lang="en-US" dirty="0"/>
            </a:br>
            <a:r>
              <a:rPr lang="en-US" dirty="0"/>
              <a:t>a) Gender diversity</a:t>
            </a:r>
            <a:br>
              <a:rPr lang="en-US" dirty="0"/>
            </a:br>
            <a:r>
              <a:rPr lang="en-US" dirty="0"/>
              <a:t>b) Cost reduction</a:t>
            </a:r>
            <a:br>
              <a:rPr lang="en-US" dirty="0"/>
            </a:br>
            <a:r>
              <a:rPr lang="en-US" dirty="0"/>
              <a:t>c) Limiting female participation</a:t>
            </a:r>
            <a:br>
              <a:rPr lang="en-US" dirty="0"/>
            </a:br>
            <a:r>
              <a:rPr lang="en-US" dirty="0"/>
              <a:t>d) Profit maximization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7071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35952-FF96-78CB-C644-5863A3E63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36933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BD6939-E1CE-E78F-54CD-63234FF00923}"/>
              </a:ext>
            </a:extLst>
          </p:cNvPr>
          <p:cNvSpPr txBox="1"/>
          <p:nvPr/>
        </p:nvSpPr>
        <p:spPr>
          <a:xfrm>
            <a:off x="685800" y="2380681"/>
            <a:ext cx="61259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Which of the following policies best supports women empowerment in the workplace?</a:t>
            </a:r>
            <a:br>
              <a:rPr lang="en-US" dirty="0"/>
            </a:br>
            <a:r>
              <a:rPr lang="en-US" dirty="0"/>
              <a:t>a) Equal pay and flexible work hours</a:t>
            </a:r>
            <a:br>
              <a:rPr lang="en-US" dirty="0"/>
            </a:br>
            <a:r>
              <a:rPr lang="en-US" dirty="0"/>
              <a:t>b) Hiring only male employees</a:t>
            </a:r>
            <a:br>
              <a:rPr lang="en-US" dirty="0"/>
            </a:br>
            <a:r>
              <a:rPr lang="en-US" dirty="0"/>
              <a:t>c) Reducing maternity leave</a:t>
            </a:r>
            <a:br>
              <a:rPr lang="en-US" dirty="0"/>
            </a:br>
            <a:r>
              <a:rPr lang="en-US" dirty="0"/>
              <a:t>d) Offering only managerial positions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7704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A9390-8671-1A45-A862-C850FF23A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14BF35-E348-4AC2-B1A2-5BE3212A08E8}"/>
              </a:ext>
            </a:extLst>
          </p:cNvPr>
          <p:cNvSpPr txBox="1"/>
          <p:nvPr/>
        </p:nvSpPr>
        <p:spPr>
          <a:xfrm>
            <a:off x="685800" y="2519180"/>
            <a:ext cx="61259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is the primary goal of the </a:t>
            </a:r>
            <a:r>
              <a:rPr lang="en-US" b="1" dirty="0"/>
              <a:t>Business Software Alliance (BSA)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a) Promote free software</a:t>
            </a:r>
            <a:br>
              <a:rPr lang="en-US" dirty="0"/>
            </a:br>
            <a:r>
              <a:rPr lang="en-US" dirty="0"/>
              <a:t>b) Encourage software piracy</a:t>
            </a:r>
            <a:br>
              <a:rPr lang="en-US" dirty="0"/>
            </a:br>
            <a:r>
              <a:rPr lang="en-US" dirty="0"/>
              <a:t>c) Stop unauthorized software copying</a:t>
            </a:r>
            <a:br>
              <a:rPr lang="en-US" dirty="0"/>
            </a:br>
            <a:r>
              <a:rPr lang="en-US" dirty="0"/>
              <a:t>d) Provide open-source software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1696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73A40-D256-7AB3-8FB1-E100FB3CD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742B3-75D5-2FB0-60CE-4E520965F7F9}"/>
              </a:ext>
            </a:extLst>
          </p:cNvPr>
          <p:cNvSpPr txBox="1"/>
          <p:nvPr/>
        </p:nvSpPr>
        <p:spPr>
          <a:xfrm>
            <a:off x="381000" y="1965182"/>
            <a:ext cx="64307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software company develops a language translation app that gives inaccurate translations for minority languages.</a:t>
            </a:r>
          </a:p>
          <a:p>
            <a:r>
              <a:rPr lang="en-US" b="1" dirty="0"/>
              <a:t>Question:</a:t>
            </a:r>
            <a:br>
              <a:rPr lang="en-US" dirty="0"/>
            </a:br>
            <a:r>
              <a:rPr lang="en-US" dirty="0"/>
              <a:t>What should the company do to </a:t>
            </a:r>
            <a:r>
              <a:rPr lang="en-US" b="1" dirty="0"/>
              <a:t>resolve the ethical issue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a) Continue selling the app</a:t>
            </a:r>
            <a:br>
              <a:rPr lang="en-US" dirty="0"/>
            </a:br>
            <a:r>
              <a:rPr lang="en-US" dirty="0"/>
              <a:t>b) Collect diverse language datasets</a:t>
            </a:r>
            <a:br>
              <a:rPr lang="en-US" dirty="0"/>
            </a:br>
            <a:r>
              <a:rPr lang="en-US" dirty="0"/>
              <a:t>c) Ignore user complaints</a:t>
            </a:r>
            <a:br>
              <a:rPr lang="en-US" dirty="0"/>
            </a:br>
            <a:r>
              <a:rPr lang="en-US" dirty="0"/>
              <a:t>d) Advertise only for popular languages</a:t>
            </a:r>
          </a:p>
        </p:txBody>
      </p:sp>
    </p:spTree>
    <p:extLst>
      <p:ext uri="{BB962C8B-B14F-4D97-AF65-F5344CB8AC3E}">
        <p14:creationId xmlns:p14="http://schemas.microsoft.com/office/powerpoint/2010/main" val="7989983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9029" y="2575258"/>
            <a:ext cx="5388610" cy="1080135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605"/>
              </a:spcBef>
              <a:buFont typeface="Wingdings"/>
              <a:buChar char=""/>
              <a:tabLst>
                <a:tab pos="356870" algn="l"/>
              </a:tabLst>
            </a:pPr>
            <a:r>
              <a:rPr sz="2200" dirty="0">
                <a:solidFill>
                  <a:srgbClr val="252599"/>
                </a:solidFill>
                <a:latin typeface="Arial MT"/>
                <a:cs typeface="Arial MT"/>
              </a:rPr>
              <a:t>Women</a:t>
            </a:r>
            <a:r>
              <a:rPr sz="2200" spc="-35" dirty="0">
                <a:solidFill>
                  <a:srgbClr val="25259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99"/>
                </a:solidFill>
                <a:latin typeface="Arial MT"/>
                <a:cs typeface="Arial MT"/>
              </a:rPr>
              <a:t>Empowerment</a:t>
            </a:r>
            <a:endParaRPr sz="2200" dirty="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1510"/>
              </a:spcBef>
              <a:buFont typeface="Wingdings"/>
              <a:buChar char=""/>
              <a:tabLst>
                <a:tab pos="356870" algn="l"/>
              </a:tabLst>
            </a:pPr>
            <a:r>
              <a:rPr sz="2200" dirty="0">
                <a:solidFill>
                  <a:srgbClr val="252599"/>
                </a:solidFill>
                <a:latin typeface="Arial MT"/>
                <a:cs typeface="Arial MT"/>
              </a:rPr>
              <a:t>Ethical</a:t>
            </a:r>
            <a:r>
              <a:rPr sz="2200" spc="-60" dirty="0">
                <a:solidFill>
                  <a:srgbClr val="2525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99"/>
                </a:solidFill>
                <a:latin typeface="Arial MT"/>
                <a:cs typeface="Arial MT"/>
              </a:rPr>
              <a:t>Aspects</a:t>
            </a:r>
            <a:r>
              <a:rPr sz="2200" spc="-75" dirty="0">
                <a:solidFill>
                  <a:srgbClr val="2525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99"/>
                </a:solidFill>
                <a:latin typeface="Arial MT"/>
                <a:cs typeface="Arial MT"/>
              </a:rPr>
              <a:t>of</a:t>
            </a:r>
            <a:r>
              <a:rPr sz="2200" spc="-50" dirty="0">
                <a:solidFill>
                  <a:srgbClr val="2525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99"/>
                </a:solidFill>
                <a:latin typeface="Arial MT"/>
                <a:cs typeface="Arial MT"/>
              </a:rPr>
              <a:t>Engineering</a:t>
            </a:r>
            <a:r>
              <a:rPr sz="2200" spc="-60" dirty="0">
                <a:solidFill>
                  <a:srgbClr val="25259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99"/>
                </a:solidFill>
                <a:latin typeface="Arial MT"/>
                <a:cs typeface="Arial MT"/>
              </a:rPr>
              <a:t>Practices</a:t>
            </a:r>
            <a:endParaRPr sz="2200" dirty="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82879"/>
            <a:ext cx="7086600" cy="506095"/>
            <a:chOff x="0" y="182879"/>
            <a:chExt cx="7086600" cy="506095"/>
          </a:xfrm>
        </p:grpSpPr>
        <p:sp>
          <p:nvSpPr>
            <p:cNvPr id="4" name="object 4"/>
            <p:cNvSpPr/>
            <p:nvPr/>
          </p:nvSpPr>
          <p:spPr>
            <a:xfrm>
              <a:off x="0" y="643128"/>
              <a:ext cx="7086600" cy="45720"/>
            </a:xfrm>
            <a:custGeom>
              <a:avLst/>
              <a:gdLst/>
              <a:ahLst/>
              <a:cxnLst/>
              <a:rect l="l" t="t" r="r" b="b"/>
              <a:pathLst>
                <a:path w="7086600" h="45720">
                  <a:moveTo>
                    <a:pt x="70866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7086600" y="45720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82879"/>
              <a:ext cx="7086600" cy="460375"/>
            </a:xfrm>
            <a:custGeom>
              <a:avLst/>
              <a:gdLst/>
              <a:ahLst/>
              <a:cxnLst/>
              <a:rect l="l" t="t" r="r" b="b"/>
              <a:pathLst>
                <a:path w="7086600" h="460375">
                  <a:moveTo>
                    <a:pt x="7086600" y="0"/>
                  </a:moveTo>
                  <a:lnTo>
                    <a:pt x="0" y="0"/>
                  </a:lnTo>
                  <a:lnTo>
                    <a:pt x="0" y="460248"/>
                  </a:lnTo>
                  <a:lnTo>
                    <a:pt x="7086600" y="460248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F185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18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-20" dirty="0"/>
              <a:t> </a:t>
            </a:r>
            <a:r>
              <a:rPr spc="-10" dirty="0"/>
              <a:t>TOPIC: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7408" y="2389632"/>
            <a:ext cx="1917192" cy="1801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Words>1025</Words>
  <Application>Microsoft Office PowerPoint</Application>
  <PresentationFormat>On-screen Show (4:3)</PresentationFormat>
  <Paragraphs>102</Paragraphs>
  <Slides>27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Arial Black</vt:lpstr>
      <vt:lpstr>Arial MT</vt:lpstr>
      <vt:lpstr>Calibri</vt:lpstr>
      <vt:lpstr>Comic Sans MS</vt:lpstr>
      <vt:lpstr>Times New Roman</vt:lpstr>
      <vt:lpstr>Wingdings</vt:lpstr>
      <vt:lpstr>Office Theme</vt:lpstr>
      <vt:lpstr>CSE332 Industrial Ethics and Legal Issues</vt:lpstr>
      <vt:lpstr>ETH ICS  IN  INFORMATION       TECHNOLOGY</vt:lpstr>
      <vt:lpstr>Profession</vt:lpstr>
      <vt:lpstr>Professional Employee</vt:lpstr>
      <vt:lpstr>PowerPoint Presentation</vt:lpstr>
      <vt:lpstr>Are IT Workers Professionals?</vt:lpstr>
      <vt:lpstr>Common Ethical Issues For IT Users</vt:lpstr>
      <vt:lpstr>Business Software Alliance (BSA)</vt:lpstr>
      <vt:lpstr>PowerPoint Presentation</vt:lpstr>
      <vt:lpstr>PowerPoint Presentation</vt:lpstr>
      <vt:lpstr>Supporting the Ethical Practices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TOPIC: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CSE332 Industrial Ethics and Legal Issues</dc:title>
  <dc:creator>Admin</dc:creator>
  <cp:lastModifiedBy>Jatinder Kaur</cp:lastModifiedBy>
  <cp:revision>19</cp:revision>
  <dcterms:created xsi:type="dcterms:W3CDTF">2025-01-19T10:10:46Z</dcterms:created>
  <dcterms:modified xsi:type="dcterms:W3CDTF">2025-03-05T04:07:53Z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2025-01-19T00:00:00Z</vt:filetime>
  </property>
  <property fmtid="{D5CDD505-2E9C-101B-9397-08002B2CF9AE}" pid="5" name="Producer">
    <vt:lpwstr>www.ilovepdf.com</vt:lpwstr>
  </property>
</Properties>
</file>