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2" r:id="rId3"/>
    <p:sldId id="283" r:id="rId4"/>
    <p:sldId id="284" r:id="rId5"/>
    <p:sldId id="322" r:id="rId6"/>
    <p:sldId id="285" r:id="rId7"/>
    <p:sldId id="286" r:id="rId8"/>
    <p:sldId id="287" r:id="rId9"/>
    <p:sldId id="288" r:id="rId10"/>
    <p:sldId id="323" r:id="rId11"/>
    <p:sldId id="289" r:id="rId12"/>
    <p:sldId id="290" r:id="rId13"/>
    <p:sldId id="324" r:id="rId14"/>
    <p:sldId id="291" r:id="rId15"/>
    <p:sldId id="292" r:id="rId16"/>
    <p:sldId id="293" r:id="rId17"/>
    <p:sldId id="294" r:id="rId18"/>
    <p:sldId id="295" r:id="rId19"/>
    <p:sldId id="299" r:id="rId20"/>
    <p:sldId id="300" r:id="rId21"/>
    <p:sldId id="301" r:id="rId22"/>
    <p:sldId id="302" r:id="rId23"/>
    <p:sldId id="303" r:id="rId24"/>
    <p:sldId id="304" r:id="rId25"/>
    <p:sldId id="305" r:id="rId26"/>
    <p:sldId id="306" r:id="rId27"/>
    <p:sldId id="307" r:id="rId28"/>
    <p:sldId id="308" r:id="rId29"/>
    <p:sldId id="309" r:id="rId30"/>
    <p:sldId id="310" r:id="rId31"/>
    <p:sldId id="320" r:id="rId32"/>
    <p:sldId id="321" r:id="rId3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364" autoAdjust="0"/>
  </p:normalViewPr>
  <p:slideViewPr>
    <p:cSldViewPr>
      <p:cViewPr>
        <p:scale>
          <a:sx n="70" d="100"/>
          <a:sy n="70" d="100"/>
        </p:scale>
        <p:origin x="1411" y="216"/>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909442" y="2561082"/>
            <a:ext cx="3325114" cy="696595"/>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sz="half" idx="2"/>
          </p:nvPr>
        </p:nvSpPr>
        <p:spPr>
          <a:xfrm>
            <a:off x="707542" y="1706841"/>
            <a:ext cx="2926715" cy="3605529"/>
          </a:xfrm>
          <a:prstGeom prst="rect">
            <a:avLst/>
          </a:prstGeom>
        </p:spPr>
        <p:txBody>
          <a:bodyPr wrap="square" lIns="0" tIns="0" rIns="0" bIns="0">
            <a:spAutoFit/>
          </a:bodyPr>
          <a:lstStyle>
            <a:lvl1pPr>
              <a:defRPr sz="2800" b="1" i="0">
                <a:solidFill>
                  <a:schemeClr val="tx1"/>
                </a:solidFill>
                <a:latin typeface="Calibri"/>
                <a:cs typeface="Calibri"/>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alphaModFix amt="84000"/>
            <a:lum/>
          </a:blip>
          <a:srcRect/>
          <a:stretch>
            <a:fillRect l="76000" b="90000"/>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56129" y="389331"/>
            <a:ext cx="3234690" cy="635000"/>
          </a:xfrm>
          <a:prstGeom prst="rect">
            <a:avLst/>
          </a:prstGeom>
        </p:spPr>
        <p:txBody>
          <a:bodyPr wrap="square" lIns="0" tIns="0" rIns="0" bIns="0">
            <a:spAutoFit/>
          </a:bodyPr>
          <a:lstStyle>
            <a:lvl1pPr>
              <a:defRPr sz="4000" b="1" i="0">
                <a:solidFill>
                  <a:srgbClr val="E36C09"/>
                </a:solidFill>
                <a:latin typeface="Calibri"/>
                <a:cs typeface="Calibri"/>
              </a:defRPr>
            </a:lvl1pPr>
          </a:lstStyle>
          <a:p>
            <a:endParaRPr/>
          </a:p>
        </p:txBody>
      </p:sp>
      <p:sp>
        <p:nvSpPr>
          <p:cNvPr id="3" name="Holder 3"/>
          <p:cNvSpPr>
            <a:spLocks noGrp="1"/>
          </p:cNvSpPr>
          <p:nvPr>
            <p:ph type="body" idx="1"/>
          </p:nvPr>
        </p:nvSpPr>
        <p:spPr>
          <a:xfrm>
            <a:off x="682142" y="1764538"/>
            <a:ext cx="7749540" cy="323215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4/4/2025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successstory.com/people/binny-bansal" TargetMode="External"/><Relationship Id="rId2" Type="http://schemas.openxmlformats.org/officeDocument/2006/relationships/hyperlink" Target="https://successstory.com/people/sachin-bansal" TargetMode="External"/><Relationship Id="rId1" Type="http://schemas.openxmlformats.org/officeDocument/2006/relationships/slideLayout" Target="../slideLayouts/slideLayout5.xml"/><Relationship Id="rId4" Type="http://schemas.openxmlformats.org/officeDocument/2006/relationships/hyperlink" Target="https://successstory.com/companies/amazoncom-inc"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140457" y="2584538"/>
            <a:ext cx="4862958" cy="844462"/>
          </a:xfrm>
          <a:prstGeom prst="rect">
            <a:avLst/>
          </a:prstGeom>
        </p:spPr>
        <p:txBody>
          <a:bodyPr vert="horz" wrap="square" lIns="0" tIns="13335" rIns="0" bIns="0" rtlCol="0">
            <a:spAutoFit/>
          </a:bodyPr>
          <a:lstStyle/>
          <a:p>
            <a:pPr marL="471805">
              <a:lnSpc>
                <a:spcPct val="100000"/>
              </a:lnSpc>
              <a:spcBef>
                <a:spcPts val="105"/>
              </a:spcBef>
            </a:pPr>
            <a:r>
              <a:rPr sz="5400" spc="-10" dirty="0"/>
              <a:t>Startup</a:t>
            </a:r>
            <a:r>
              <a:rPr sz="5400" spc="-35" dirty="0"/>
              <a:t> </a:t>
            </a:r>
            <a:r>
              <a:rPr sz="5400" dirty="0"/>
              <a:t>in</a:t>
            </a:r>
            <a:r>
              <a:rPr sz="5400" spc="-35" dirty="0"/>
              <a:t> </a:t>
            </a:r>
            <a:r>
              <a:rPr sz="5400" dirty="0"/>
              <a:t>IT</a:t>
            </a:r>
          </a:p>
        </p:txBody>
      </p:sp>
      <p:sp>
        <p:nvSpPr>
          <p:cNvPr id="3" name="object 3"/>
          <p:cNvSpPr txBox="1"/>
          <p:nvPr/>
        </p:nvSpPr>
        <p:spPr>
          <a:xfrm>
            <a:off x="3581400" y="3894582"/>
            <a:ext cx="2057400" cy="628377"/>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888888"/>
                </a:solidFill>
                <a:latin typeface="Calibri"/>
                <a:cs typeface="Calibri"/>
              </a:rPr>
              <a:t>UNIT</a:t>
            </a:r>
            <a:r>
              <a:rPr sz="4000" spc="-70" dirty="0">
                <a:solidFill>
                  <a:srgbClr val="888888"/>
                </a:solidFill>
                <a:latin typeface="Calibri"/>
                <a:cs typeface="Calibri"/>
              </a:rPr>
              <a:t> </a:t>
            </a:r>
            <a:r>
              <a:rPr sz="4000" dirty="0">
                <a:solidFill>
                  <a:srgbClr val="888888"/>
                </a:solidFill>
                <a:latin typeface="Calibri"/>
                <a:cs typeface="Calibri"/>
              </a:rPr>
              <a:t>4</a:t>
            </a:r>
            <a:endParaRPr sz="40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47394" y="420116"/>
            <a:ext cx="6133465" cy="635000"/>
          </a:xfrm>
          <a:prstGeom prst="rect">
            <a:avLst/>
          </a:prstGeom>
        </p:spPr>
        <p:txBody>
          <a:bodyPr vert="horz" wrap="square" lIns="0" tIns="12065" rIns="0" bIns="0" rtlCol="0">
            <a:spAutoFit/>
          </a:bodyPr>
          <a:lstStyle/>
          <a:p>
            <a:pPr marL="12700">
              <a:lnSpc>
                <a:spcPct val="100000"/>
              </a:lnSpc>
              <a:spcBef>
                <a:spcPts val="95"/>
              </a:spcBef>
            </a:pPr>
            <a:r>
              <a:rPr sz="4000" b="1" spc="-20" dirty="0">
                <a:solidFill>
                  <a:srgbClr val="E36C09"/>
                </a:solidFill>
                <a:latin typeface="Calibri"/>
                <a:cs typeface="Calibri"/>
              </a:rPr>
              <a:t>Personal</a:t>
            </a:r>
            <a:r>
              <a:rPr sz="4000" b="1" dirty="0">
                <a:solidFill>
                  <a:srgbClr val="E36C09"/>
                </a:solidFill>
                <a:latin typeface="Calibri"/>
                <a:cs typeface="Calibri"/>
              </a:rPr>
              <a:t> </a:t>
            </a:r>
            <a:r>
              <a:rPr sz="4000" b="1" spc="-5" dirty="0">
                <a:solidFill>
                  <a:srgbClr val="E36C09"/>
                </a:solidFill>
                <a:latin typeface="Calibri"/>
                <a:cs typeface="Calibri"/>
              </a:rPr>
              <a:t>Financial</a:t>
            </a:r>
            <a:r>
              <a:rPr sz="4000" b="1" spc="10" dirty="0">
                <a:solidFill>
                  <a:srgbClr val="E36C09"/>
                </a:solidFill>
                <a:latin typeface="Calibri"/>
                <a:cs typeface="Calibri"/>
              </a:rPr>
              <a:t> </a:t>
            </a:r>
            <a:r>
              <a:rPr sz="4000" b="1" spc="-25" dirty="0">
                <a:solidFill>
                  <a:srgbClr val="E36C09"/>
                </a:solidFill>
                <a:latin typeface="Calibri"/>
                <a:cs typeface="Calibri"/>
              </a:rPr>
              <a:t>Statement</a:t>
            </a:r>
            <a:endParaRPr sz="4000" dirty="0">
              <a:latin typeface="Calibri"/>
              <a:cs typeface="Calibri"/>
            </a:endParaRPr>
          </a:p>
        </p:txBody>
      </p:sp>
      <p:sp>
        <p:nvSpPr>
          <p:cNvPr id="3" name="object 3"/>
          <p:cNvSpPr txBox="1"/>
          <p:nvPr/>
        </p:nvSpPr>
        <p:spPr>
          <a:xfrm>
            <a:off x="762000" y="1376298"/>
            <a:ext cx="8292464" cy="1490152"/>
          </a:xfrm>
          <a:prstGeom prst="rect">
            <a:avLst/>
          </a:prstGeom>
        </p:spPr>
        <p:txBody>
          <a:bodyPr vert="horz" wrap="square" lIns="0" tIns="12700" rIns="0" bIns="0" rtlCol="0">
            <a:spAutoFit/>
          </a:bodyPr>
          <a:lstStyle/>
          <a:p>
            <a:pPr marL="12700" marR="5080">
              <a:lnSpc>
                <a:spcPct val="100000"/>
              </a:lnSpc>
              <a:spcBef>
                <a:spcPts val="100"/>
              </a:spcBef>
            </a:pPr>
            <a:r>
              <a:rPr sz="3200" dirty="0">
                <a:latin typeface="Calibri"/>
                <a:cs typeface="Calibri"/>
              </a:rPr>
              <a:t>A</a:t>
            </a:r>
            <a:r>
              <a:rPr sz="3200" spc="114" dirty="0">
                <a:latin typeface="Calibri"/>
                <a:cs typeface="Calibri"/>
              </a:rPr>
              <a:t> </a:t>
            </a:r>
            <a:r>
              <a:rPr sz="3200" b="1" spc="-10" dirty="0">
                <a:latin typeface="Calibri"/>
                <a:cs typeface="Calibri"/>
              </a:rPr>
              <a:t>personal</a:t>
            </a:r>
            <a:r>
              <a:rPr sz="3200" b="1" spc="114" dirty="0">
                <a:latin typeface="Calibri"/>
                <a:cs typeface="Calibri"/>
              </a:rPr>
              <a:t> </a:t>
            </a:r>
            <a:r>
              <a:rPr sz="3200" b="1" spc="-5" dirty="0">
                <a:latin typeface="Calibri"/>
                <a:cs typeface="Calibri"/>
              </a:rPr>
              <a:t>financial</a:t>
            </a:r>
            <a:r>
              <a:rPr sz="3200" b="1" spc="110" dirty="0">
                <a:latin typeface="Calibri"/>
                <a:cs typeface="Calibri"/>
              </a:rPr>
              <a:t> </a:t>
            </a:r>
            <a:r>
              <a:rPr sz="3200" b="1" spc="-25" dirty="0">
                <a:latin typeface="Calibri"/>
                <a:cs typeface="Calibri"/>
              </a:rPr>
              <a:t>statement</a:t>
            </a:r>
            <a:r>
              <a:rPr sz="3200" b="1" spc="170" dirty="0">
                <a:latin typeface="Calibri"/>
                <a:cs typeface="Calibri"/>
              </a:rPr>
              <a:t> </a:t>
            </a:r>
            <a:r>
              <a:rPr sz="3200" dirty="0">
                <a:latin typeface="Calibri"/>
                <a:cs typeface="Calibri"/>
              </a:rPr>
              <a:t>is</a:t>
            </a:r>
            <a:r>
              <a:rPr sz="3200" spc="110" dirty="0">
                <a:latin typeface="Calibri"/>
                <a:cs typeface="Calibri"/>
              </a:rPr>
              <a:t> </a:t>
            </a:r>
            <a:r>
              <a:rPr sz="3200" dirty="0">
                <a:latin typeface="Calibri"/>
                <a:cs typeface="Calibri"/>
              </a:rPr>
              <a:t>a</a:t>
            </a:r>
            <a:r>
              <a:rPr sz="3200" spc="110" dirty="0">
                <a:latin typeface="Calibri"/>
                <a:cs typeface="Calibri"/>
              </a:rPr>
              <a:t> </a:t>
            </a:r>
            <a:r>
              <a:rPr sz="3200" spc="-10" dirty="0">
                <a:latin typeface="Calibri"/>
                <a:cs typeface="Calibri"/>
              </a:rPr>
              <a:t>document </a:t>
            </a:r>
            <a:r>
              <a:rPr sz="3200" spc="-5" dirty="0">
                <a:latin typeface="Calibri"/>
                <a:cs typeface="Calibri"/>
              </a:rPr>
              <a:t> or</a:t>
            </a:r>
            <a:r>
              <a:rPr sz="3200" spc="-20" dirty="0">
                <a:latin typeface="Calibri"/>
                <a:cs typeface="Calibri"/>
              </a:rPr>
              <a:t> </a:t>
            </a:r>
            <a:r>
              <a:rPr sz="3200" spc="-10" dirty="0">
                <a:latin typeface="Calibri"/>
                <a:cs typeface="Calibri"/>
              </a:rPr>
              <a:t>spreadsheet</a:t>
            </a:r>
            <a:r>
              <a:rPr sz="3200" spc="-45" dirty="0">
                <a:latin typeface="Calibri"/>
                <a:cs typeface="Calibri"/>
              </a:rPr>
              <a:t> </a:t>
            </a:r>
            <a:r>
              <a:rPr sz="3200" spc="-5" dirty="0">
                <a:latin typeface="Calibri"/>
                <a:cs typeface="Calibri"/>
              </a:rPr>
              <a:t>outlining</a:t>
            </a:r>
            <a:r>
              <a:rPr sz="3200" spc="-30" dirty="0">
                <a:latin typeface="Calibri"/>
                <a:cs typeface="Calibri"/>
              </a:rPr>
              <a:t> </a:t>
            </a:r>
            <a:r>
              <a:rPr sz="3200" dirty="0">
                <a:latin typeface="Calibri"/>
                <a:cs typeface="Calibri"/>
              </a:rPr>
              <a:t>an</a:t>
            </a:r>
            <a:r>
              <a:rPr sz="3200" spc="-20" dirty="0">
                <a:latin typeface="Calibri"/>
                <a:cs typeface="Calibri"/>
              </a:rPr>
              <a:t> </a:t>
            </a:r>
            <a:r>
              <a:rPr sz="3200" dirty="0">
                <a:latin typeface="Calibri"/>
                <a:cs typeface="Calibri"/>
              </a:rPr>
              <a:t>individual's</a:t>
            </a:r>
            <a:r>
              <a:rPr sz="3200" spc="-45" dirty="0">
                <a:latin typeface="Calibri"/>
                <a:cs typeface="Calibri"/>
              </a:rPr>
              <a:t> </a:t>
            </a:r>
            <a:r>
              <a:rPr sz="3200" dirty="0">
                <a:latin typeface="Calibri"/>
                <a:cs typeface="Calibri"/>
              </a:rPr>
              <a:t>financial </a:t>
            </a:r>
            <a:r>
              <a:rPr sz="3200" spc="-800" dirty="0">
                <a:latin typeface="Calibri"/>
                <a:cs typeface="Calibri"/>
              </a:rPr>
              <a:t> </a:t>
            </a:r>
            <a:r>
              <a:rPr sz="3200" spc="-10" dirty="0">
                <a:latin typeface="Calibri"/>
                <a:cs typeface="Calibri"/>
              </a:rPr>
              <a:t>position </a:t>
            </a:r>
            <a:r>
              <a:rPr sz="3200" spc="-20" dirty="0">
                <a:latin typeface="Calibri"/>
                <a:cs typeface="Calibri"/>
              </a:rPr>
              <a:t>at</a:t>
            </a:r>
            <a:r>
              <a:rPr sz="3200" dirty="0">
                <a:latin typeface="Calibri"/>
                <a:cs typeface="Calibri"/>
              </a:rPr>
              <a:t> a</a:t>
            </a:r>
            <a:r>
              <a:rPr sz="3200" spc="-15" dirty="0">
                <a:latin typeface="Calibri"/>
                <a:cs typeface="Calibri"/>
              </a:rPr>
              <a:t> </a:t>
            </a:r>
            <a:r>
              <a:rPr sz="3200" spc="-10" dirty="0">
                <a:latin typeface="Calibri"/>
                <a:cs typeface="Calibri"/>
              </a:rPr>
              <a:t>given point</a:t>
            </a:r>
            <a:r>
              <a:rPr sz="3200" spc="-20" dirty="0">
                <a:latin typeface="Calibri"/>
                <a:cs typeface="Calibri"/>
              </a:rPr>
              <a:t> </a:t>
            </a:r>
            <a:r>
              <a:rPr sz="3200" dirty="0">
                <a:latin typeface="Calibri"/>
                <a:cs typeface="Calibri"/>
              </a:rPr>
              <a:t>in </a:t>
            </a:r>
            <a:r>
              <a:rPr sz="3200" spc="-5" dirty="0">
                <a:latin typeface="Calibri"/>
                <a:cs typeface="Calibri"/>
              </a:rPr>
              <a:t>time.</a:t>
            </a:r>
            <a:endParaRPr sz="3200" dirty="0">
              <a:latin typeface="Calibri"/>
              <a:cs typeface="Calibri"/>
            </a:endParaRPr>
          </a:p>
        </p:txBody>
      </p:sp>
      <p:pic>
        <p:nvPicPr>
          <p:cNvPr id="5" name="Picture 4">
            <a:extLst>
              <a:ext uri="{FF2B5EF4-FFF2-40B4-BE49-F238E27FC236}">
                <a16:creationId xmlns:a16="http://schemas.microsoft.com/office/drawing/2014/main" id="{A9060D92-21AF-1AEC-40BB-5593E404BC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866450"/>
            <a:ext cx="6920864" cy="4067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394" y="420116"/>
            <a:ext cx="6133465" cy="635000"/>
          </a:xfrm>
          <a:prstGeom prst="rect">
            <a:avLst/>
          </a:prstGeom>
        </p:spPr>
        <p:txBody>
          <a:bodyPr vert="horz" wrap="square" lIns="0" tIns="12065" rIns="0" bIns="0" rtlCol="0">
            <a:spAutoFit/>
          </a:bodyPr>
          <a:lstStyle/>
          <a:p>
            <a:pPr marL="12700">
              <a:lnSpc>
                <a:spcPct val="100000"/>
              </a:lnSpc>
              <a:spcBef>
                <a:spcPts val="95"/>
              </a:spcBef>
            </a:pPr>
            <a:r>
              <a:rPr spc="-20" dirty="0"/>
              <a:t>Personal</a:t>
            </a:r>
            <a:r>
              <a:rPr dirty="0"/>
              <a:t> </a:t>
            </a:r>
            <a:r>
              <a:rPr spc="-5" dirty="0"/>
              <a:t>Financial</a:t>
            </a:r>
            <a:r>
              <a:rPr spc="10" dirty="0"/>
              <a:t> </a:t>
            </a:r>
            <a:r>
              <a:rPr spc="-25" dirty="0"/>
              <a:t>Statement</a:t>
            </a:r>
          </a:p>
        </p:txBody>
      </p:sp>
      <p:sp>
        <p:nvSpPr>
          <p:cNvPr id="3" name="object 3"/>
          <p:cNvSpPr txBox="1"/>
          <p:nvPr/>
        </p:nvSpPr>
        <p:spPr>
          <a:xfrm>
            <a:off x="914400" y="1378661"/>
            <a:ext cx="8229600" cy="3473387"/>
          </a:xfrm>
          <a:prstGeom prst="rect">
            <a:avLst/>
          </a:prstGeom>
        </p:spPr>
        <p:txBody>
          <a:bodyPr vert="horz" wrap="square" lIns="0" tIns="13335" rIns="0" bIns="0" rtlCol="0">
            <a:spAutoFit/>
          </a:bodyPr>
          <a:lstStyle/>
          <a:p>
            <a:pPr marL="457200" indent="-457200" rtl="0">
              <a:buFont typeface="Arial" panose="020B0604020202020204" pitchFamily="34" charset="0"/>
              <a:buChar char="•"/>
            </a:pPr>
            <a:r>
              <a:rPr lang="en-US" sz="3200" dirty="0">
                <a:effectLst/>
              </a:rPr>
              <a:t>Assets and liabilities outside business.</a:t>
            </a:r>
            <a:endParaRPr lang="en-US" sz="3200" dirty="0"/>
          </a:p>
          <a:p>
            <a:pPr marL="457200" indent="-457200" rtl="0">
              <a:buFont typeface="Arial" panose="020B0604020202020204" pitchFamily="34" charset="0"/>
              <a:buChar char="•"/>
            </a:pPr>
            <a:r>
              <a:rPr lang="en-US" sz="3200" dirty="0">
                <a:effectLst/>
              </a:rPr>
              <a:t>Personal net worth for each owner.</a:t>
            </a:r>
            <a:endParaRPr lang="en-US" sz="3200" dirty="0"/>
          </a:p>
          <a:p>
            <a:pPr marL="457200" indent="-457200" rtl="0">
              <a:buFont typeface="Arial" panose="020B0604020202020204" pitchFamily="34" charset="0"/>
              <a:buChar char="•"/>
            </a:pPr>
            <a:r>
              <a:rPr lang="en-US" sz="3200" dirty="0">
                <a:effectLst/>
              </a:rPr>
              <a:t>Key for business financing clarity.</a:t>
            </a:r>
            <a:endParaRPr lang="en-US" sz="3200" dirty="0"/>
          </a:p>
          <a:p>
            <a:pPr marL="457200" indent="-457200" rtl="0">
              <a:buFont typeface="Arial" panose="020B0604020202020204" pitchFamily="34" charset="0"/>
              <a:buChar char="•"/>
            </a:pPr>
            <a:r>
              <a:rPr lang="en-US" sz="3200" dirty="0">
                <a:effectLst/>
              </a:rPr>
              <a:t>Owners may use personal assets.</a:t>
            </a:r>
            <a:endParaRPr lang="en-US" sz="3200" dirty="0"/>
          </a:p>
          <a:p>
            <a:pPr marL="457200" indent="-457200" rtl="0">
              <a:buFont typeface="Arial" panose="020B0604020202020204" pitchFamily="34" charset="0"/>
              <a:buChar char="•"/>
            </a:pPr>
            <a:r>
              <a:rPr lang="en-US" sz="3200" dirty="0">
                <a:effectLst/>
              </a:rPr>
              <a:t>Shows available assets for business.</a:t>
            </a:r>
            <a:endParaRPr lang="en-US" sz="3200" dirty="0"/>
          </a:p>
          <a:p>
            <a:pPr marL="457200" indent="-457200" rtl="0">
              <a:buFont typeface="Arial" panose="020B0604020202020204" pitchFamily="34" charset="0"/>
              <a:buChar char="•"/>
            </a:pPr>
            <a:r>
              <a:rPr lang="en-US" sz="3200" dirty="0">
                <a:effectLst/>
              </a:rPr>
              <a:t>Investors and bankers require details.</a:t>
            </a:r>
            <a:endParaRPr lang="en-US" sz="3200" dirty="0"/>
          </a:p>
          <a:p>
            <a:pPr marL="12700" marR="584835">
              <a:lnSpc>
                <a:spcPct val="100000"/>
              </a:lnSpc>
              <a:spcBef>
                <a:spcPts val="105"/>
              </a:spcBef>
              <a:buSzPct val="96875"/>
              <a:buFont typeface="Arial MT"/>
              <a:buChar char="•"/>
              <a:tabLst>
                <a:tab pos="156210" algn="l"/>
              </a:tabLst>
            </a:pPr>
            <a:endParaRPr lang="en-US" sz="32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953" y="724916"/>
            <a:ext cx="7547609" cy="635000"/>
          </a:xfrm>
          <a:prstGeom prst="rect">
            <a:avLst/>
          </a:prstGeom>
        </p:spPr>
        <p:txBody>
          <a:bodyPr vert="horz" wrap="square" lIns="0" tIns="12065" rIns="0" bIns="0" rtlCol="0">
            <a:spAutoFit/>
          </a:bodyPr>
          <a:lstStyle/>
          <a:p>
            <a:pPr marL="12700">
              <a:lnSpc>
                <a:spcPct val="100000"/>
              </a:lnSpc>
              <a:spcBef>
                <a:spcPts val="95"/>
              </a:spcBef>
            </a:pPr>
            <a:r>
              <a:rPr spc="-15" dirty="0"/>
              <a:t>Startup</a:t>
            </a:r>
            <a:r>
              <a:rPr spc="20" dirty="0"/>
              <a:t> </a:t>
            </a:r>
            <a:r>
              <a:rPr spc="-5" dirty="0"/>
              <a:t>Expenses</a:t>
            </a:r>
            <a:r>
              <a:rPr spc="-10" dirty="0"/>
              <a:t> </a:t>
            </a:r>
            <a:r>
              <a:rPr spc="-5" dirty="0"/>
              <a:t>and</a:t>
            </a:r>
            <a:r>
              <a:rPr spc="5" dirty="0"/>
              <a:t> </a:t>
            </a:r>
            <a:r>
              <a:rPr spc="-15" dirty="0"/>
              <a:t>Capitalization</a:t>
            </a:r>
          </a:p>
        </p:txBody>
      </p:sp>
      <p:sp>
        <p:nvSpPr>
          <p:cNvPr id="3" name="object 3"/>
          <p:cNvSpPr txBox="1"/>
          <p:nvPr/>
        </p:nvSpPr>
        <p:spPr>
          <a:xfrm>
            <a:off x="380999" y="1524000"/>
            <a:ext cx="8738463" cy="2980303"/>
          </a:xfrm>
          <a:prstGeom prst="rect">
            <a:avLst/>
          </a:prstGeom>
        </p:spPr>
        <p:txBody>
          <a:bodyPr vert="horz" wrap="square" lIns="0" tIns="12700" rIns="0" bIns="0" rtlCol="0">
            <a:spAutoFit/>
          </a:bodyPr>
          <a:lstStyle/>
          <a:p>
            <a:pPr marL="342900" indent="-342900" rtl="0">
              <a:buFont typeface="Arial" panose="020B0604020202020204" pitchFamily="34" charset="0"/>
              <a:buChar char="•"/>
            </a:pPr>
            <a:r>
              <a:rPr lang="en-US" sz="2400" b="1" dirty="0">
                <a:effectLst/>
              </a:rPr>
              <a:t>Startup Expenses:</a:t>
            </a:r>
            <a:endParaRPr lang="en-US" sz="2400" b="1" dirty="0"/>
          </a:p>
          <a:p>
            <a:pPr rtl="0"/>
            <a:r>
              <a:rPr lang="en-US" sz="2400" dirty="0">
                <a:effectLst/>
              </a:rPr>
              <a:t>    List of individual items required to start the business.</a:t>
            </a:r>
            <a:endParaRPr lang="en-US" sz="2400" dirty="0"/>
          </a:p>
          <a:p>
            <a:pPr rtl="0"/>
            <a:r>
              <a:rPr lang="en-US" sz="2400" dirty="0">
                <a:effectLst/>
              </a:rPr>
              <a:t>    Includes every necessary resource for business launch.</a:t>
            </a:r>
          </a:p>
          <a:p>
            <a:pPr rtl="0"/>
            <a:endParaRPr lang="en-US" sz="2400" dirty="0"/>
          </a:p>
          <a:p>
            <a:pPr marL="342900" indent="-342900" rtl="0">
              <a:buFont typeface="Arial" panose="020B0604020202020204" pitchFamily="34" charset="0"/>
              <a:buChar char="•"/>
            </a:pPr>
            <a:r>
              <a:rPr lang="en-US" sz="2400" b="1" dirty="0">
                <a:effectLst/>
              </a:rPr>
              <a:t>Capitalization:</a:t>
            </a:r>
            <a:endParaRPr lang="en-US" sz="2400" b="1" dirty="0"/>
          </a:p>
          <a:p>
            <a:pPr rtl="0"/>
            <a:r>
              <a:rPr lang="en-US" sz="2400" dirty="0">
                <a:effectLst/>
              </a:rPr>
              <a:t>     Total required investment to launch the business.</a:t>
            </a:r>
            <a:endParaRPr lang="en-US" sz="2400" dirty="0"/>
          </a:p>
          <a:p>
            <a:pPr rtl="0"/>
            <a:r>
              <a:rPr lang="en-US" sz="2400" dirty="0">
                <a:effectLst/>
              </a:rPr>
              <a:t>     Represents the full cost of resources planned to be leveraged.</a:t>
            </a:r>
            <a:endParaRPr lang="en-US" sz="2400" dirty="0"/>
          </a:p>
          <a:p>
            <a:pPr marL="12700">
              <a:lnSpc>
                <a:spcPct val="100000"/>
              </a:lnSpc>
              <a:spcBef>
                <a:spcPts val="100"/>
              </a:spcBef>
            </a:pPr>
            <a:endParaRPr lang="en-US" sz="2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2707C3-3767-3DA0-B6FB-3614901F31CB}"/>
              </a:ext>
            </a:extLst>
          </p:cNvPr>
          <p:cNvSpPr>
            <a:spLocks noGrp="1"/>
          </p:cNvSpPr>
          <p:nvPr>
            <p:ph type="body" idx="1"/>
          </p:nvPr>
        </p:nvSpPr>
        <p:spPr>
          <a:xfrm>
            <a:off x="682142" y="1764538"/>
            <a:ext cx="7749540" cy="3693319"/>
          </a:xfrm>
        </p:spPr>
        <p:txBody>
          <a:bodyPr/>
          <a:lstStyle/>
          <a:p>
            <a:pPr rtl="0"/>
            <a:r>
              <a:rPr lang="en-US" sz="2000" b="1" dirty="0">
                <a:effectLst/>
              </a:rPr>
              <a:t>Entrepreneurs Should Clearly List:</a:t>
            </a:r>
          </a:p>
          <a:p>
            <a:pPr rtl="0"/>
            <a:endParaRPr lang="en-US" sz="2000" b="1" dirty="0"/>
          </a:p>
          <a:p>
            <a:pPr marL="342900" indent="-342900" rtl="0">
              <a:buFont typeface="Arial" panose="020B0604020202020204" pitchFamily="34" charset="0"/>
              <a:buChar char="•"/>
            </a:pPr>
            <a:r>
              <a:rPr lang="en-US" sz="2000" b="1" dirty="0">
                <a:effectLst/>
              </a:rPr>
              <a:t>Startup Expenses:</a:t>
            </a:r>
            <a:endParaRPr lang="en-US" sz="2000" b="1" dirty="0"/>
          </a:p>
          <a:p>
            <a:pPr rtl="0"/>
            <a:r>
              <a:rPr lang="en-US" sz="2000" dirty="0">
                <a:effectLst/>
              </a:rPr>
              <a:t>  Every cost associated with getting the business operational.</a:t>
            </a:r>
          </a:p>
          <a:p>
            <a:pPr rtl="0"/>
            <a:endParaRPr lang="en-US" sz="2000" dirty="0"/>
          </a:p>
          <a:p>
            <a:pPr marL="342900" indent="-342900" rtl="0">
              <a:buFont typeface="Arial" panose="020B0604020202020204" pitchFamily="34" charset="0"/>
              <a:buChar char="•"/>
            </a:pPr>
            <a:r>
              <a:rPr lang="en-US" sz="2000" b="1" dirty="0">
                <a:effectLst/>
              </a:rPr>
              <a:t>Associated Costs:</a:t>
            </a:r>
            <a:endParaRPr lang="en-US" sz="2000" b="1" dirty="0"/>
          </a:p>
          <a:p>
            <a:pPr rtl="0"/>
            <a:r>
              <a:rPr lang="en-US" sz="2000" dirty="0">
                <a:effectLst/>
              </a:rPr>
              <a:t>  Each item’s specific cost breakdown.</a:t>
            </a:r>
          </a:p>
          <a:p>
            <a:pPr rtl="0"/>
            <a:endParaRPr lang="en-US" sz="2000" dirty="0"/>
          </a:p>
          <a:p>
            <a:pPr marL="342900" indent="-342900" rtl="0">
              <a:buFont typeface="Arial" panose="020B0604020202020204" pitchFamily="34" charset="0"/>
              <a:buChar char="•"/>
            </a:pPr>
            <a:r>
              <a:rPr lang="en-US" sz="2000" b="1" dirty="0">
                <a:effectLst/>
              </a:rPr>
              <a:t>Unusual or Expensive Items:</a:t>
            </a:r>
            <a:endParaRPr lang="en-US" sz="2000" b="1" dirty="0"/>
          </a:p>
          <a:p>
            <a:pPr rtl="0"/>
            <a:r>
              <a:rPr lang="en-US" sz="2000" dirty="0">
                <a:effectLst/>
              </a:rPr>
              <a:t> Brief explanation of capital-intensive or expensive items.</a:t>
            </a:r>
            <a:endParaRPr lang="en-US" sz="2000" dirty="0"/>
          </a:p>
          <a:p>
            <a:pPr rtl="0"/>
            <a:r>
              <a:rPr lang="en-US" sz="2000" dirty="0">
                <a:effectLst/>
              </a:rPr>
              <a:t>  Highlight any large upfront costs for critical items.</a:t>
            </a:r>
            <a:endParaRPr lang="en-US" sz="2000" dirty="0"/>
          </a:p>
          <a:p>
            <a:endParaRPr lang="en-US" dirty="0"/>
          </a:p>
        </p:txBody>
      </p:sp>
    </p:spTree>
    <p:extLst>
      <p:ext uri="{BB962C8B-B14F-4D97-AF65-F5344CB8AC3E}">
        <p14:creationId xmlns:p14="http://schemas.microsoft.com/office/powerpoint/2010/main" val="2793553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0"/>
            <a:ext cx="7547609" cy="566181"/>
          </a:xfrm>
          <a:prstGeom prst="rect">
            <a:avLst/>
          </a:prstGeom>
        </p:spPr>
        <p:txBody>
          <a:bodyPr vert="horz" wrap="square" lIns="0" tIns="12065" rIns="0" bIns="0" rtlCol="0">
            <a:spAutoFit/>
          </a:bodyPr>
          <a:lstStyle/>
          <a:p>
            <a:pPr marL="12700">
              <a:lnSpc>
                <a:spcPct val="100000"/>
              </a:lnSpc>
              <a:spcBef>
                <a:spcPts val="95"/>
              </a:spcBef>
            </a:pPr>
            <a:r>
              <a:rPr sz="3600" spc="-15" dirty="0"/>
              <a:t>Startup</a:t>
            </a:r>
            <a:r>
              <a:rPr sz="3600" spc="20" dirty="0"/>
              <a:t> </a:t>
            </a:r>
            <a:r>
              <a:rPr sz="3600" spc="-5" dirty="0"/>
              <a:t>Expenses</a:t>
            </a:r>
            <a:r>
              <a:rPr sz="3600" spc="-10" dirty="0"/>
              <a:t> </a:t>
            </a:r>
            <a:r>
              <a:rPr sz="3600" spc="-5" dirty="0"/>
              <a:t>and</a:t>
            </a:r>
            <a:r>
              <a:rPr sz="3600" spc="5" dirty="0"/>
              <a:t> </a:t>
            </a:r>
            <a:r>
              <a:rPr sz="3600" spc="-15" dirty="0"/>
              <a:t>Capitalization</a:t>
            </a:r>
          </a:p>
        </p:txBody>
      </p:sp>
      <p:pic>
        <p:nvPicPr>
          <p:cNvPr id="3" name="object 3"/>
          <p:cNvPicPr/>
          <p:nvPr/>
        </p:nvPicPr>
        <p:blipFill>
          <a:blip r:embed="rId2" cstate="print"/>
          <a:stretch>
            <a:fillRect/>
          </a:stretch>
        </p:blipFill>
        <p:spPr>
          <a:xfrm>
            <a:off x="0" y="685800"/>
            <a:ext cx="9144000" cy="617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0"/>
            <a:ext cx="7547609" cy="566181"/>
          </a:xfrm>
          <a:prstGeom prst="rect">
            <a:avLst/>
          </a:prstGeom>
        </p:spPr>
        <p:txBody>
          <a:bodyPr vert="horz" wrap="square" lIns="0" tIns="12065" rIns="0" bIns="0" rtlCol="0">
            <a:spAutoFit/>
          </a:bodyPr>
          <a:lstStyle/>
          <a:p>
            <a:pPr marL="12700">
              <a:lnSpc>
                <a:spcPct val="100000"/>
              </a:lnSpc>
              <a:spcBef>
                <a:spcPts val="95"/>
              </a:spcBef>
            </a:pPr>
            <a:r>
              <a:rPr sz="3600" spc="-15" dirty="0"/>
              <a:t>Startup</a:t>
            </a:r>
            <a:r>
              <a:rPr sz="3600" spc="20" dirty="0"/>
              <a:t> </a:t>
            </a:r>
            <a:r>
              <a:rPr sz="3600" spc="-5" dirty="0"/>
              <a:t>Expenses</a:t>
            </a:r>
            <a:r>
              <a:rPr sz="3600" spc="-10" dirty="0"/>
              <a:t> </a:t>
            </a:r>
            <a:r>
              <a:rPr sz="3600" spc="-5" dirty="0"/>
              <a:t>and</a:t>
            </a:r>
            <a:r>
              <a:rPr sz="3600" spc="5" dirty="0"/>
              <a:t> </a:t>
            </a:r>
            <a:r>
              <a:rPr sz="3600" spc="-15" dirty="0"/>
              <a:t>Capitalization</a:t>
            </a:r>
          </a:p>
        </p:txBody>
      </p:sp>
      <p:pic>
        <p:nvPicPr>
          <p:cNvPr id="3" name="object 3"/>
          <p:cNvPicPr/>
          <p:nvPr/>
        </p:nvPicPr>
        <p:blipFill>
          <a:blip r:embed="rId2" cstate="print"/>
          <a:stretch>
            <a:fillRect/>
          </a:stretch>
        </p:blipFill>
        <p:spPr>
          <a:xfrm>
            <a:off x="0" y="685800"/>
            <a:ext cx="9144000" cy="61721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533400"/>
            <a:ext cx="8516620" cy="2711383"/>
          </a:xfrm>
          <a:prstGeom prst="rect">
            <a:avLst/>
          </a:prstGeom>
        </p:spPr>
        <p:txBody>
          <a:bodyPr vert="horz" wrap="square" lIns="0" tIns="12700" rIns="0" bIns="0" rtlCol="0">
            <a:spAutoFit/>
          </a:bodyPr>
          <a:lstStyle/>
          <a:p>
            <a:pPr marL="12700" marR="1956435" indent="3315970">
              <a:lnSpc>
                <a:spcPct val="136300"/>
              </a:lnSpc>
              <a:spcBef>
                <a:spcPts val="100"/>
              </a:spcBef>
            </a:pPr>
            <a:r>
              <a:rPr sz="4000" b="1" spc="-5" dirty="0">
                <a:solidFill>
                  <a:srgbClr val="E36C09"/>
                </a:solidFill>
                <a:latin typeface="Calibri"/>
                <a:cs typeface="Calibri"/>
              </a:rPr>
              <a:t>Financial</a:t>
            </a:r>
            <a:r>
              <a:rPr sz="4000" b="1" spc="5" dirty="0">
                <a:solidFill>
                  <a:srgbClr val="E36C09"/>
                </a:solidFill>
                <a:latin typeface="Calibri"/>
                <a:cs typeface="Calibri"/>
              </a:rPr>
              <a:t> </a:t>
            </a:r>
            <a:r>
              <a:rPr sz="4000" b="1" spc="-10" dirty="0">
                <a:solidFill>
                  <a:srgbClr val="E36C09"/>
                </a:solidFill>
                <a:latin typeface="Calibri"/>
                <a:cs typeface="Calibri"/>
              </a:rPr>
              <a:t>Plan </a:t>
            </a:r>
            <a:r>
              <a:rPr sz="4000" b="1" spc="-5" dirty="0">
                <a:solidFill>
                  <a:srgbClr val="E36C09"/>
                </a:solidFill>
                <a:latin typeface="Calibri"/>
                <a:cs typeface="Calibri"/>
              </a:rPr>
              <a:t> </a:t>
            </a:r>
            <a:r>
              <a:rPr sz="3600" b="1" spc="-5" dirty="0">
                <a:latin typeface="Calibri"/>
                <a:cs typeface="Calibri"/>
              </a:rPr>
              <a:t>Financial</a:t>
            </a:r>
            <a:r>
              <a:rPr sz="3600" b="1" spc="15" dirty="0">
                <a:latin typeface="Calibri"/>
                <a:cs typeface="Calibri"/>
              </a:rPr>
              <a:t> </a:t>
            </a:r>
            <a:r>
              <a:rPr sz="3600" b="1" spc="-5" dirty="0">
                <a:latin typeface="Calibri"/>
                <a:cs typeface="Calibri"/>
              </a:rPr>
              <a:t>planning</a:t>
            </a:r>
            <a:r>
              <a:rPr sz="3600" b="1" spc="35" dirty="0">
                <a:latin typeface="Calibri"/>
                <a:cs typeface="Calibri"/>
              </a:rPr>
              <a:t> </a:t>
            </a:r>
            <a:r>
              <a:rPr sz="3600" spc="-5" dirty="0">
                <a:latin typeface="Calibri"/>
                <a:cs typeface="Calibri"/>
              </a:rPr>
              <a:t>is the </a:t>
            </a:r>
            <a:r>
              <a:rPr sz="3600" spc="-15" dirty="0">
                <a:latin typeface="Calibri"/>
                <a:cs typeface="Calibri"/>
              </a:rPr>
              <a:t>task</a:t>
            </a:r>
            <a:r>
              <a:rPr sz="3600" spc="-25" dirty="0">
                <a:latin typeface="Calibri"/>
                <a:cs typeface="Calibri"/>
              </a:rPr>
              <a:t> </a:t>
            </a:r>
            <a:r>
              <a:rPr sz="3600" spc="-10" dirty="0">
                <a:latin typeface="Calibri"/>
                <a:cs typeface="Calibri"/>
              </a:rPr>
              <a:t>of</a:t>
            </a:r>
            <a:endParaRPr sz="3600" dirty="0">
              <a:latin typeface="Calibri"/>
              <a:cs typeface="Calibri"/>
            </a:endParaRPr>
          </a:p>
          <a:p>
            <a:pPr marL="12700" marR="5080">
              <a:lnSpc>
                <a:spcPct val="100000"/>
              </a:lnSpc>
            </a:pPr>
            <a:r>
              <a:rPr sz="3600" spc="-15" dirty="0">
                <a:latin typeface="Calibri"/>
                <a:cs typeface="Calibri"/>
              </a:rPr>
              <a:t>determining</a:t>
            </a:r>
            <a:r>
              <a:rPr sz="3600" spc="-5" dirty="0">
                <a:latin typeface="Calibri"/>
                <a:cs typeface="Calibri"/>
              </a:rPr>
              <a:t> how a</a:t>
            </a:r>
            <a:r>
              <a:rPr sz="3600" dirty="0">
                <a:latin typeface="Calibri"/>
                <a:cs typeface="Calibri"/>
              </a:rPr>
              <a:t> </a:t>
            </a:r>
            <a:r>
              <a:rPr sz="3600" spc="-10" dirty="0">
                <a:latin typeface="Calibri"/>
                <a:cs typeface="Calibri"/>
              </a:rPr>
              <a:t>business</a:t>
            </a:r>
            <a:r>
              <a:rPr sz="3600" spc="-5" dirty="0">
                <a:latin typeface="Calibri"/>
                <a:cs typeface="Calibri"/>
              </a:rPr>
              <a:t> </a:t>
            </a:r>
            <a:r>
              <a:rPr sz="3600" spc="-10" dirty="0">
                <a:latin typeface="Calibri"/>
                <a:cs typeface="Calibri"/>
              </a:rPr>
              <a:t>will</a:t>
            </a:r>
            <a:r>
              <a:rPr sz="3600" spc="-15" dirty="0">
                <a:latin typeface="Calibri"/>
                <a:cs typeface="Calibri"/>
              </a:rPr>
              <a:t> </a:t>
            </a:r>
            <a:r>
              <a:rPr sz="3600" spc="-35" dirty="0">
                <a:latin typeface="Calibri"/>
                <a:cs typeface="Calibri"/>
              </a:rPr>
              <a:t>afford</a:t>
            </a:r>
            <a:r>
              <a:rPr sz="3600" dirty="0">
                <a:latin typeface="Calibri"/>
                <a:cs typeface="Calibri"/>
              </a:rPr>
              <a:t> </a:t>
            </a:r>
            <a:r>
              <a:rPr sz="3600" spc="-25" dirty="0">
                <a:latin typeface="Calibri"/>
                <a:cs typeface="Calibri"/>
              </a:rPr>
              <a:t>to </a:t>
            </a:r>
            <a:r>
              <a:rPr sz="3600" spc="-890" dirty="0">
                <a:latin typeface="Calibri"/>
                <a:cs typeface="Calibri"/>
              </a:rPr>
              <a:t> </a:t>
            </a:r>
            <a:r>
              <a:rPr sz="3600" spc="-15" dirty="0">
                <a:latin typeface="Calibri"/>
                <a:cs typeface="Calibri"/>
              </a:rPr>
              <a:t>achieve</a:t>
            </a:r>
            <a:r>
              <a:rPr sz="3600" spc="-5" dirty="0">
                <a:latin typeface="Calibri"/>
                <a:cs typeface="Calibri"/>
              </a:rPr>
              <a:t> its</a:t>
            </a:r>
            <a:r>
              <a:rPr sz="3600" spc="5" dirty="0">
                <a:latin typeface="Calibri"/>
                <a:cs typeface="Calibri"/>
              </a:rPr>
              <a:t> </a:t>
            </a:r>
            <a:r>
              <a:rPr sz="3600" spc="-30" dirty="0">
                <a:latin typeface="Calibri"/>
                <a:cs typeface="Calibri"/>
              </a:rPr>
              <a:t>strategic</a:t>
            </a:r>
            <a:r>
              <a:rPr sz="3600" spc="5" dirty="0">
                <a:latin typeface="Calibri"/>
                <a:cs typeface="Calibri"/>
              </a:rPr>
              <a:t> </a:t>
            </a:r>
            <a:r>
              <a:rPr sz="3600" spc="-10" dirty="0">
                <a:latin typeface="Calibri"/>
                <a:cs typeface="Calibri"/>
              </a:rPr>
              <a:t>goals</a:t>
            </a:r>
            <a:r>
              <a:rPr sz="3600" spc="-20" dirty="0">
                <a:latin typeface="Calibri"/>
                <a:cs typeface="Calibri"/>
              </a:rPr>
              <a:t> </a:t>
            </a:r>
            <a:r>
              <a:rPr sz="3600" spc="-5" dirty="0">
                <a:latin typeface="Calibri"/>
                <a:cs typeface="Calibri"/>
              </a:rPr>
              <a:t>and</a:t>
            </a:r>
            <a:r>
              <a:rPr sz="3600" dirty="0">
                <a:latin typeface="Calibri"/>
                <a:cs typeface="Calibri"/>
              </a:rPr>
              <a:t> </a:t>
            </a:r>
            <a:r>
              <a:rPr sz="3600" spc="-10" dirty="0">
                <a:latin typeface="Calibri"/>
                <a:cs typeface="Calibri"/>
              </a:rPr>
              <a:t>objectives.</a:t>
            </a:r>
            <a:endParaRPr sz="3600" dirty="0">
              <a:latin typeface="Calibri"/>
              <a:cs typeface="Calibri"/>
            </a:endParaRPr>
          </a:p>
        </p:txBody>
      </p:sp>
      <p:pic>
        <p:nvPicPr>
          <p:cNvPr id="4" name="Picture 3">
            <a:extLst>
              <a:ext uri="{FF2B5EF4-FFF2-40B4-BE49-F238E27FC236}">
                <a16:creationId xmlns:a16="http://schemas.microsoft.com/office/drawing/2014/main" id="{87CB3B78-68F7-989C-4D31-395B48AE6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3613218"/>
            <a:ext cx="8669020" cy="32447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4709" y="0"/>
            <a:ext cx="3615691" cy="635000"/>
          </a:xfrm>
          <a:prstGeom prst="rect">
            <a:avLst/>
          </a:prstGeom>
        </p:spPr>
        <p:txBody>
          <a:bodyPr vert="horz" wrap="square" lIns="0" tIns="12065" rIns="0" bIns="0" rtlCol="0">
            <a:spAutoFit/>
          </a:bodyPr>
          <a:lstStyle/>
          <a:p>
            <a:pPr marL="12700">
              <a:lnSpc>
                <a:spcPct val="100000"/>
              </a:lnSpc>
              <a:spcBef>
                <a:spcPts val="95"/>
              </a:spcBef>
            </a:pPr>
            <a:r>
              <a:rPr spc="-5" dirty="0"/>
              <a:t>Financial</a:t>
            </a:r>
            <a:r>
              <a:rPr spc="-35" dirty="0"/>
              <a:t> </a:t>
            </a:r>
            <a:r>
              <a:rPr spc="-10" dirty="0"/>
              <a:t>Plan</a:t>
            </a:r>
          </a:p>
        </p:txBody>
      </p:sp>
      <p:sp>
        <p:nvSpPr>
          <p:cNvPr id="3" name="object 3"/>
          <p:cNvSpPr txBox="1"/>
          <p:nvPr/>
        </p:nvSpPr>
        <p:spPr>
          <a:xfrm>
            <a:off x="228600" y="1219199"/>
            <a:ext cx="8837294" cy="4950714"/>
          </a:xfrm>
          <a:prstGeom prst="rect">
            <a:avLst/>
          </a:prstGeom>
        </p:spPr>
        <p:txBody>
          <a:bodyPr vert="horz" wrap="square" lIns="0" tIns="13335" rIns="0" bIns="0" rtlCol="0">
            <a:spAutoFit/>
          </a:bodyPr>
          <a:lstStyle/>
          <a:p>
            <a:pPr marL="342900" indent="-342900" rtl="0">
              <a:buFont typeface="Arial" panose="020B0604020202020204" pitchFamily="34" charset="0"/>
              <a:buChar char="•"/>
            </a:pPr>
            <a:r>
              <a:rPr lang="en-US" sz="2000" b="1" dirty="0">
                <a:effectLst/>
              </a:rPr>
              <a:t>12 Month Profit &amp; Loss Statement:</a:t>
            </a:r>
          </a:p>
          <a:p>
            <a:pPr marL="342900" indent="-342900" rtl="0">
              <a:buFont typeface="Arial" panose="020B0604020202020204" pitchFamily="34" charset="0"/>
              <a:buChar char="•"/>
            </a:pPr>
            <a:endParaRPr lang="en-US" sz="2000" b="1" dirty="0">
              <a:effectLst/>
            </a:endParaRPr>
          </a:p>
          <a:p>
            <a:pPr rtl="0"/>
            <a:r>
              <a:rPr lang="en-US" sz="2000" dirty="0">
                <a:effectLst/>
              </a:rPr>
              <a:t>Put numbers together for profitability.</a:t>
            </a:r>
            <a:endParaRPr lang="en-US" sz="2000" dirty="0"/>
          </a:p>
          <a:p>
            <a:pPr rtl="0"/>
            <a:r>
              <a:rPr lang="en-US" sz="2000" dirty="0">
                <a:effectLst/>
              </a:rPr>
              <a:t>Helps determine the path to success.</a:t>
            </a:r>
          </a:p>
          <a:p>
            <a:pPr rtl="0"/>
            <a:endParaRPr lang="en-US" sz="2000" dirty="0"/>
          </a:p>
          <a:p>
            <a:pPr marL="342900" indent="-342900" rtl="0">
              <a:buFont typeface="Arial" panose="020B0604020202020204" pitchFamily="34" charset="0"/>
              <a:buChar char="•"/>
            </a:pPr>
            <a:r>
              <a:rPr lang="en-US" sz="2000" b="1" dirty="0">
                <a:effectLst/>
              </a:rPr>
              <a:t>Three-Year Profit Projection (Optional):</a:t>
            </a:r>
          </a:p>
          <a:p>
            <a:pPr marL="342900" indent="-342900" rtl="0">
              <a:buFont typeface="Arial" panose="020B0604020202020204" pitchFamily="34" charset="0"/>
              <a:buChar char="•"/>
            </a:pPr>
            <a:endParaRPr lang="en-US" sz="2000" b="1" dirty="0"/>
          </a:p>
          <a:p>
            <a:pPr rtl="0"/>
            <a:r>
              <a:rPr lang="en-US" sz="2000" dirty="0">
                <a:effectLst/>
              </a:rPr>
              <a:t>  Extends forecast beyond the first year.</a:t>
            </a:r>
            <a:endParaRPr lang="en-US" sz="2000" dirty="0"/>
          </a:p>
          <a:p>
            <a:pPr rtl="0"/>
            <a:r>
              <a:rPr lang="en-US" sz="2000" dirty="0">
                <a:effectLst/>
              </a:rPr>
              <a:t>  Helps plan for long-term growth.</a:t>
            </a:r>
          </a:p>
          <a:p>
            <a:pPr rtl="0"/>
            <a:endParaRPr lang="en-US" sz="2000" dirty="0"/>
          </a:p>
          <a:p>
            <a:pPr marL="342900" indent="-342900" rtl="0">
              <a:buFont typeface="Arial" panose="020B0604020202020204" pitchFamily="34" charset="0"/>
              <a:buChar char="•"/>
            </a:pPr>
            <a:r>
              <a:rPr lang="en-US" sz="2000" b="1" dirty="0">
                <a:effectLst/>
              </a:rPr>
              <a:t>Projected Cash Flow:</a:t>
            </a:r>
          </a:p>
          <a:p>
            <a:pPr marL="342900" indent="-342900" rtl="0">
              <a:buFont typeface="Arial" panose="020B0604020202020204" pitchFamily="34" charset="0"/>
              <a:buChar char="•"/>
            </a:pPr>
            <a:endParaRPr lang="en-US" sz="2000" b="1" dirty="0"/>
          </a:p>
          <a:p>
            <a:pPr rtl="0"/>
            <a:r>
              <a:rPr lang="en-US" sz="2000" dirty="0">
                <a:effectLst/>
              </a:rPr>
              <a:t>   Plan how much cash you need.</a:t>
            </a:r>
            <a:endParaRPr lang="en-US" sz="2000" dirty="0"/>
          </a:p>
          <a:p>
            <a:pPr rtl="0"/>
            <a:r>
              <a:rPr lang="en-US" sz="2000" dirty="0">
                <a:effectLst/>
              </a:rPr>
              <a:t>   Includes preliminary expenses and reserves.</a:t>
            </a:r>
          </a:p>
          <a:p>
            <a:pPr rtl="0"/>
            <a:endParaRPr lang="en-US" sz="2000" dirty="0"/>
          </a:p>
          <a:p>
            <a:pPr marL="12700" marR="763270">
              <a:lnSpc>
                <a:spcPct val="100000"/>
              </a:lnSpc>
              <a:spcBef>
                <a:spcPts val="105"/>
              </a:spcBef>
            </a:pPr>
            <a:endParaRPr sz="20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F50BF9-7EAC-4B42-B196-821323E74DD1}"/>
              </a:ext>
            </a:extLst>
          </p:cNvPr>
          <p:cNvSpPr>
            <a:spLocks noGrp="1"/>
          </p:cNvSpPr>
          <p:nvPr>
            <p:ph type="body" idx="1"/>
          </p:nvPr>
        </p:nvSpPr>
        <p:spPr>
          <a:xfrm>
            <a:off x="682142" y="1764538"/>
            <a:ext cx="7749540" cy="4308872"/>
          </a:xfrm>
        </p:spPr>
        <p:txBody>
          <a:bodyPr/>
          <a:lstStyle/>
          <a:p>
            <a:pPr marL="342900" indent="-342900" rtl="0">
              <a:buFont typeface="Arial" panose="020B0604020202020204" pitchFamily="34" charset="0"/>
              <a:buChar char="•"/>
            </a:pPr>
            <a:r>
              <a:rPr lang="en-US" sz="2000" b="1" dirty="0">
                <a:effectLst/>
              </a:rPr>
              <a:t> For Each Item:</a:t>
            </a:r>
            <a:endParaRPr lang="en-US" sz="2000" b="1" dirty="0"/>
          </a:p>
          <a:p>
            <a:pPr rtl="0"/>
            <a:r>
              <a:rPr lang="en-US" sz="2000" dirty="0">
                <a:effectLst/>
              </a:rPr>
              <a:t>  Determine expected cash receipt timing.</a:t>
            </a:r>
            <a:endParaRPr lang="en-US" sz="2000" dirty="0"/>
          </a:p>
          <a:p>
            <a:pPr rtl="0"/>
            <a:r>
              <a:rPr lang="en-US" sz="2000" dirty="0">
                <a:effectLst/>
              </a:rPr>
              <a:t>  Track when expenses need payments.</a:t>
            </a:r>
          </a:p>
          <a:p>
            <a:pPr rtl="0"/>
            <a:endParaRPr lang="en-US" sz="2000" dirty="0"/>
          </a:p>
          <a:p>
            <a:pPr marL="342900" indent="-342900" rtl="0">
              <a:buFont typeface="Arial" panose="020B0604020202020204" pitchFamily="34" charset="0"/>
              <a:buChar char="•"/>
            </a:pPr>
            <a:r>
              <a:rPr lang="en-US" b="1" dirty="0">
                <a:effectLst/>
              </a:rPr>
              <a:t>Opening Day Balance Sheet:</a:t>
            </a:r>
          </a:p>
          <a:p>
            <a:pPr rtl="0"/>
            <a:r>
              <a:rPr lang="en-US" b="1" dirty="0"/>
              <a:t>   </a:t>
            </a:r>
            <a:r>
              <a:rPr lang="en-US" dirty="0">
                <a:effectLst/>
              </a:rPr>
              <a:t>Fundamental financial report for businesses.</a:t>
            </a:r>
            <a:endParaRPr lang="en-US" dirty="0"/>
          </a:p>
          <a:p>
            <a:pPr rtl="0"/>
            <a:r>
              <a:rPr lang="en-US" dirty="0">
                <a:effectLst/>
              </a:rPr>
              <a:t>   Essential for reporting and management.</a:t>
            </a:r>
          </a:p>
          <a:p>
            <a:pPr marL="342900" indent="-342900" rtl="0">
              <a:buFont typeface="Arial" panose="020B0604020202020204" pitchFamily="34" charset="0"/>
              <a:buChar char="•"/>
            </a:pPr>
            <a:endParaRPr lang="en-US" b="1" dirty="0"/>
          </a:p>
          <a:p>
            <a:pPr marL="342900" indent="-342900" rtl="0">
              <a:buFont typeface="Arial" panose="020B0604020202020204" pitchFamily="34" charset="0"/>
              <a:buChar char="•"/>
            </a:pPr>
            <a:r>
              <a:rPr lang="en-US" b="1" dirty="0">
                <a:effectLst/>
              </a:rPr>
              <a:t>Break-Even Analysis:</a:t>
            </a:r>
            <a:endParaRPr lang="en-US" b="1" dirty="0"/>
          </a:p>
          <a:p>
            <a:pPr rtl="0"/>
            <a:r>
              <a:rPr lang="en-US" dirty="0">
                <a:effectLst/>
              </a:rPr>
              <a:t>   Dividing line between loss and profit.</a:t>
            </a:r>
            <a:endParaRPr lang="en-US" dirty="0"/>
          </a:p>
          <a:p>
            <a:pPr rtl="0"/>
            <a:r>
              <a:rPr lang="en-US" dirty="0">
                <a:effectLst/>
              </a:rPr>
              <a:t>   Sales level needed to break even.</a:t>
            </a:r>
            <a:endParaRPr lang="en-US" dirty="0"/>
          </a:p>
          <a:p>
            <a:pPr rtl="0"/>
            <a:br>
              <a:rPr lang="en-US" dirty="0"/>
            </a:br>
            <a:endParaRPr lang="en-US" dirty="0"/>
          </a:p>
          <a:p>
            <a:endParaRPr lang="en-US" dirty="0"/>
          </a:p>
        </p:txBody>
      </p:sp>
    </p:spTree>
    <p:extLst>
      <p:ext uri="{BB962C8B-B14F-4D97-AF65-F5344CB8AC3E}">
        <p14:creationId xmlns:p14="http://schemas.microsoft.com/office/powerpoint/2010/main" val="4260727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0383" y="381000"/>
            <a:ext cx="8103234" cy="1798569"/>
          </a:xfrm>
          <a:prstGeom prst="rect">
            <a:avLst/>
          </a:prstGeom>
        </p:spPr>
        <p:txBody>
          <a:bodyPr vert="horz" wrap="square" lIns="0" tIns="13335" rIns="0" bIns="0" rtlCol="0">
            <a:spAutoFit/>
          </a:bodyPr>
          <a:lstStyle/>
          <a:p>
            <a:pPr algn="ctr">
              <a:lnSpc>
                <a:spcPct val="100000"/>
              </a:lnSpc>
              <a:spcBef>
                <a:spcPts val="105"/>
              </a:spcBef>
            </a:pPr>
            <a:r>
              <a:rPr sz="4400" b="1" spc="-5" dirty="0">
                <a:solidFill>
                  <a:srgbClr val="E36C09"/>
                </a:solidFill>
                <a:latin typeface="Calibri"/>
                <a:cs typeface="Calibri"/>
              </a:rPr>
              <a:t>APPENDICES</a:t>
            </a:r>
            <a:endParaRPr sz="4400" dirty="0">
              <a:latin typeface="Calibri"/>
              <a:cs typeface="Calibri"/>
            </a:endParaRPr>
          </a:p>
          <a:p>
            <a:pPr marL="12700" marR="5080" indent="-6985">
              <a:lnSpc>
                <a:spcPct val="100000"/>
              </a:lnSpc>
            </a:pPr>
            <a:r>
              <a:rPr sz="2400" dirty="0">
                <a:latin typeface="Times New Roman" panose="02020603050405020304" pitchFamily="18" charset="0"/>
                <a:cs typeface="Times New Roman" panose="02020603050405020304" pitchFamily="18" charset="0"/>
              </a:rPr>
              <a:t>The </a:t>
            </a:r>
            <a:r>
              <a:rPr sz="2400" b="1" dirty="0">
                <a:latin typeface="Times New Roman" panose="02020603050405020304" pitchFamily="18" charset="0"/>
                <a:cs typeface="Times New Roman" panose="02020603050405020304" pitchFamily="18" charset="0"/>
              </a:rPr>
              <a:t>appendices </a:t>
            </a:r>
            <a:r>
              <a:rPr sz="2400" spc="-20" dirty="0">
                <a:latin typeface="Times New Roman" panose="02020603050405020304" pitchFamily="18" charset="0"/>
                <a:cs typeface="Times New Roman" panose="02020603050405020304" pitchFamily="18" charset="0"/>
              </a:rPr>
              <a:t>contain </a:t>
            </a:r>
            <a:r>
              <a:rPr sz="2400" spc="-30" dirty="0">
                <a:latin typeface="Times New Roman" panose="02020603050405020304" pitchFamily="18" charset="0"/>
                <a:cs typeface="Times New Roman" panose="02020603050405020304" pitchFamily="18" charset="0"/>
              </a:rPr>
              <a:t>letters </a:t>
            </a:r>
            <a:r>
              <a:rPr sz="2400" dirty="0">
                <a:latin typeface="Times New Roman" panose="02020603050405020304" pitchFamily="18" charset="0"/>
                <a:cs typeface="Times New Roman" panose="02020603050405020304" pitchFamily="18" charset="0"/>
              </a:rPr>
              <a:t>and </a:t>
            </a:r>
            <a:r>
              <a:rPr sz="2400" spc="-9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charts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important</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data</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that</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not </a:t>
            </a:r>
            <a:r>
              <a:rPr sz="2400" spc="-9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only support the book's </a:t>
            </a:r>
            <a:r>
              <a:rPr sz="2400" spc="-10" dirty="0">
                <a:latin typeface="Times New Roman" panose="02020603050405020304" pitchFamily="18" charset="0"/>
                <a:cs typeface="Times New Roman" panose="02020603050405020304" pitchFamily="18" charset="0"/>
              </a:rPr>
              <a:t>arguments, </a:t>
            </a:r>
            <a:r>
              <a:rPr sz="2400" spc="-98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but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also</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open</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new</a:t>
            </a:r>
            <a:r>
              <a:rPr sz="2400" spc="-5" dirty="0">
                <a:latin typeface="Times New Roman" panose="02020603050405020304" pitchFamily="18" charset="0"/>
                <a:cs typeface="Times New Roman" panose="02020603050405020304" pitchFamily="18" charset="0"/>
              </a:rPr>
              <a:t> </a:t>
            </a:r>
            <a:r>
              <a:rPr sz="2400" spc="-40" dirty="0">
                <a:latin typeface="Times New Roman" panose="02020603050405020304" pitchFamily="18" charset="0"/>
                <a:cs typeface="Times New Roman" panose="02020603050405020304" pitchFamily="18" charset="0"/>
              </a:rPr>
              <a:t>ways</a:t>
            </a:r>
            <a:r>
              <a:rPr sz="2400" spc="-1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future </a:t>
            </a:r>
            <a:r>
              <a:rPr sz="2400" spc="-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investigations.</a:t>
            </a:r>
            <a:endParaRPr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1F2BF9-3E15-5759-C025-6BE24E074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200400"/>
            <a:ext cx="8229600" cy="3581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1" y="0"/>
            <a:ext cx="3674618" cy="697230"/>
          </a:xfrm>
          <a:prstGeom prst="rect">
            <a:avLst/>
          </a:prstGeom>
        </p:spPr>
        <p:txBody>
          <a:bodyPr vert="horz" wrap="square" lIns="0" tIns="13335" rIns="0" bIns="0" rtlCol="0">
            <a:spAutoFit/>
          </a:bodyPr>
          <a:lstStyle/>
          <a:p>
            <a:pPr marL="12700">
              <a:lnSpc>
                <a:spcPct val="100000"/>
              </a:lnSpc>
              <a:spcBef>
                <a:spcPts val="105"/>
              </a:spcBef>
            </a:pPr>
            <a:r>
              <a:rPr sz="4400" dirty="0"/>
              <a:t>AP</a:t>
            </a:r>
            <a:r>
              <a:rPr sz="4400" spc="-15" dirty="0"/>
              <a:t>P</a:t>
            </a:r>
            <a:r>
              <a:rPr sz="4400" dirty="0"/>
              <a:t>ENDIC</a:t>
            </a:r>
            <a:r>
              <a:rPr sz="4400" spc="-65" dirty="0"/>
              <a:t>E</a:t>
            </a:r>
            <a:r>
              <a:rPr sz="4400" dirty="0"/>
              <a:t>S</a:t>
            </a:r>
          </a:p>
        </p:txBody>
      </p:sp>
      <p:sp>
        <p:nvSpPr>
          <p:cNvPr id="3" name="object 3"/>
          <p:cNvSpPr txBox="1"/>
          <p:nvPr/>
        </p:nvSpPr>
        <p:spPr>
          <a:xfrm>
            <a:off x="609601" y="1219200"/>
            <a:ext cx="8538574" cy="2597506"/>
          </a:xfrm>
          <a:prstGeom prst="rect">
            <a:avLst/>
          </a:prstGeom>
        </p:spPr>
        <p:txBody>
          <a:bodyPr vert="horz" wrap="square" lIns="0" tIns="12065" rIns="0" bIns="0" rtlCol="0">
            <a:spAutoFit/>
          </a:bodyPr>
          <a:lstStyle/>
          <a:p>
            <a:pPr marL="12700" marR="396875">
              <a:lnSpc>
                <a:spcPct val="100000"/>
              </a:lnSpc>
              <a:spcBef>
                <a:spcPts val="95"/>
              </a:spcBef>
            </a:pPr>
            <a:r>
              <a:rPr sz="2400" spc="-5" dirty="0">
                <a:latin typeface="Times New Roman" panose="02020603050405020304" pitchFamily="18" charset="0"/>
                <a:cs typeface="Times New Roman" panose="02020603050405020304" pitchFamily="18" charset="0"/>
              </a:rPr>
              <a:t>Include</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details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studies</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used</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a:t>
            </a:r>
            <a:r>
              <a:rPr sz="2400" spc="1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your</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business</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plan;</a:t>
            </a:r>
            <a:r>
              <a:rPr sz="2400" spc="2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for </a:t>
            </a:r>
            <a:r>
              <a:rPr sz="2400" spc="-61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example:</a:t>
            </a:r>
            <a:endParaRPr sz="2400" dirty="0">
              <a:latin typeface="Times New Roman" panose="02020603050405020304" pitchFamily="18" charset="0"/>
              <a:cs typeface="Times New Roman" panose="02020603050405020304" pitchFamily="18" charset="0"/>
            </a:endParaRPr>
          </a:p>
          <a:p>
            <a:pPr marL="271145" indent="-259079">
              <a:lnSpc>
                <a:spcPct val="100000"/>
              </a:lnSpc>
              <a:spcBef>
                <a:spcPts val="5"/>
              </a:spcBef>
              <a:buChar char="•"/>
              <a:tabLst>
                <a:tab pos="271780" algn="l"/>
              </a:tabLst>
            </a:pPr>
            <a:r>
              <a:rPr sz="2400" spc="-15" dirty="0">
                <a:latin typeface="Times New Roman" panose="02020603050405020304" pitchFamily="18" charset="0"/>
                <a:cs typeface="Times New Roman" panose="02020603050405020304" pitchFamily="18" charset="0"/>
              </a:rPr>
              <a:t>Brochures</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advertising</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materials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Industry</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studies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Blueprints</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 </a:t>
            </a:r>
            <a:r>
              <a:rPr sz="2400" spc="-10" dirty="0">
                <a:latin typeface="Times New Roman" panose="02020603050405020304" pitchFamily="18" charset="0"/>
                <a:cs typeface="Times New Roman" panose="02020603050405020304" pitchFamily="18" charset="0"/>
              </a:rPr>
              <a:t>plans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Maps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photos</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location</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Magazine</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or </a:t>
            </a:r>
            <a:r>
              <a:rPr sz="2400" spc="-10" dirty="0">
                <a:latin typeface="Times New Roman" panose="02020603050405020304" pitchFamily="18" charset="0"/>
                <a:cs typeface="Times New Roman" panose="02020603050405020304" pitchFamily="18" charset="0"/>
              </a:rPr>
              <a:t>other</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articles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FD7710-446A-ACCC-93FA-7056CCBEFF97}"/>
              </a:ext>
            </a:extLst>
          </p:cNvPr>
          <p:cNvSpPr>
            <a:spLocks noGrp="1"/>
          </p:cNvSpPr>
          <p:nvPr>
            <p:ph type="body" idx="1"/>
          </p:nvPr>
        </p:nvSpPr>
        <p:spPr>
          <a:xfrm>
            <a:off x="682142" y="1764538"/>
            <a:ext cx="7749540" cy="2893100"/>
          </a:xfrm>
        </p:spPr>
        <p:txBody>
          <a:bodyPr/>
          <a:lstStyle/>
          <a:p>
            <a:pPr marL="271145" indent="-259079" algn="just">
              <a:lnSpc>
                <a:spcPct val="100000"/>
              </a:lnSpc>
              <a:buChar char="•"/>
              <a:tabLst>
                <a:tab pos="271780" algn="l"/>
              </a:tabLst>
            </a:pPr>
            <a:r>
              <a:rPr lang="en-US" sz="2400" spc="-15" dirty="0">
                <a:latin typeface="Times New Roman" panose="02020603050405020304" pitchFamily="18" charset="0"/>
                <a:cs typeface="Times New Roman" panose="02020603050405020304" pitchFamily="18" charset="0"/>
              </a:rPr>
              <a:t>Detailed</a:t>
            </a:r>
            <a:r>
              <a:rPr lang="en-US" sz="2400" spc="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lists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equipment</a:t>
            </a:r>
            <a:r>
              <a:rPr lang="en-US" sz="2400" spc="3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owned</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or</a:t>
            </a:r>
            <a:r>
              <a:rPr lang="en-US" sz="240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to</a:t>
            </a:r>
            <a:r>
              <a:rPr lang="en-US" sz="2400" spc="-5" dirty="0">
                <a:latin typeface="Times New Roman" panose="02020603050405020304" pitchFamily="18" charset="0"/>
                <a:cs typeface="Times New Roman" panose="02020603050405020304" pitchFamily="18" charset="0"/>
              </a:rPr>
              <a:t> be</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purchased</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spcBef>
                <a:spcPts val="5"/>
              </a:spcBef>
              <a:buChar char="•"/>
              <a:tabLst>
                <a:tab pos="271780" algn="l"/>
              </a:tabLst>
            </a:pPr>
            <a:r>
              <a:rPr lang="en-US" sz="2400" spc="-10" dirty="0">
                <a:latin typeface="Times New Roman" panose="02020603050405020304" pitchFamily="18" charset="0"/>
                <a:cs typeface="Times New Roman" panose="02020603050405020304" pitchFamily="18" charset="0"/>
              </a:rPr>
              <a:t>Copies</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leases and</a:t>
            </a:r>
            <a:r>
              <a:rPr lang="en-US" sz="240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contracts</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5" dirty="0">
                <a:latin typeface="Times New Roman" panose="02020603050405020304" pitchFamily="18" charset="0"/>
                <a:cs typeface="Times New Roman" panose="02020603050405020304" pitchFamily="18" charset="0"/>
              </a:rPr>
              <a:t>Letters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 </a:t>
            </a:r>
            <a:r>
              <a:rPr lang="en-US" sz="2400" spc="-10" dirty="0">
                <a:latin typeface="Times New Roman" panose="02020603050405020304" pitchFamily="18" charset="0"/>
                <a:cs typeface="Times New Roman" panose="02020603050405020304" pitchFamily="18" charset="0"/>
              </a:rPr>
              <a:t>support</a:t>
            </a:r>
            <a:r>
              <a:rPr lang="en-US" sz="2400" spc="4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from</a:t>
            </a:r>
            <a:r>
              <a:rPr lang="en-US" sz="2400" spc="1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future</a:t>
            </a:r>
            <a:r>
              <a:rPr lang="en-US" sz="2400" spc="1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customers</a:t>
            </a:r>
            <a:endParaRPr lang="en-US" sz="2400" dirty="0">
              <a:latin typeface="Times New Roman" panose="02020603050405020304" pitchFamily="18" charset="0"/>
              <a:cs typeface="Times New Roman" panose="02020603050405020304" pitchFamily="18" charset="0"/>
            </a:endParaRPr>
          </a:p>
          <a:p>
            <a:pPr marL="12700" marR="5080"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  Any</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other</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materials</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needed</a:t>
            </a:r>
            <a:r>
              <a:rPr lang="en-US" sz="2400" spc="1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to</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support</a:t>
            </a:r>
            <a:r>
              <a:rPr lang="en-US" sz="2400" spc="5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the </a:t>
            </a:r>
            <a:r>
              <a:rPr lang="en-US" sz="2400" spc="-10" dirty="0">
                <a:latin typeface="Times New Roman" panose="02020603050405020304" pitchFamily="18" charset="0"/>
                <a:cs typeface="Times New Roman" panose="02020603050405020304" pitchFamily="18" charset="0"/>
              </a:rPr>
              <a:t>assumptions</a:t>
            </a:r>
            <a:r>
              <a:rPr lang="en-US" sz="2400" spc="5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in </a:t>
            </a:r>
            <a:r>
              <a:rPr lang="en-US" sz="2400" spc="-61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this</a:t>
            </a:r>
            <a:r>
              <a:rPr lang="en-US" sz="2400" spc="1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plan</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Market</a:t>
            </a:r>
            <a:r>
              <a:rPr lang="en-US" sz="2400" spc="-2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research</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studies</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List</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 assets</a:t>
            </a:r>
            <a:r>
              <a:rPr lang="en-US" sz="2400" spc="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available</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as</a:t>
            </a:r>
            <a:r>
              <a:rPr lang="en-US" sz="2400" spc="1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collateral</a:t>
            </a:r>
            <a:r>
              <a:rPr lang="en-US" sz="2400" spc="-15"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for</a:t>
            </a:r>
            <a:r>
              <a:rPr lang="en-US" sz="2400" spc="-5" dirty="0">
                <a:latin typeface="Times New Roman" panose="02020603050405020304" pitchFamily="18" charset="0"/>
                <a:cs typeface="Times New Roman" panose="02020603050405020304" pitchFamily="18" charset="0"/>
              </a:rPr>
              <a:t> a </a:t>
            </a:r>
            <a:r>
              <a:rPr lang="en-US" sz="2400" spc="-10" dirty="0">
                <a:latin typeface="Times New Roman" panose="02020603050405020304" pitchFamily="18" charset="0"/>
                <a:cs typeface="Times New Roman" panose="02020603050405020304" pitchFamily="18" charset="0"/>
              </a:rPr>
              <a:t>loan</a:t>
            </a: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7728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2400" y="522435"/>
            <a:ext cx="8627745" cy="2906565"/>
          </a:xfrm>
          <a:prstGeom prst="rect">
            <a:avLst/>
          </a:prstGeom>
        </p:spPr>
        <p:txBody>
          <a:bodyPr vert="horz" wrap="square" lIns="0" tIns="13335" rIns="0" bIns="0" rtlCol="0">
            <a:spAutoFit/>
          </a:bodyPr>
          <a:lstStyle/>
          <a:p>
            <a:pPr marL="8890" algn="ctr">
              <a:lnSpc>
                <a:spcPct val="100000"/>
              </a:lnSpc>
              <a:spcBef>
                <a:spcPts val="105"/>
              </a:spcBef>
            </a:pPr>
            <a:r>
              <a:rPr sz="4400" b="1" spc="-15" dirty="0">
                <a:solidFill>
                  <a:srgbClr val="E36C09"/>
                </a:solidFill>
                <a:latin typeface="Calibri"/>
                <a:cs typeface="Calibri"/>
              </a:rPr>
              <a:t>Refining</a:t>
            </a:r>
            <a:r>
              <a:rPr sz="4400" b="1" spc="-50" dirty="0">
                <a:solidFill>
                  <a:srgbClr val="E36C09"/>
                </a:solidFill>
                <a:latin typeface="Calibri"/>
                <a:cs typeface="Calibri"/>
              </a:rPr>
              <a:t> </a:t>
            </a:r>
            <a:r>
              <a:rPr sz="4400" b="1" dirty="0">
                <a:solidFill>
                  <a:srgbClr val="E36C09"/>
                </a:solidFill>
                <a:latin typeface="Calibri"/>
                <a:cs typeface="Calibri"/>
              </a:rPr>
              <a:t>the</a:t>
            </a:r>
            <a:r>
              <a:rPr sz="4400" b="1" spc="-20" dirty="0">
                <a:solidFill>
                  <a:srgbClr val="E36C09"/>
                </a:solidFill>
                <a:latin typeface="Calibri"/>
                <a:cs typeface="Calibri"/>
              </a:rPr>
              <a:t> </a:t>
            </a:r>
            <a:r>
              <a:rPr sz="4400" b="1" spc="-5" dirty="0">
                <a:solidFill>
                  <a:srgbClr val="E36C09"/>
                </a:solidFill>
                <a:latin typeface="Calibri"/>
                <a:cs typeface="Calibri"/>
              </a:rPr>
              <a:t>Plan</a:t>
            </a:r>
            <a:endParaRPr sz="4400" dirty="0">
              <a:latin typeface="Calibri"/>
              <a:cs typeface="Calibri"/>
            </a:endParaRPr>
          </a:p>
          <a:p>
            <a:pPr marL="12700" marR="5080" indent="5715" algn="ctr">
              <a:lnSpc>
                <a:spcPct val="100000"/>
              </a:lnSpc>
            </a:pPr>
            <a:r>
              <a:rPr sz="3600" spc="-5" dirty="0">
                <a:latin typeface="Calibri"/>
                <a:cs typeface="Calibri"/>
              </a:rPr>
              <a:t>The generic </a:t>
            </a:r>
            <a:r>
              <a:rPr sz="3600" dirty="0">
                <a:latin typeface="Calibri"/>
                <a:cs typeface="Calibri"/>
              </a:rPr>
              <a:t>business </a:t>
            </a:r>
            <a:r>
              <a:rPr sz="3600" spc="-5" dirty="0">
                <a:latin typeface="Calibri"/>
                <a:cs typeface="Calibri"/>
              </a:rPr>
              <a:t>plan </a:t>
            </a:r>
            <a:r>
              <a:rPr sz="3600" spc="-15" dirty="0">
                <a:latin typeface="Calibri"/>
                <a:cs typeface="Calibri"/>
              </a:rPr>
              <a:t>presented </a:t>
            </a:r>
            <a:r>
              <a:rPr sz="3600" spc="-10" dirty="0">
                <a:latin typeface="Calibri"/>
                <a:cs typeface="Calibri"/>
              </a:rPr>
              <a:t> above</a:t>
            </a:r>
            <a:r>
              <a:rPr sz="3600" spc="-5" dirty="0">
                <a:latin typeface="Calibri"/>
                <a:cs typeface="Calibri"/>
              </a:rPr>
              <a:t> should</a:t>
            </a:r>
            <a:r>
              <a:rPr sz="3600" spc="-10" dirty="0">
                <a:latin typeface="Calibri"/>
                <a:cs typeface="Calibri"/>
              </a:rPr>
              <a:t> </a:t>
            </a:r>
            <a:r>
              <a:rPr sz="3600" spc="-5" dirty="0">
                <a:latin typeface="Calibri"/>
                <a:cs typeface="Calibri"/>
              </a:rPr>
              <a:t>be</a:t>
            </a:r>
            <a:r>
              <a:rPr sz="3600" spc="-10" dirty="0">
                <a:latin typeface="Calibri"/>
                <a:cs typeface="Calibri"/>
              </a:rPr>
              <a:t> </a:t>
            </a:r>
            <a:r>
              <a:rPr sz="3600" dirty="0">
                <a:latin typeface="Calibri"/>
                <a:cs typeface="Calibri"/>
              </a:rPr>
              <a:t>modified</a:t>
            </a:r>
            <a:r>
              <a:rPr sz="3600" spc="-5" dirty="0">
                <a:latin typeface="Calibri"/>
                <a:cs typeface="Calibri"/>
              </a:rPr>
              <a:t> </a:t>
            </a:r>
            <a:r>
              <a:rPr sz="3600" spc="-30" dirty="0">
                <a:latin typeface="Calibri"/>
                <a:cs typeface="Calibri"/>
              </a:rPr>
              <a:t>to</a:t>
            </a:r>
            <a:r>
              <a:rPr sz="3600" spc="-10" dirty="0">
                <a:latin typeface="Calibri"/>
                <a:cs typeface="Calibri"/>
              </a:rPr>
              <a:t> </a:t>
            </a:r>
            <a:r>
              <a:rPr sz="3600" dirty="0">
                <a:latin typeface="Calibri"/>
                <a:cs typeface="Calibri"/>
              </a:rPr>
              <a:t>suit</a:t>
            </a:r>
            <a:r>
              <a:rPr sz="3600" spc="-10" dirty="0">
                <a:latin typeface="Calibri"/>
                <a:cs typeface="Calibri"/>
              </a:rPr>
              <a:t> </a:t>
            </a:r>
            <a:r>
              <a:rPr sz="3600" spc="-20" dirty="0">
                <a:latin typeface="Calibri"/>
                <a:cs typeface="Calibri"/>
              </a:rPr>
              <a:t>your </a:t>
            </a:r>
            <a:r>
              <a:rPr sz="3600" spc="-980" dirty="0">
                <a:latin typeface="Calibri"/>
                <a:cs typeface="Calibri"/>
              </a:rPr>
              <a:t> </a:t>
            </a:r>
            <a:r>
              <a:rPr sz="3600" spc="-5" dirty="0">
                <a:latin typeface="Calibri"/>
                <a:cs typeface="Calibri"/>
              </a:rPr>
              <a:t>specific type </a:t>
            </a:r>
            <a:r>
              <a:rPr sz="3600" dirty="0">
                <a:latin typeface="Calibri"/>
                <a:cs typeface="Calibri"/>
              </a:rPr>
              <a:t>of </a:t>
            </a:r>
            <a:r>
              <a:rPr sz="3600" spc="-5" dirty="0">
                <a:latin typeface="Calibri"/>
                <a:cs typeface="Calibri"/>
              </a:rPr>
              <a:t>business </a:t>
            </a:r>
            <a:r>
              <a:rPr sz="3600" dirty="0">
                <a:latin typeface="Calibri"/>
                <a:cs typeface="Calibri"/>
              </a:rPr>
              <a:t>and the </a:t>
            </a:r>
            <a:r>
              <a:rPr sz="3600" spc="5" dirty="0">
                <a:latin typeface="Calibri"/>
                <a:cs typeface="Calibri"/>
              </a:rPr>
              <a:t> </a:t>
            </a:r>
            <a:r>
              <a:rPr sz="3600" dirty="0">
                <a:latin typeface="Calibri"/>
                <a:cs typeface="Calibri"/>
              </a:rPr>
              <a:t>audience</a:t>
            </a:r>
            <a:r>
              <a:rPr sz="3600" spc="-5" dirty="0">
                <a:latin typeface="Calibri"/>
                <a:cs typeface="Calibri"/>
              </a:rPr>
              <a:t> </a:t>
            </a:r>
            <a:r>
              <a:rPr sz="3600" spc="-35" dirty="0">
                <a:latin typeface="Calibri"/>
                <a:cs typeface="Calibri"/>
              </a:rPr>
              <a:t>for</a:t>
            </a:r>
            <a:r>
              <a:rPr sz="3600" spc="-5" dirty="0">
                <a:latin typeface="Calibri"/>
                <a:cs typeface="Calibri"/>
              </a:rPr>
              <a:t> </a:t>
            </a:r>
            <a:r>
              <a:rPr sz="3600" dirty="0">
                <a:latin typeface="Calibri"/>
                <a:cs typeface="Calibri"/>
              </a:rPr>
              <a:t>which</a:t>
            </a:r>
            <a:r>
              <a:rPr sz="3600" spc="-5" dirty="0">
                <a:latin typeface="Calibri"/>
                <a:cs typeface="Calibri"/>
              </a:rPr>
              <a:t> </a:t>
            </a:r>
            <a:r>
              <a:rPr sz="3600" dirty="0">
                <a:latin typeface="Calibri"/>
                <a:cs typeface="Calibri"/>
              </a:rPr>
              <a:t>the plan is</a:t>
            </a:r>
            <a:r>
              <a:rPr sz="3600" spc="5" dirty="0">
                <a:latin typeface="Calibri"/>
                <a:cs typeface="Calibri"/>
              </a:rPr>
              <a:t> </a:t>
            </a:r>
            <a:r>
              <a:rPr sz="3600" spc="-20" dirty="0">
                <a:latin typeface="Calibri"/>
                <a:cs typeface="Calibri"/>
              </a:rPr>
              <a:t>written</a:t>
            </a:r>
            <a:endParaRPr sz="36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500771" y="730581"/>
            <a:ext cx="8615045" cy="5934317"/>
          </a:xfrm>
          <a:prstGeom prst="rect">
            <a:avLst/>
          </a:prstGeom>
        </p:spPr>
        <p:txBody>
          <a:bodyPr vert="horz" wrap="square" lIns="0" tIns="12065" rIns="0" bIns="0" rtlCol="0">
            <a:spAutoFit/>
          </a:bodyPr>
          <a:lstStyle/>
          <a:p>
            <a:pPr rtl="0"/>
            <a:r>
              <a:rPr sz="2400" b="1" spc="-20" dirty="0">
                <a:latin typeface="Times New Roman" panose="02020603050405020304" pitchFamily="18" charset="0"/>
                <a:cs typeface="Times New Roman" panose="02020603050405020304" pitchFamily="18" charset="0"/>
              </a:rPr>
              <a:t>For </a:t>
            </a:r>
            <a:r>
              <a:rPr sz="2400" b="1" spc="-5" dirty="0">
                <a:latin typeface="Times New Roman" panose="02020603050405020304" pitchFamily="18" charset="0"/>
                <a:cs typeface="Times New Roman" panose="02020603050405020304" pitchFamily="18" charset="0"/>
              </a:rPr>
              <a:t>Raising</a:t>
            </a:r>
            <a:endParaRPr lang="en-US" sz="2400" b="1" spc="-5" dirty="0">
              <a:latin typeface="Times New Roman" panose="02020603050405020304" pitchFamily="18" charset="0"/>
              <a:cs typeface="Times New Roman" panose="02020603050405020304" pitchFamily="18" charset="0"/>
            </a:endParaRPr>
          </a:p>
          <a:p>
            <a:pPr rtl="0"/>
            <a:r>
              <a:rPr lang="en-US" sz="2400" b="1" spc="-5" dirty="0">
                <a:latin typeface="Times New Roman" panose="02020603050405020304" pitchFamily="18" charset="0"/>
                <a:cs typeface="Times New Roman" panose="02020603050405020304" pitchFamily="18" charset="0"/>
              </a:rPr>
              <a:t>C</a:t>
            </a:r>
            <a:r>
              <a:rPr sz="2400" b="1" spc="-10" dirty="0">
                <a:latin typeface="Times New Roman" panose="02020603050405020304" pitchFamily="18" charset="0"/>
                <a:cs typeface="Times New Roman" panose="02020603050405020304" pitchFamily="18" charset="0"/>
              </a:rPr>
              <a:t>apital </a:t>
            </a:r>
            <a:r>
              <a:rPr sz="2400" b="1" spc="-620" dirty="0">
                <a:latin typeface="Times New Roman" panose="02020603050405020304" pitchFamily="18" charset="0"/>
                <a:cs typeface="Times New Roman" panose="02020603050405020304" pitchFamily="18" charset="0"/>
              </a:rPr>
              <a:t> </a:t>
            </a:r>
            <a:r>
              <a:rPr sz="2400" b="1" spc="-15" dirty="0">
                <a:latin typeface="Times New Roman" panose="02020603050405020304" pitchFamily="18" charset="0"/>
                <a:cs typeface="Times New Roman" panose="02020603050405020304" pitchFamily="18" charset="0"/>
              </a:rPr>
              <a:t>For</a:t>
            </a:r>
            <a:r>
              <a:rPr sz="2400" b="1"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Bankers</a:t>
            </a:r>
            <a:endParaRPr lang="en-US" sz="2400" b="1" spc="-2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Amount of Loan:</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Clearly state the loan amount requested.</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How Funds Will Be Used:</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Specify exactly how loan funds will be allocated.</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What This Will Accomplish:</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Explain how funds strengthen the business.</a:t>
            </a: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Requested Repayment Terms:</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Outline the repayment schedule (years).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Collateral Offered:</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List the collateral securing the loan.</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Existing Liens Against Collateral:</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Include any current liens on collateral.</a:t>
            </a:r>
            <a:endParaRPr lang="en-US" sz="2400" dirty="0">
              <a:latin typeface="Times New Roman" panose="02020603050405020304" pitchFamily="18" charset="0"/>
              <a:cs typeface="Times New Roman" panose="02020603050405020304" pitchFamily="18" charset="0"/>
            </a:endParaRPr>
          </a:p>
          <a:p>
            <a:pPr rtl="0"/>
            <a:endParaRPr lang="en-US" sz="2400" dirty="0">
              <a:latin typeface="Times New Roman" panose="02020603050405020304" pitchFamily="18" charset="0"/>
              <a:cs typeface="Times New Roman" panose="02020603050405020304" pitchFamily="18" charset="0"/>
            </a:endParaRPr>
          </a:p>
          <a:p>
            <a:pPr marL="12700" marR="5882005">
              <a:lnSpc>
                <a:spcPct val="100000"/>
              </a:lnSpc>
              <a:spcBef>
                <a:spcPts val="95"/>
              </a:spcBef>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213995" y="838200"/>
            <a:ext cx="8930005" cy="7412286"/>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imes New Roman" panose="02020603050405020304" pitchFamily="18" charset="0"/>
                <a:cs typeface="Times New Roman" panose="02020603050405020304" pitchFamily="18" charset="0"/>
              </a:rPr>
              <a:t>For</a:t>
            </a:r>
            <a:r>
              <a:rPr sz="2400" b="1" spc="-4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Investors</a:t>
            </a:r>
            <a:endParaRPr lang="en-US" sz="2400" b="1" spc="-2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Funds Needed Short-Term: </a:t>
            </a:r>
          </a:p>
          <a:p>
            <a:pPr rtl="0"/>
            <a:r>
              <a:rPr lang="en-US" sz="2400" dirty="0">
                <a:effectLst/>
                <a:latin typeface="Times New Roman" panose="02020603050405020304" pitchFamily="18" charset="0"/>
                <a:cs typeface="Times New Roman" panose="02020603050405020304" pitchFamily="18" charset="0"/>
              </a:rPr>
              <a:t> capital for growth opportunities.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Funds Needed in 2-5 Years: </a:t>
            </a:r>
          </a:p>
          <a:p>
            <a:pPr rtl="0"/>
            <a:r>
              <a:rPr lang="en-US" sz="2400" dirty="0">
                <a:effectLst/>
                <a:latin typeface="Times New Roman" panose="02020603050405020304" pitchFamily="18" charset="0"/>
                <a:cs typeface="Times New Roman" panose="02020603050405020304" pitchFamily="18" charset="0"/>
              </a:rPr>
              <a:t>Scaling and market expansion goals.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How Funds Will Be Used: </a:t>
            </a:r>
          </a:p>
          <a:p>
            <a:pPr rtl="0"/>
            <a:r>
              <a:rPr lang="en-US" sz="2400" dirty="0">
                <a:effectLst/>
                <a:latin typeface="Times New Roman" panose="02020603050405020304" pitchFamily="18" charset="0"/>
                <a:cs typeface="Times New Roman" panose="02020603050405020304" pitchFamily="18" charset="0"/>
              </a:rPr>
              <a:t>Product development, marketing, operational expansion.</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Estimated Return on Investment:</a:t>
            </a:r>
          </a:p>
          <a:p>
            <a:pPr rtl="0"/>
            <a:r>
              <a:rPr lang="en-US" sz="2400" dirty="0">
                <a:effectLst/>
                <a:latin typeface="Times New Roman" panose="02020603050405020304" pitchFamily="18" charset="0"/>
                <a:cs typeface="Times New Roman" panose="02020603050405020304" pitchFamily="18" charset="0"/>
              </a:rPr>
              <a:t> Projected high returns for investors.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Exit Strategy for Investors:</a:t>
            </a:r>
          </a:p>
          <a:p>
            <a:pPr rtl="0"/>
            <a:r>
              <a:rPr lang="en-US" sz="2400" dirty="0">
                <a:effectLst/>
                <a:latin typeface="Times New Roman" panose="02020603050405020304" pitchFamily="18" charset="0"/>
                <a:cs typeface="Times New Roman" panose="02020603050405020304" pitchFamily="18" charset="0"/>
              </a:rPr>
              <a:t> IPO, sale, or buyback options.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Investor Involvement and Ownership: </a:t>
            </a:r>
          </a:p>
          <a:p>
            <a:pPr rtl="0"/>
            <a:r>
              <a:rPr lang="en-US" sz="2400" dirty="0">
                <a:effectLst/>
                <a:latin typeface="Times New Roman" panose="02020603050405020304" pitchFamily="18" charset="0"/>
                <a:cs typeface="Times New Roman" panose="02020603050405020304" pitchFamily="18" charset="0"/>
              </a:rPr>
              <a:t>Equity offering, board or advisory role.</a:t>
            </a:r>
            <a:endParaRPr lang="en-US" sz="2400" dirty="0">
              <a:latin typeface="Times New Roman" panose="02020603050405020304" pitchFamily="18" charset="0"/>
              <a:cs typeface="Times New Roman" panose="02020603050405020304" pitchFamily="18" charset="0"/>
            </a:endParaRPr>
          </a:p>
          <a:p>
            <a:pPr rtl="0"/>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rtl="0"/>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rtl="0"/>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12700">
              <a:lnSpc>
                <a:spcPct val="100000"/>
              </a:lnSpc>
              <a:spcBef>
                <a:spcPts val="100"/>
              </a:spcBef>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8115"/>
            <a:ext cx="6473190" cy="1704339"/>
          </a:xfrm>
          <a:prstGeom prst="rect">
            <a:avLst/>
          </a:prstGeom>
        </p:spPr>
        <p:txBody>
          <a:bodyPr vert="horz" wrap="square" lIns="0" tIns="191770" rIns="0" bIns="0" rtlCol="0">
            <a:spAutoFit/>
          </a:bodyPr>
          <a:lstStyle/>
          <a:p>
            <a:pPr marL="2524125">
              <a:lnSpc>
                <a:spcPct val="100000"/>
              </a:lnSpc>
              <a:spcBef>
                <a:spcPts val="1510"/>
              </a:spcBef>
            </a:pPr>
            <a:r>
              <a:rPr sz="4400" spc="-15" dirty="0"/>
              <a:t>Refining</a:t>
            </a:r>
            <a:r>
              <a:rPr sz="4400" spc="-80" dirty="0"/>
              <a:t> </a:t>
            </a:r>
            <a:r>
              <a:rPr sz="4400" dirty="0"/>
              <a:t>the</a:t>
            </a:r>
            <a:r>
              <a:rPr sz="4400" spc="-30" dirty="0"/>
              <a:t> </a:t>
            </a:r>
            <a:r>
              <a:rPr sz="4400" spc="-5" dirty="0"/>
              <a:t>Plan</a:t>
            </a:r>
            <a:endParaRPr sz="4400" dirty="0"/>
          </a:p>
          <a:p>
            <a:pPr marL="12700" marR="3884929" algn="ctr">
              <a:lnSpc>
                <a:spcPct val="100000"/>
              </a:lnSpc>
              <a:spcBef>
                <a:spcPts val="765"/>
              </a:spcBef>
            </a:pPr>
            <a:r>
              <a:rPr sz="2400" spc="-10" dirty="0">
                <a:solidFill>
                  <a:srgbClr val="000000"/>
                </a:solidFill>
              </a:rPr>
              <a:t>For</a:t>
            </a:r>
            <a:r>
              <a:rPr sz="2400" spc="-40" dirty="0">
                <a:solidFill>
                  <a:srgbClr val="000000"/>
                </a:solidFill>
              </a:rPr>
              <a:t> </a:t>
            </a:r>
            <a:r>
              <a:rPr sz="2400" spc="-20" dirty="0">
                <a:solidFill>
                  <a:srgbClr val="000000"/>
                </a:solidFill>
              </a:rPr>
              <a:t>Type </a:t>
            </a:r>
            <a:r>
              <a:rPr sz="2400" dirty="0">
                <a:solidFill>
                  <a:srgbClr val="000000"/>
                </a:solidFill>
              </a:rPr>
              <a:t>of</a:t>
            </a:r>
            <a:r>
              <a:rPr sz="2400" spc="-35" dirty="0">
                <a:solidFill>
                  <a:srgbClr val="000000"/>
                </a:solidFill>
              </a:rPr>
              <a:t> </a:t>
            </a:r>
            <a:r>
              <a:rPr sz="2400" spc="-5" dirty="0">
                <a:solidFill>
                  <a:srgbClr val="000000"/>
                </a:solidFill>
              </a:rPr>
              <a:t>Business </a:t>
            </a:r>
            <a:br>
              <a:rPr lang="en-US" sz="2400" spc="-5" dirty="0">
                <a:solidFill>
                  <a:srgbClr val="000000"/>
                </a:solidFill>
              </a:rPr>
            </a:br>
            <a:r>
              <a:rPr sz="2400" spc="-530" dirty="0">
                <a:solidFill>
                  <a:srgbClr val="000000"/>
                </a:solidFill>
              </a:rPr>
              <a:t> </a:t>
            </a:r>
            <a:r>
              <a:rPr sz="2400" spc="-10" dirty="0">
                <a:solidFill>
                  <a:srgbClr val="000000"/>
                </a:solidFill>
              </a:rPr>
              <a:t>Manufacturing</a:t>
            </a:r>
            <a:endParaRPr sz="2400" dirty="0"/>
          </a:p>
        </p:txBody>
      </p:sp>
      <p:sp>
        <p:nvSpPr>
          <p:cNvPr id="3" name="object 3"/>
          <p:cNvSpPr txBox="1"/>
          <p:nvPr/>
        </p:nvSpPr>
        <p:spPr>
          <a:xfrm>
            <a:off x="281940" y="1896108"/>
            <a:ext cx="8862060" cy="4826962"/>
          </a:xfrm>
          <a:prstGeom prst="rect">
            <a:avLst/>
          </a:prstGeom>
        </p:spPr>
        <p:txBody>
          <a:bodyPr vert="horz" wrap="square" lIns="0" tIns="12700" rIns="0" bIns="0" rtlCol="0">
            <a:spAutoFit/>
          </a:bodyPr>
          <a:lstStyle/>
          <a:p>
            <a:pPr marL="342900" indent="-342900" rtl="0">
              <a:buFont typeface="Arial" panose="020B0604020202020204" pitchFamily="34" charset="0"/>
              <a:buChar char="•"/>
            </a:pPr>
            <a:r>
              <a:rPr lang="en-US" sz="2400" b="1" dirty="0">
                <a:effectLst/>
              </a:rPr>
              <a:t>Planned Production Levels:</a:t>
            </a:r>
          </a:p>
          <a:p>
            <a:pPr rtl="0"/>
            <a:r>
              <a:rPr lang="en-US" sz="2400" dirty="0">
                <a:effectLst/>
              </a:rPr>
              <a:t> Set targets for product output.</a:t>
            </a:r>
            <a:endParaRPr lang="en-US" sz="2400" dirty="0"/>
          </a:p>
          <a:p>
            <a:pPr marL="342900" indent="-342900" rtl="0">
              <a:buFont typeface="Arial" panose="020B0604020202020204" pitchFamily="34" charset="0"/>
              <a:buChar char="•"/>
            </a:pPr>
            <a:r>
              <a:rPr lang="en-US" sz="2400" b="1" dirty="0">
                <a:effectLst/>
              </a:rPr>
              <a:t>Production Cost Comparison: </a:t>
            </a:r>
          </a:p>
          <a:p>
            <a:pPr rtl="0"/>
            <a:r>
              <a:rPr lang="en-US" sz="2400" dirty="0">
                <a:effectLst/>
              </a:rPr>
              <a:t>Compare direct/indirect costs to industry averages.</a:t>
            </a:r>
            <a:endParaRPr lang="en-US" sz="2400" dirty="0"/>
          </a:p>
          <a:p>
            <a:pPr marL="342900" indent="-342900" rtl="0">
              <a:buFont typeface="Arial" panose="020B0604020202020204" pitchFamily="34" charset="0"/>
              <a:buChar char="•"/>
            </a:pPr>
            <a:r>
              <a:rPr lang="en-US" sz="2400" b="1" dirty="0">
                <a:effectLst/>
              </a:rPr>
              <a:t>Product Line Pricing:</a:t>
            </a:r>
          </a:p>
          <a:p>
            <a:pPr rtl="0"/>
            <a:r>
              <a:rPr lang="en-US" sz="2400" dirty="0">
                <a:effectLst/>
              </a:rPr>
              <a:t> Define prices for each product.</a:t>
            </a:r>
            <a:endParaRPr lang="en-US" sz="2400" dirty="0"/>
          </a:p>
          <a:p>
            <a:pPr marL="342900" indent="-342900" rtl="0">
              <a:buFont typeface="Arial" panose="020B0604020202020204" pitchFamily="34" charset="0"/>
              <a:buChar char="•"/>
            </a:pPr>
            <a:r>
              <a:rPr lang="en-US" sz="2400" b="1" dirty="0">
                <a:effectLst/>
              </a:rPr>
              <a:t>Gross Profit Margin:</a:t>
            </a:r>
          </a:p>
          <a:p>
            <a:pPr rtl="0"/>
            <a:r>
              <a:rPr lang="en-US" sz="2400" dirty="0">
                <a:effectLst/>
              </a:rPr>
              <a:t> Overall margin and per product line.</a:t>
            </a:r>
            <a:endParaRPr lang="en-US" sz="2400" dirty="0"/>
          </a:p>
          <a:p>
            <a:pPr marL="342900" indent="-342900" rtl="0">
              <a:buFont typeface="Arial" panose="020B0604020202020204" pitchFamily="34" charset="0"/>
              <a:buChar char="•"/>
            </a:pPr>
            <a:r>
              <a:rPr lang="en-US" sz="2400" b="1" dirty="0">
                <a:effectLst/>
              </a:rPr>
              <a:t>Production Capacity Limits:  </a:t>
            </a:r>
          </a:p>
          <a:p>
            <a:pPr rtl="0"/>
            <a:r>
              <a:rPr lang="en-US" sz="2400" dirty="0">
                <a:effectLst/>
              </a:rPr>
              <a:t>Physical plant and equipment constraints.</a:t>
            </a:r>
            <a:endParaRPr lang="en-US" sz="2400" dirty="0"/>
          </a:p>
          <a:p>
            <a:pPr marL="342900" indent="-342900" rtl="0">
              <a:buFont typeface="Arial" panose="020B0604020202020204" pitchFamily="34" charset="0"/>
              <a:buChar char="•"/>
            </a:pPr>
            <a:r>
              <a:rPr lang="en-US" sz="2400" b="1" dirty="0">
                <a:effectLst/>
              </a:rPr>
              <a:t>Inventory Management &amp; New Products:</a:t>
            </a:r>
          </a:p>
          <a:p>
            <a:pPr rtl="0"/>
            <a:r>
              <a:rPr lang="en-US" sz="2400" dirty="0">
                <a:effectLst/>
              </a:rPr>
              <a:t> Procedures and upcoming product developments.</a:t>
            </a:r>
            <a:endParaRPr lang="en-US" sz="2400" dirty="0"/>
          </a:p>
          <a:p>
            <a:pPr marL="233045" indent="-220979">
              <a:lnSpc>
                <a:spcPct val="100000"/>
              </a:lnSpc>
              <a:spcBef>
                <a:spcPts val="100"/>
              </a:spcBef>
              <a:buChar char="•"/>
              <a:tabLst>
                <a:tab pos="233679" algn="l"/>
              </a:tabLst>
            </a:pPr>
            <a:endParaRPr sz="24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382305" y="697230"/>
            <a:ext cx="8743950" cy="7794441"/>
          </a:xfrm>
          <a:prstGeom prst="rect">
            <a:avLst/>
          </a:prstGeom>
        </p:spPr>
        <p:txBody>
          <a:bodyPr vert="horz" wrap="square" lIns="0" tIns="12700" rIns="0" bIns="0" rtlCol="0">
            <a:spAutoFit/>
          </a:bodyPr>
          <a:lstStyle/>
          <a:p>
            <a:pPr marL="12700">
              <a:lnSpc>
                <a:spcPct val="100000"/>
              </a:lnSpc>
              <a:spcBef>
                <a:spcPts val="100"/>
              </a:spcBef>
            </a:pPr>
            <a:r>
              <a:rPr lang="en-US" sz="2400" b="1" dirty="0">
                <a:latin typeface="Calibri"/>
                <a:cs typeface="Calibri"/>
              </a:rPr>
              <a:t>Service</a:t>
            </a:r>
            <a:r>
              <a:rPr lang="en-US" sz="2400" b="1" spc="-65" dirty="0">
                <a:latin typeface="Calibri"/>
                <a:cs typeface="Calibri"/>
              </a:rPr>
              <a:t> </a:t>
            </a:r>
            <a:r>
              <a:rPr lang="en-US" sz="2400" b="1" spc="-5" dirty="0">
                <a:latin typeface="Calibri"/>
                <a:cs typeface="Calibri"/>
              </a:rPr>
              <a:t>Businesses</a:t>
            </a:r>
          </a:p>
          <a:p>
            <a:pPr marL="12700">
              <a:lnSpc>
                <a:spcPct val="100000"/>
              </a:lnSpc>
              <a:spcBef>
                <a:spcPts val="100"/>
              </a:spcBef>
            </a:pPr>
            <a:endParaRPr lang="en-US" sz="2400" b="1" spc="-5" dirty="0">
              <a:latin typeface="Calibri"/>
              <a:cs typeface="Calibri"/>
            </a:endParaRPr>
          </a:p>
          <a:p>
            <a:pPr marL="342900" indent="-342900" rtl="0">
              <a:buFont typeface="Arial" panose="020B0604020202020204" pitchFamily="34" charset="0"/>
              <a:buChar char="•"/>
            </a:pPr>
            <a:r>
              <a:rPr lang="en-US" sz="2400" b="1" dirty="0">
                <a:effectLst/>
              </a:rPr>
              <a:t>Key Competitive Factors:</a:t>
            </a:r>
          </a:p>
          <a:p>
            <a:pPr rtl="0"/>
            <a:r>
              <a:rPr lang="en-US" sz="2400" dirty="0">
                <a:effectLst/>
              </a:rPr>
              <a:t> Pricing, quality, and service flexibility.</a:t>
            </a:r>
            <a:endParaRPr lang="en-US" sz="2400" dirty="0"/>
          </a:p>
          <a:p>
            <a:pPr marL="342900" indent="-342900" rtl="0">
              <a:buFont typeface="Arial" panose="020B0604020202020204" pitchFamily="34" charset="0"/>
              <a:buChar char="•"/>
            </a:pPr>
            <a:r>
              <a:rPr lang="en-US" sz="2400" b="1" dirty="0">
                <a:effectLst/>
              </a:rPr>
              <a:t>Pricing Methods: </a:t>
            </a:r>
          </a:p>
          <a:p>
            <a:pPr rtl="0"/>
            <a:r>
              <a:rPr lang="en-US" sz="2400" dirty="0">
                <a:effectLst/>
              </a:rPr>
              <a:t>Cost-plus, market-based, or competitive pricing.</a:t>
            </a:r>
            <a:endParaRPr lang="en-US" sz="2400" dirty="0"/>
          </a:p>
          <a:p>
            <a:pPr marL="342900" indent="-342900" rtl="0">
              <a:buFont typeface="Arial" panose="020B0604020202020204" pitchFamily="34" charset="0"/>
              <a:buChar char="•"/>
            </a:pPr>
            <a:r>
              <a:rPr lang="en-US" sz="2400" b="1" dirty="0">
                <a:effectLst/>
              </a:rPr>
              <a:t>Production Management System: </a:t>
            </a:r>
          </a:p>
          <a:p>
            <a:pPr rtl="0"/>
            <a:r>
              <a:rPr lang="en-US" sz="2400" dirty="0">
                <a:effectLst/>
              </a:rPr>
              <a:t>Efficient processes, timely service delivery.</a:t>
            </a:r>
            <a:endParaRPr lang="en-US" sz="2400" dirty="0"/>
          </a:p>
          <a:p>
            <a:pPr marL="342900" indent="-342900" rtl="0">
              <a:buFont typeface="Arial" panose="020B0604020202020204" pitchFamily="34" charset="0"/>
              <a:buChar char="•"/>
            </a:pPr>
            <a:r>
              <a:rPr lang="en-US" sz="2400" b="1" dirty="0">
                <a:effectLst/>
              </a:rPr>
              <a:t>Quality Control Procedures: </a:t>
            </a:r>
          </a:p>
          <a:p>
            <a:pPr rtl="0"/>
            <a:r>
              <a:rPr lang="en-US" sz="2400" dirty="0">
                <a:effectLst/>
              </a:rPr>
              <a:t>Industry standards, consistent service quality.</a:t>
            </a:r>
            <a:endParaRPr lang="en-US" sz="2400" dirty="0"/>
          </a:p>
          <a:p>
            <a:pPr marL="342900" indent="-342900" rtl="0">
              <a:buFont typeface="Arial" panose="020B0604020202020204" pitchFamily="34" charset="0"/>
              <a:buChar char="•"/>
            </a:pPr>
            <a:r>
              <a:rPr lang="en-US" sz="2400" b="1" dirty="0">
                <a:effectLst/>
              </a:rPr>
              <a:t>Labor Productivity Measurement: </a:t>
            </a:r>
          </a:p>
          <a:p>
            <a:pPr rtl="0"/>
            <a:r>
              <a:rPr lang="en-US" sz="2400" dirty="0">
                <a:effectLst/>
              </a:rPr>
              <a:t>Output per worker, efficiency tracking.</a:t>
            </a:r>
            <a:endParaRPr lang="en-US" sz="2400" dirty="0"/>
          </a:p>
          <a:p>
            <a:pPr marL="342900" indent="-342900" rtl="0">
              <a:buFont typeface="Arial" panose="020B0604020202020204" pitchFamily="34" charset="0"/>
              <a:buChar char="•"/>
            </a:pPr>
            <a:r>
              <a:rPr lang="en-US" sz="2400" b="1" dirty="0">
                <a:effectLst/>
              </a:rPr>
              <a:t>Subcontracting, Credit, and Client Strategy:</a:t>
            </a:r>
          </a:p>
          <a:p>
            <a:pPr rtl="0"/>
            <a:r>
              <a:rPr lang="en-US" sz="2400" dirty="0">
                <a:effectLst/>
              </a:rPr>
              <a:t> Subcontracting, payments, and client retention.</a:t>
            </a:r>
            <a:endParaRPr lang="en-US" sz="2400" dirty="0"/>
          </a:p>
          <a:p>
            <a:pPr rtl="0"/>
            <a:br>
              <a:rPr lang="en-US" sz="2400" dirty="0"/>
            </a:br>
            <a:endParaRPr lang="en-US" sz="2400" dirty="0"/>
          </a:p>
          <a:p>
            <a:pPr rtl="0"/>
            <a:br>
              <a:rPr lang="en-US" sz="2400" dirty="0"/>
            </a:br>
            <a:endParaRPr lang="en-US" sz="2400" dirty="0"/>
          </a:p>
          <a:p>
            <a:pPr rtl="0"/>
            <a:br>
              <a:rPr lang="en-US" sz="2400" dirty="0"/>
            </a:br>
            <a:endParaRPr lang="en-US" sz="2400" dirty="0"/>
          </a:p>
          <a:p>
            <a:pPr marL="12700">
              <a:lnSpc>
                <a:spcPct val="100000"/>
              </a:lnSpc>
              <a:spcBef>
                <a:spcPts val="100"/>
              </a:spcBef>
            </a:pPr>
            <a:endParaRPr lang="en-US" sz="24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1883" y="9855"/>
            <a:ext cx="2378075" cy="878840"/>
          </a:xfrm>
          <a:prstGeom prst="rect">
            <a:avLst/>
          </a:prstGeom>
        </p:spPr>
        <p:txBody>
          <a:bodyPr vert="horz" wrap="square" lIns="0" tIns="12065" rIns="0" bIns="0" rtlCol="0">
            <a:spAutoFit/>
          </a:bodyPr>
          <a:lstStyle/>
          <a:p>
            <a:pPr marL="499745" marR="5080" indent="-487680">
              <a:lnSpc>
                <a:spcPct val="100000"/>
              </a:lnSpc>
              <a:spcBef>
                <a:spcPts val="95"/>
              </a:spcBef>
            </a:pPr>
            <a:r>
              <a:rPr sz="2800" spc="-45" dirty="0"/>
              <a:t>STARTUP </a:t>
            </a:r>
            <a:r>
              <a:rPr sz="2800" spc="-35" dirty="0"/>
              <a:t>STORY </a:t>
            </a:r>
            <a:r>
              <a:rPr sz="2800" spc="-620" dirty="0"/>
              <a:t> </a:t>
            </a:r>
            <a:r>
              <a:rPr sz="2800" spc="-10" dirty="0"/>
              <a:t>FLIPKART</a:t>
            </a:r>
            <a:endParaRPr sz="2800"/>
          </a:p>
        </p:txBody>
      </p:sp>
      <p:sp>
        <p:nvSpPr>
          <p:cNvPr id="3" name="object 3"/>
          <p:cNvSpPr txBox="1"/>
          <p:nvPr/>
        </p:nvSpPr>
        <p:spPr>
          <a:xfrm>
            <a:off x="533400" y="685800"/>
            <a:ext cx="8484870" cy="2586355"/>
          </a:xfrm>
          <a:prstGeom prst="rect">
            <a:avLst/>
          </a:prstGeom>
        </p:spPr>
        <p:txBody>
          <a:bodyPr vert="horz" wrap="square" lIns="0" tIns="12065" rIns="0" bIns="0" rtlCol="0">
            <a:spAutoFit/>
          </a:bodyPr>
          <a:lstStyle/>
          <a:p>
            <a:pPr marL="12700">
              <a:lnSpc>
                <a:spcPct val="100000"/>
              </a:lnSpc>
              <a:spcBef>
                <a:spcPts val="95"/>
              </a:spcBef>
            </a:pPr>
            <a:r>
              <a:rPr sz="2800" b="1" spc="-30" dirty="0">
                <a:latin typeface="Calibri"/>
                <a:cs typeface="Calibri"/>
              </a:rPr>
              <a:t>HISTORY</a:t>
            </a:r>
            <a:endParaRPr sz="2800" dirty="0">
              <a:latin typeface="Calibri"/>
              <a:cs typeface="Calibri"/>
            </a:endParaRPr>
          </a:p>
          <a:p>
            <a:pPr>
              <a:lnSpc>
                <a:spcPct val="100000"/>
              </a:lnSpc>
              <a:spcBef>
                <a:spcPts val="5"/>
              </a:spcBef>
            </a:pPr>
            <a:endParaRPr sz="2750" dirty="0">
              <a:latin typeface="Calibri"/>
              <a:cs typeface="Calibri"/>
            </a:endParaRPr>
          </a:p>
          <a:p>
            <a:pPr marL="12700" marR="5080">
              <a:lnSpc>
                <a:spcPct val="100000"/>
              </a:lnSpc>
            </a:pPr>
            <a:r>
              <a:rPr sz="2800" dirty="0">
                <a:latin typeface="Calibri"/>
                <a:cs typeface="Calibri"/>
              </a:rPr>
              <a:t>Back</a:t>
            </a:r>
            <a:r>
              <a:rPr sz="2800" spc="-5" dirty="0">
                <a:latin typeface="Calibri"/>
                <a:cs typeface="Calibri"/>
              </a:rPr>
              <a:t> in</a:t>
            </a:r>
            <a:r>
              <a:rPr sz="2800" spc="5" dirty="0">
                <a:latin typeface="Calibri"/>
                <a:cs typeface="Calibri"/>
              </a:rPr>
              <a:t> </a:t>
            </a:r>
            <a:r>
              <a:rPr sz="2800" spc="-5" dirty="0">
                <a:latin typeface="Calibri"/>
                <a:cs typeface="Calibri"/>
              </a:rPr>
              <a:t>2007,</a:t>
            </a:r>
            <a:r>
              <a:rPr sz="2800" spc="40" dirty="0">
                <a:latin typeface="Calibri"/>
                <a:cs typeface="Calibri"/>
              </a:rPr>
              <a:t> </a:t>
            </a:r>
            <a:r>
              <a:rPr sz="2800" spc="-5" dirty="0">
                <a:latin typeface="Calibri"/>
                <a:cs typeface="Calibri"/>
              </a:rPr>
              <a:t>when</a:t>
            </a:r>
            <a:r>
              <a:rPr sz="2800" spc="10" dirty="0">
                <a:latin typeface="Calibri"/>
                <a:cs typeface="Calibri"/>
              </a:rPr>
              <a:t> </a:t>
            </a:r>
            <a:r>
              <a:rPr sz="2800" spc="-10" dirty="0">
                <a:latin typeface="Calibri"/>
                <a:cs typeface="Calibri"/>
              </a:rPr>
              <a:t>Flip</a:t>
            </a:r>
            <a:r>
              <a:rPr sz="2800" spc="5" dirty="0">
                <a:latin typeface="Calibri"/>
                <a:cs typeface="Calibri"/>
              </a:rPr>
              <a:t> </a:t>
            </a:r>
            <a:r>
              <a:rPr sz="2800" spc="-15" dirty="0">
                <a:latin typeface="Calibri"/>
                <a:cs typeface="Calibri"/>
              </a:rPr>
              <a:t>kart</a:t>
            </a:r>
            <a:r>
              <a:rPr sz="2800" spc="10" dirty="0">
                <a:latin typeface="Calibri"/>
                <a:cs typeface="Calibri"/>
              </a:rPr>
              <a:t> </a:t>
            </a:r>
            <a:r>
              <a:rPr sz="2800" spc="-15" dirty="0">
                <a:latin typeface="Calibri"/>
                <a:cs typeface="Calibri"/>
              </a:rPr>
              <a:t>was</a:t>
            </a:r>
            <a:r>
              <a:rPr sz="2800" spc="-5" dirty="0">
                <a:latin typeface="Calibri"/>
                <a:cs typeface="Calibri"/>
              </a:rPr>
              <a:t> launched,</a:t>
            </a:r>
            <a:r>
              <a:rPr sz="2800" spc="25" dirty="0">
                <a:latin typeface="Calibri"/>
                <a:cs typeface="Calibri"/>
              </a:rPr>
              <a:t> </a:t>
            </a:r>
            <a:r>
              <a:rPr sz="2800" spc="-5" dirty="0">
                <a:latin typeface="Calibri"/>
                <a:cs typeface="Calibri"/>
              </a:rPr>
              <a:t>Indian</a:t>
            </a:r>
            <a:r>
              <a:rPr sz="2800" spc="15" dirty="0">
                <a:latin typeface="Calibri"/>
                <a:cs typeface="Calibri"/>
              </a:rPr>
              <a:t> </a:t>
            </a:r>
            <a:r>
              <a:rPr sz="2800" dirty="0">
                <a:latin typeface="Calibri"/>
                <a:cs typeface="Calibri"/>
              </a:rPr>
              <a:t>e- </a:t>
            </a:r>
            <a:r>
              <a:rPr sz="2800" spc="5" dirty="0">
                <a:latin typeface="Calibri"/>
                <a:cs typeface="Calibri"/>
              </a:rPr>
              <a:t> </a:t>
            </a:r>
            <a:r>
              <a:rPr sz="2800" spc="-15" dirty="0">
                <a:latin typeface="Calibri"/>
                <a:cs typeface="Calibri"/>
              </a:rPr>
              <a:t>commerce</a:t>
            </a:r>
            <a:r>
              <a:rPr sz="2800" spc="5" dirty="0">
                <a:latin typeface="Calibri"/>
                <a:cs typeface="Calibri"/>
              </a:rPr>
              <a:t> </a:t>
            </a:r>
            <a:r>
              <a:rPr sz="2800" spc="-15" dirty="0">
                <a:latin typeface="Calibri"/>
                <a:cs typeface="Calibri"/>
              </a:rPr>
              <a:t>industry</a:t>
            </a:r>
            <a:r>
              <a:rPr sz="2800" spc="60" dirty="0">
                <a:latin typeface="Calibri"/>
                <a:cs typeface="Calibri"/>
              </a:rPr>
              <a:t> </a:t>
            </a:r>
            <a:r>
              <a:rPr sz="2800" spc="-15" dirty="0">
                <a:latin typeface="Calibri"/>
                <a:cs typeface="Calibri"/>
              </a:rPr>
              <a:t>was</a:t>
            </a:r>
            <a:r>
              <a:rPr sz="2800" dirty="0">
                <a:latin typeface="Calibri"/>
                <a:cs typeface="Calibri"/>
              </a:rPr>
              <a:t> </a:t>
            </a:r>
            <a:r>
              <a:rPr sz="2800" spc="-10" dirty="0">
                <a:latin typeface="Calibri"/>
                <a:cs typeface="Calibri"/>
              </a:rPr>
              <a:t>taking</a:t>
            </a:r>
            <a:r>
              <a:rPr sz="2800" spc="10" dirty="0">
                <a:latin typeface="Calibri"/>
                <a:cs typeface="Calibri"/>
              </a:rPr>
              <a:t> </a:t>
            </a:r>
            <a:r>
              <a:rPr sz="2800" spc="-5" dirty="0">
                <a:latin typeface="Calibri"/>
                <a:cs typeface="Calibri"/>
              </a:rPr>
              <a:t>its</a:t>
            </a:r>
            <a:r>
              <a:rPr sz="2800" spc="10" dirty="0">
                <a:latin typeface="Calibri"/>
                <a:cs typeface="Calibri"/>
              </a:rPr>
              <a:t> </a:t>
            </a:r>
            <a:r>
              <a:rPr sz="2800" spc="-10" dirty="0">
                <a:latin typeface="Calibri"/>
                <a:cs typeface="Calibri"/>
              </a:rPr>
              <a:t>beginner</a:t>
            </a:r>
            <a:r>
              <a:rPr sz="2800" spc="10" dirty="0">
                <a:latin typeface="Calibri"/>
                <a:cs typeface="Calibri"/>
              </a:rPr>
              <a:t> </a:t>
            </a:r>
            <a:r>
              <a:rPr sz="2800" spc="-20" dirty="0">
                <a:latin typeface="Calibri"/>
                <a:cs typeface="Calibri"/>
              </a:rPr>
              <a:t>steps.</a:t>
            </a:r>
            <a:r>
              <a:rPr sz="2800" spc="25" dirty="0">
                <a:latin typeface="Calibri"/>
                <a:cs typeface="Calibri"/>
              </a:rPr>
              <a:t> </a:t>
            </a:r>
            <a:r>
              <a:rPr sz="2800" spc="-10" dirty="0">
                <a:latin typeface="Calibri"/>
                <a:cs typeface="Calibri"/>
              </a:rPr>
              <a:t>The </a:t>
            </a:r>
            <a:r>
              <a:rPr sz="2800" spc="-5" dirty="0">
                <a:latin typeface="Calibri"/>
                <a:cs typeface="Calibri"/>
              </a:rPr>
              <a:t> </a:t>
            </a:r>
            <a:r>
              <a:rPr sz="2800" spc="-20" dirty="0">
                <a:latin typeface="Calibri"/>
                <a:cs typeface="Calibri"/>
              </a:rPr>
              <a:t>company</a:t>
            </a:r>
            <a:r>
              <a:rPr sz="2800" spc="20" dirty="0">
                <a:latin typeface="Calibri"/>
                <a:cs typeface="Calibri"/>
              </a:rPr>
              <a:t> </a:t>
            </a:r>
            <a:r>
              <a:rPr sz="2800" spc="-5" dirty="0">
                <a:latin typeface="Calibri"/>
                <a:cs typeface="Calibri"/>
              </a:rPr>
              <a:t>is</a:t>
            </a:r>
            <a:r>
              <a:rPr sz="2800" spc="5" dirty="0">
                <a:latin typeface="Calibri"/>
                <a:cs typeface="Calibri"/>
              </a:rPr>
              <a:t> </a:t>
            </a:r>
            <a:r>
              <a:rPr sz="2800" spc="-20" dirty="0">
                <a:latin typeface="Calibri"/>
                <a:cs typeface="Calibri"/>
              </a:rPr>
              <a:t>registered</a:t>
            </a:r>
            <a:r>
              <a:rPr sz="2800" spc="5" dirty="0">
                <a:latin typeface="Calibri"/>
                <a:cs typeface="Calibri"/>
              </a:rPr>
              <a:t> </a:t>
            </a:r>
            <a:r>
              <a:rPr sz="2800" spc="-10" dirty="0">
                <a:latin typeface="Calibri"/>
                <a:cs typeface="Calibri"/>
              </a:rPr>
              <a:t>in</a:t>
            </a:r>
            <a:r>
              <a:rPr sz="2800" spc="10" dirty="0">
                <a:latin typeface="Calibri"/>
                <a:cs typeface="Calibri"/>
              </a:rPr>
              <a:t> </a:t>
            </a:r>
            <a:r>
              <a:rPr sz="2800" spc="-15" dirty="0">
                <a:latin typeface="Calibri"/>
                <a:cs typeface="Calibri"/>
              </a:rPr>
              <a:t>Singapore,</a:t>
            </a:r>
            <a:r>
              <a:rPr sz="2800" spc="15" dirty="0">
                <a:latin typeface="Calibri"/>
                <a:cs typeface="Calibri"/>
              </a:rPr>
              <a:t> </a:t>
            </a:r>
            <a:r>
              <a:rPr sz="2800" spc="-10" dirty="0">
                <a:latin typeface="Calibri"/>
                <a:cs typeface="Calibri"/>
              </a:rPr>
              <a:t>but</a:t>
            </a:r>
            <a:r>
              <a:rPr sz="2800" spc="25" dirty="0">
                <a:latin typeface="Calibri"/>
                <a:cs typeface="Calibri"/>
              </a:rPr>
              <a:t> </a:t>
            </a:r>
            <a:r>
              <a:rPr sz="2800" spc="-5" dirty="0">
                <a:latin typeface="Calibri"/>
                <a:cs typeface="Calibri"/>
              </a:rPr>
              <a:t>their</a:t>
            </a:r>
            <a:r>
              <a:rPr sz="2800" spc="10" dirty="0">
                <a:latin typeface="Calibri"/>
                <a:cs typeface="Calibri"/>
              </a:rPr>
              <a:t> </a:t>
            </a:r>
            <a:r>
              <a:rPr sz="2800" spc="-15" dirty="0">
                <a:latin typeface="Calibri"/>
                <a:cs typeface="Calibri"/>
              </a:rPr>
              <a:t>headquarters </a:t>
            </a:r>
            <a:r>
              <a:rPr sz="2800" spc="-615" dirty="0">
                <a:latin typeface="Calibri"/>
                <a:cs typeface="Calibri"/>
              </a:rPr>
              <a:t> </a:t>
            </a:r>
            <a:r>
              <a:rPr sz="2800" spc="-20" dirty="0">
                <a:latin typeface="Calibri"/>
                <a:cs typeface="Calibri"/>
              </a:rPr>
              <a:t>are</a:t>
            </a:r>
            <a:r>
              <a:rPr sz="2800" spc="-5" dirty="0">
                <a:latin typeface="Calibri"/>
                <a:cs typeface="Calibri"/>
              </a:rPr>
              <a:t> </a:t>
            </a:r>
            <a:r>
              <a:rPr sz="2800" spc="-15" dirty="0">
                <a:latin typeface="Calibri"/>
                <a:cs typeface="Calibri"/>
              </a:rPr>
              <a:t>in</a:t>
            </a:r>
            <a:r>
              <a:rPr sz="2800" spc="15" dirty="0">
                <a:latin typeface="Calibri"/>
                <a:cs typeface="Calibri"/>
              </a:rPr>
              <a:t> </a:t>
            </a:r>
            <a:r>
              <a:rPr sz="2800" spc="-5" dirty="0">
                <a:latin typeface="Calibri"/>
                <a:cs typeface="Calibri"/>
              </a:rPr>
              <a:t>the city</a:t>
            </a:r>
            <a:r>
              <a:rPr sz="2800" dirty="0">
                <a:latin typeface="Calibri"/>
                <a:cs typeface="Calibri"/>
              </a:rPr>
              <a:t> </a:t>
            </a:r>
            <a:r>
              <a:rPr sz="2800" spc="-5" dirty="0">
                <a:latin typeface="Calibri"/>
                <a:cs typeface="Calibri"/>
              </a:rPr>
              <a:t>of </a:t>
            </a:r>
            <a:r>
              <a:rPr sz="2800" spc="-10" dirty="0">
                <a:latin typeface="Calibri"/>
                <a:cs typeface="Calibri"/>
              </a:rPr>
              <a:t>Bangalore,</a:t>
            </a:r>
            <a:r>
              <a:rPr sz="2800" spc="-15" dirty="0">
                <a:latin typeface="Calibri"/>
                <a:cs typeface="Calibri"/>
              </a:rPr>
              <a:t> </a:t>
            </a:r>
            <a:r>
              <a:rPr sz="2800" spc="-5" dirty="0">
                <a:latin typeface="Calibri"/>
                <a:cs typeface="Calibri"/>
              </a:rPr>
              <a:t>India.</a:t>
            </a:r>
            <a:endParaRPr sz="2800" dirty="0">
              <a:latin typeface="Calibri"/>
              <a:cs typeface="Calibri"/>
            </a:endParaRPr>
          </a:p>
        </p:txBody>
      </p:sp>
      <p:pic>
        <p:nvPicPr>
          <p:cNvPr id="4" name="object 4"/>
          <p:cNvPicPr/>
          <p:nvPr/>
        </p:nvPicPr>
        <p:blipFill>
          <a:blip r:embed="rId2" cstate="print"/>
          <a:stretch>
            <a:fillRect/>
          </a:stretch>
        </p:blipFill>
        <p:spPr>
          <a:xfrm>
            <a:off x="304800" y="3352799"/>
            <a:ext cx="8484870" cy="35051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762000"/>
            <a:ext cx="8915400" cy="2586355"/>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Founders</a:t>
            </a:r>
            <a:endParaRPr sz="2800" dirty="0">
              <a:latin typeface="Calibri"/>
              <a:cs typeface="Calibri"/>
            </a:endParaRPr>
          </a:p>
          <a:p>
            <a:pPr marL="12700" marR="1309370">
              <a:lnSpc>
                <a:spcPct val="100000"/>
              </a:lnSpc>
              <a:spcBef>
                <a:spcPts val="5"/>
              </a:spcBef>
            </a:pPr>
            <a:r>
              <a:rPr sz="2800" u="heavy" spc="-10" dirty="0">
                <a:solidFill>
                  <a:srgbClr val="0000FF"/>
                </a:solidFill>
                <a:uFill>
                  <a:solidFill>
                    <a:srgbClr val="0000FF"/>
                  </a:solidFill>
                </a:uFill>
                <a:latin typeface="Calibri"/>
                <a:cs typeface="Calibri"/>
                <a:hlinkClick r:id="rId2"/>
              </a:rPr>
              <a:t>Sachin</a:t>
            </a:r>
            <a:r>
              <a:rPr sz="2800" u="heavy" spc="30" dirty="0">
                <a:solidFill>
                  <a:srgbClr val="0000FF"/>
                </a:solidFill>
                <a:uFill>
                  <a:solidFill>
                    <a:srgbClr val="0000FF"/>
                  </a:solidFill>
                </a:uFill>
                <a:latin typeface="Calibri"/>
                <a:cs typeface="Calibri"/>
                <a:hlinkClick r:id="rId2"/>
              </a:rPr>
              <a:t> </a:t>
            </a:r>
            <a:r>
              <a:rPr sz="2800" u="heavy" spc="-5" dirty="0">
                <a:solidFill>
                  <a:srgbClr val="0000FF"/>
                </a:solidFill>
                <a:uFill>
                  <a:solidFill>
                    <a:srgbClr val="0000FF"/>
                  </a:solidFill>
                </a:uFill>
                <a:latin typeface="Calibri"/>
                <a:cs typeface="Calibri"/>
                <a:hlinkClick r:id="rId2"/>
              </a:rPr>
              <a:t>Bansal</a:t>
            </a:r>
            <a:r>
              <a:rPr sz="2800" spc="15" dirty="0">
                <a:solidFill>
                  <a:srgbClr val="0000FF"/>
                </a:solidFill>
                <a:latin typeface="Calibri"/>
                <a:cs typeface="Calibri"/>
                <a:hlinkClick r:id="rId2"/>
              </a:rPr>
              <a:t> </a:t>
            </a:r>
            <a:r>
              <a:rPr sz="2800" spc="-5" dirty="0">
                <a:latin typeface="Calibri"/>
                <a:cs typeface="Calibri"/>
              </a:rPr>
              <a:t>and</a:t>
            </a:r>
            <a:r>
              <a:rPr sz="2800" spc="5" dirty="0">
                <a:latin typeface="Calibri"/>
                <a:cs typeface="Calibri"/>
              </a:rPr>
              <a:t> </a:t>
            </a:r>
            <a:r>
              <a:rPr sz="2800" u="heavy" spc="-15" dirty="0">
                <a:solidFill>
                  <a:srgbClr val="0000FF"/>
                </a:solidFill>
                <a:uFill>
                  <a:solidFill>
                    <a:srgbClr val="0000FF"/>
                  </a:solidFill>
                </a:uFill>
                <a:latin typeface="Calibri"/>
                <a:cs typeface="Calibri"/>
                <a:hlinkClick r:id="rId3"/>
              </a:rPr>
              <a:t>Binny</a:t>
            </a:r>
            <a:r>
              <a:rPr sz="2800" u="heavy" spc="15" dirty="0">
                <a:solidFill>
                  <a:srgbClr val="0000FF"/>
                </a:solidFill>
                <a:uFill>
                  <a:solidFill>
                    <a:srgbClr val="0000FF"/>
                  </a:solidFill>
                </a:uFill>
                <a:latin typeface="Calibri"/>
                <a:cs typeface="Calibri"/>
                <a:hlinkClick r:id="rId3"/>
              </a:rPr>
              <a:t> </a:t>
            </a:r>
            <a:r>
              <a:rPr sz="2800" u="heavy" spc="-5" dirty="0">
                <a:solidFill>
                  <a:srgbClr val="0000FF"/>
                </a:solidFill>
                <a:uFill>
                  <a:solidFill>
                    <a:srgbClr val="0000FF"/>
                  </a:solidFill>
                </a:uFill>
                <a:latin typeface="Calibri"/>
                <a:cs typeface="Calibri"/>
                <a:hlinkClick r:id="rId3"/>
              </a:rPr>
              <a:t>Bansal</a:t>
            </a:r>
            <a:r>
              <a:rPr sz="2800" spc="-5" dirty="0">
                <a:latin typeface="Calibri"/>
                <a:cs typeface="Calibri"/>
              </a:rPr>
              <a:t>,</a:t>
            </a:r>
            <a:r>
              <a:rPr sz="2800" spc="10" dirty="0">
                <a:latin typeface="Calibri"/>
                <a:cs typeface="Calibri"/>
              </a:rPr>
              <a:t> </a:t>
            </a:r>
            <a:r>
              <a:rPr sz="2800" spc="-5" dirty="0">
                <a:latin typeface="Calibri"/>
                <a:cs typeface="Calibri"/>
              </a:rPr>
              <a:t>who</a:t>
            </a:r>
            <a:r>
              <a:rPr sz="2800" spc="20" dirty="0">
                <a:latin typeface="Calibri"/>
                <a:cs typeface="Calibri"/>
              </a:rPr>
              <a:t> </a:t>
            </a:r>
            <a:r>
              <a:rPr sz="2800" spc="-20" dirty="0">
                <a:latin typeface="Calibri"/>
                <a:cs typeface="Calibri"/>
              </a:rPr>
              <a:t>were</a:t>
            </a:r>
            <a:r>
              <a:rPr sz="2800" dirty="0">
                <a:latin typeface="Calibri"/>
                <a:cs typeface="Calibri"/>
              </a:rPr>
              <a:t> </a:t>
            </a:r>
            <a:r>
              <a:rPr sz="2800" spc="-15" dirty="0">
                <a:latin typeface="Calibri"/>
                <a:cs typeface="Calibri"/>
              </a:rPr>
              <a:t>working </a:t>
            </a:r>
            <a:r>
              <a:rPr lang="en-IN" sz="2800" spc="-25" dirty="0">
                <a:latin typeface="Calibri"/>
                <a:cs typeface="Calibri"/>
              </a:rPr>
              <a:t>f</a:t>
            </a:r>
            <a:r>
              <a:rPr sz="2800" spc="-25" dirty="0">
                <a:latin typeface="Calibri"/>
                <a:cs typeface="Calibri"/>
              </a:rPr>
              <a:t>or</a:t>
            </a:r>
            <a:r>
              <a:rPr sz="2800" spc="-5" dirty="0">
                <a:latin typeface="Calibri"/>
                <a:cs typeface="Calibri"/>
              </a:rPr>
              <a:t> </a:t>
            </a:r>
            <a:r>
              <a:rPr sz="2800" u="heavy" spc="-15" dirty="0">
                <a:solidFill>
                  <a:srgbClr val="0000FF"/>
                </a:solidFill>
                <a:uFill>
                  <a:solidFill>
                    <a:srgbClr val="0000FF"/>
                  </a:solidFill>
                </a:uFill>
                <a:latin typeface="Calibri"/>
                <a:cs typeface="Calibri"/>
                <a:hlinkClick r:id="rId4"/>
              </a:rPr>
              <a:t>Amazon.com</a:t>
            </a:r>
            <a:r>
              <a:rPr sz="2800" spc="25" dirty="0">
                <a:solidFill>
                  <a:srgbClr val="0000FF"/>
                </a:solidFill>
                <a:latin typeface="Calibri"/>
                <a:cs typeface="Calibri"/>
                <a:hlinkClick r:id="rId4"/>
              </a:rPr>
              <a:t> </a:t>
            </a:r>
            <a:r>
              <a:rPr sz="2800" spc="-10" dirty="0">
                <a:latin typeface="Calibri"/>
                <a:cs typeface="Calibri"/>
              </a:rPr>
              <a:t>had</a:t>
            </a:r>
            <a:r>
              <a:rPr sz="2800" spc="5" dirty="0">
                <a:latin typeface="Calibri"/>
                <a:cs typeface="Calibri"/>
              </a:rPr>
              <a:t> </a:t>
            </a:r>
            <a:r>
              <a:rPr sz="2800" spc="-5" dirty="0">
                <a:latin typeface="Calibri"/>
                <a:cs typeface="Calibri"/>
              </a:rPr>
              <a:t>an</a:t>
            </a:r>
            <a:r>
              <a:rPr sz="2800" spc="10" dirty="0">
                <a:latin typeface="Calibri"/>
                <a:cs typeface="Calibri"/>
              </a:rPr>
              <a:t> </a:t>
            </a:r>
            <a:r>
              <a:rPr sz="2800" spc="-5" dirty="0">
                <a:latin typeface="Calibri"/>
                <a:cs typeface="Calibri"/>
              </a:rPr>
              <a:t>idea</a:t>
            </a:r>
            <a:r>
              <a:rPr sz="2800" dirty="0">
                <a:latin typeface="Calibri"/>
                <a:cs typeface="Calibri"/>
              </a:rPr>
              <a:t> </a:t>
            </a:r>
            <a:r>
              <a:rPr sz="2800" spc="-20" dirty="0">
                <a:latin typeface="Calibri"/>
                <a:cs typeface="Calibri"/>
              </a:rPr>
              <a:t>to</a:t>
            </a:r>
            <a:r>
              <a:rPr sz="2800" spc="-5" dirty="0">
                <a:latin typeface="Calibri"/>
                <a:cs typeface="Calibri"/>
              </a:rPr>
              <a:t> </a:t>
            </a:r>
            <a:r>
              <a:rPr sz="2800" spc="-20" dirty="0">
                <a:latin typeface="Calibri"/>
                <a:cs typeface="Calibri"/>
              </a:rPr>
              <a:t>start</a:t>
            </a:r>
            <a:r>
              <a:rPr sz="2800" spc="10" dirty="0">
                <a:latin typeface="Calibri"/>
                <a:cs typeface="Calibri"/>
              </a:rPr>
              <a:t> </a:t>
            </a:r>
            <a:r>
              <a:rPr sz="2800" spc="-5" dirty="0">
                <a:latin typeface="Calibri"/>
                <a:cs typeface="Calibri"/>
              </a:rPr>
              <a:t>an</a:t>
            </a:r>
            <a:r>
              <a:rPr sz="2800" spc="10" dirty="0">
                <a:latin typeface="Calibri"/>
                <a:cs typeface="Calibri"/>
              </a:rPr>
              <a:t> </a:t>
            </a:r>
            <a:r>
              <a:rPr sz="2800" spc="-10" dirty="0">
                <a:latin typeface="Calibri"/>
                <a:cs typeface="Calibri"/>
              </a:rPr>
              <a:t>e-commerce</a:t>
            </a:r>
            <a:endParaRPr sz="2800" dirty="0">
              <a:latin typeface="Calibri"/>
              <a:cs typeface="Calibri"/>
            </a:endParaRPr>
          </a:p>
          <a:p>
            <a:pPr marL="12700" marR="5080">
              <a:lnSpc>
                <a:spcPct val="100000"/>
              </a:lnSpc>
            </a:pPr>
            <a:r>
              <a:rPr sz="2800" spc="-20" dirty="0">
                <a:latin typeface="Calibri"/>
                <a:cs typeface="Calibri"/>
              </a:rPr>
              <a:t>company</a:t>
            </a:r>
            <a:r>
              <a:rPr sz="2800" spc="15" dirty="0">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India.</a:t>
            </a:r>
            <a:r>
              <a:rPr sz="2800" spc="15" dirty="0">
                <a:latin typeface="Calibri"/>
                <a:cs typeface="Calibri"/>
              </a:rPr>
              <a:t> </a:t>
            </a:r>
            <a:r>
              <a:rPr sz="2800" spc="-5" dirty="0">
                <a:latin typeface="Calibri"/>
                <a:cs typeface="Calibri"/>
              </a:rPr>
              <a:t>Both</a:t>
            </a:r>
            <a:r>
              <a:rPr sz="2800" spc="1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them</a:t>
            </a:r>
            <a:r>
              <a:rPr sz="2800" spc="5" dirty="0">
                <a:latin typeface="Calibri"/>
                <a:cs typeface="Calibri"/>
              </a:rPr>
              <a:t> </a:t>
            </a:r>
            <a:r>
              <a:rPr sz="2800" spc="-15" dirty="0">
                <a:latin typeface="Calibri"/>
                <a:cs typeface="Calibri"/>
              </a:rPr>
              <a:t>are</a:t>
            </a:r>
            <a:r>
              <a:rPr sz="2800" spc="5" dirty="0">
                <a:latin typeface="Calibri"/>
                <a:cs typeface="Calibri"/>
              </a:rPr>
              <a:t> </a:t>
            </a:r>
            <a:r>
              <a:rPr sz="2800" spc="-5" dirty="0">
                <a:latin typeface="Calibri"/>
                <a:cs typeface="Calibri"/>
              </a:rPr>
              <a:t>alumni</a:t>
            </a:r>
            <a:r>
              <a:rPr sz="2800" spc="5" dirty="0">
                <a:latin typeface="Calibri"/>
                <a:cs typeface="Calibri"/>
              </a:rPr>
              <a:t> </a:t>
            </a:r>
            <a:r>
              <a:rPr sz="2800" spc="-5" dirty="0">
                <a:latin typeface="Calibri"/>
                <a:cs typeface="Calibri"/>
              </a:rPr>
              <a:t>of</a:t>
            </a:r>
            <a:r>
              <a:rPr sz="2800" dirty="0">
                <a:latin typeface="Calibri"/>
                <a:cs typeface="Calibri"/>
              </a:rPr>
              <a:t> </a:t>
            </a:r>
            <a:r>
              <a:rPr sz="2800" spc="-75" dirty="0">
                <a:latin typeface="Calibri"/>
                <a:cs typeface="Calibri"/>
              </a:rPr>
              <a:t>IIT,</a:t>
            </a:r>
            <a:r>
              <a:rPr sz="2800" spc="-5" dirty="0">
                <a:latin typeface="Calibri"/>
                <a:cs typeface="Calibri"/>
              </a:rPr>
              <a:t> </a:t>
            </a:r>
            <a:r>
              <a:rPr sz="2800" spc="-10" dirty="0">
                <a:latin typeface="Calibri"/>
                <a:cs typeface="Calibri"/>
              </a:rPr>
              <a:t>Delhi</a:t>
            </a:r>
            <a:r>
              <a:rPr sz="2800" spc="-5" dirty="0">
                <a:latin typeface="Calibri"/>
                <a:cs typeface="Calibri"/>
              </a:rPr>
              <a:t> and </a:t>
            </a:r>
            <a:r>
              <a:rPr sz="2800" dirty="0">
                <a:latin typeface="Calibri"/>
                <a:cs typeface="Calibri"/>
              </a:rPr>
              <a:t> </a:t>
            </a:r>
            <a:r>
              <a:rPr sz="2800" spc="-20" dirty="0">
                <a:latin typeface="Calibri"/>
                <a:cs typeface="Calibri"/>
              </a:rPr>
              <a:t>are</a:t>
            </a:r>
            <a:r>
              <a:rPr sz="2800" dirty="0">
                <a:latin typeface="Calibri"/>
                <a:cs typeface="Calibri"/>
              </a:rPr>
              <a:t> </a:t>
            </a:r>
            <a:r>
              <a:rPr sz="2800" spc="-15" dirty="0">
                <a:latin typeface="Calibri"/>
                <a:cs typeface="Calibri"/>
              </a:rPr>
              <a:t>native</a:t>
            </a:r>
            <a:r>
              <a:rPr sz="2800"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Chandigarh,</a:t>
            </a:r>
            <a:r>
              <a:rPr sz="2800" spc="25" dirty="0">
                <a:latin typeface="Calibri"/>
                <a:cs typeface="Calibri"/>
              </a:rPr>
              <a:t> </a:t>
            </a:r>
            <a:r>
              <a:rPr sz="2800" spc="-5" dirty="0">
                <a:latin typeface="Calibri"/>
                <a:cs typeface="Calibri"/>
              </a:rPr>
              <a:t>India.</a:t>
            </a:r>
            <a:r>
              <a:rPr sz="2800" spc="35" dirty="0">
                <a:latin typeface="Calibri"/>
                <a:cs typeface="Calibri"/>
              </a:rPr>
              <a:t> </a:t>
            </a:r>
            <a:r>
              <a:rPr sz="2800" spc="-10" dirty="0">
                <a:latin typeface="Calibri"/>
                <a:cs typeface="Calibri"/>
              </a:rPr>
              <a:t>They</a:t>
            </a:r>
            <a:r>
              <a:rPr sz="2800" spc="-15" dirty="0">
                <a:latin typeface="Calibri"/>
                <a:cs typeface="Calibri"/>
              </a:rPr>
              <a:t> left</a:t>
            </a:r>
            <a:r>
              <a:rPr sz="2800" spc="-5" dirty="0">
                <a:latin typeface="Calibri"/>
                <a:cs typeface="Calibri"/>
              </a:rPr>
              <a:t> their</a:t>
            </a:r>
            <a:r>
              <a:rPr sz="2800" dirty="0">
                <a:latin typeface="Calibri"/>
                <a:cs typeface="Calibri"/>
              </a:rPr>
              <a:t> </a:t>
            </a:r>
            <a:r>
              <a:rPr sz="2800" spc="-10" dirty="0">
                <a:latin typeface="Calibri"/>
                <a:cs typeface="Calibri"/>
              </a:rPr>
              <a:t>jobs</a:t>
            </a:r>
            <a:r>
              <a:rPr sz="2800" spc="20" dirty="0">
                <a:latin typeface="Calibri"/>
                <a:cs typeface="Calibri"/>
              </a:rPr>
              <a:t> </a:t>
            </a:r>
            <a:r>
              <a:rPr sz="2800" spc="-5" dirty="0">
                <a:latin typeface="Calibri"/>
                <a:cs typeface="Calibri"/>
              </a:rPr>
              <a:t>in</a:t>
            </a:r>
            <a:r>
              <a:rPr sz="2800" spc="5" dirty="0">
                <a:latin typeface="Calibri"/>
                <a:cs typeface="Calibri"/>
              </a:rPr>
              <a:t> </a:t>
            </a:r>
            <a:r>
              <a:rPr sz="2800" spc="-15" dirty="0">
                <a:latin typeface="Calibri"/>
                <a:cs typeface="Calibri"/>
              </a:rPr>
              <a:t>Amazon </a:t>
            </a:r>
            <a:r>
              <a:rPr sz="2800" spc="-615" dirty="0">
                <a:latin typeface="Calibri"/>
                <a:cs typeface="Calibri"/>
              </a:rPr>
              <a:t> </a:t>
            </a:r>
            <a:r>
              <a:rPr sz="2800" spc="-20" dirty="0">
                <a:latin typeface="Calibri"/>
                <a:cs typeface="Calibri"/>
              </a:rPr>
              <a:t>to</a:t>
            </a:r>
            <a:r>
              <a:rPr sz="2800" spc="-10" dirty="0">
                <a:latin typeface="Calibri"/>
                <a:cs typeface="Calibri"/>
              </a:rPr>
              <a:t> </a:t>
            </a:r>
            <a:r>
              <a:rPr sz="2800" spc="-20" dirty="0">
                <a:latin typeface="Calibri"/>
                <a:cs typeface="Calibri"/>
              </a:rPr>
              <a:t>start</a:t>
            </a:r>
            <a:r>
              <a:rPr sz="2800" spc="10" dirty="0">
                <a:latin typeface="Calibri"/>
                <a:cs typeface="Calibri"/>
              </a:rPr>
              <a:t> </a:t>
            </a:r>
            <a:r>
              <a:rPr sz="2800" spc="-5" dirty="0">
                <a:latin typeface="Calibri"/>
                <a:cs typeface="Calibri"/>
              </a:rPr>
              <a:t>their</a:t>
            </a:r>
            <a:r>
              <a:rPr sz="2800" spc="5" dirty="0">
                <a:latin typeface="Calibri"/>
                <a:cs typeface="Calibri"/>
              </a:rPr>
              <a:t> </a:t>
            </a:r>
            <a:r>
              <a:rPr sz="2800" spc="-10" dirty="0">
                <a:latin typeface="Calibri"/>
                <a:cs typeface="Calibri"/>
              </a:rPr>
              <a:t>own</a:t>
            </a:r>
            <a:r>
              <a:rPr sz="2800" spc="10" dirty="0">
                <a:latin typeface="Calibri"/>
                <a:cs typeface="Calibri"/>
              </a:rPr>
              <a:t> </a:t>
            </a:r>
            <a:r>
              <a:rPr sz="2800" spc="-5" dirty="0">
                <a:latin typeface="Calibri"/>
                <a:cs typeface="Calibri"/>
              </a:rPr>
              <a:t>business.</a:t>
            </a:r>
            <a:endParaRPr sz="28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437134"/>
            <a:ext cx="8646795" cy="130556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00"/>
                </a:solidFill>
              </a:rPr>
              <a:t>How</a:t>
            </a:r>
            <a:r>
              <a:rPr sz="2800" spc="-25" dirty="0">
                <a:solidFill>
                  <a:srgbClr val="000000"/>
                </a:solidFill>
              </a:rPr>
              <a:t> </a:t>
            </a:r>
            <a:r>
              <a:rPr sz="2800" spc="-10" dirty="0">
                <a:solidFill>
                  <a:srgbClr val="000000"/>
                </a:solidFill>
              </a:rPr>
              <a:t>it</a:t>
            </a:r>
            <a:r>
              <a:rPr sz="2800" spc="-5" dirty="0">
                <a:solidFill>
                  <a:srgbClr val="000000"/>
                </a:solidFill>
              </a:rPr>
              <a:t> </a:t>
            </a:r>
            <a:r>
              <a:rPr sz="2800" spc="-15" dirty="0">
                <a:solidFill>
                  <a:srgbClr val="000000"/>
                </a:solidFill>
              </a:rPr>
              <a:t>Started?</a:t>
            </a:r>
            <a:endParaRPr sz="2800"/>
          </a:p>
          <a:p>
            <a:pPr marL="12700" marR="5080">
              <a:lnSpc>
                <a:spcPct val="100000"/>
              </a:lnSpc>
            </a:pPr>
            <a:r>
              <a:rPr sz="2800" b="0" spc="-15" dirty="0">
                <a:solidFill>
                  <a:srgbClr val="000000"/>
                </a:solidFill>
                <a:latin typeface="Calibri"/>
                <a:cs typeface="Calibri"/>
              </a:rPr>
              <a:t>Flipkart</a:t>
            </a:r>
            <a:r>
              <a:rPr sz="2800" b="0" spc="40" dirty="0">
                <a:solidFill>
                  <a:srgbClr val="000000"/>
                </a:solidFill>
                <a:latin typeface="Calibri"/>
                <a:cs typeface="Calibri"/>
              </a:rPr>
              <a:t> </a:t>
            </a:r>
            <a:r>
              <a:rPr sz="2800" b="0" spc="-15" dirty="0">
                <a:solidFill>
                  <a:srgbClr val="000000"/>
                </a:solidFill>
                <a:latin typeface="Calibri"/>
                <a:cs typeface="Calibri"/>
              </a:rPr>
              <a:t>began</a:t>
            </a:r>
            <a:r>
              <a:rPr sz="2800" b="0" dirty="0">
                <a:solidFill>
                  <a:srgbClr val="000000"/>
                </a:solidFill>
                <a:latin typeface="Calibri"/>
                <a:cs typeface="Calibri"/>
              </a:rPr>
              <a:t> </a:t>
            </a:r>
            <a:r>
              <a:rPr sz="2800" b="0" spc="-10" dirty="0">
                <a:solidFill>
                  <a:srgbClr val="000000"/>
                </a:solidFill>
                <a:latin typeface="Calibri"/>
                <a:cs typeface="Calibri"/>
              </a:rPr>
              <a:t>selling</a:t>
            </a:r>
            <a:r>
              <a:rPr sz="2800" b="0" spc="15" dirty="0">
                <a:solidFill>
                  <a:srgbClr val="000000"/>
                </a:solidFill>
                <a:latin typeface="Calibri"/>
                <a:cs typeface="Calibri"/>
              </a:rPr>
              <a:t> </a:t>
            </a:r>
            <a:r>
              <a:rPr sz="2800" b="0" spc="-10" dirty="0">
                <a:solidFill>
                  <a:srgbClr val="000000"/>
                </a:solidFill>
                <a:latin typeface="Calibri"/>
                <a:cs typeface="Calibri"/>
              </a:rPr>
              <a:t>books</a:t>
            </a:r>
            <a:r>
              <a:rPr sz="2800" b="0" spc="10" dirty="0">
                <a:solidFill>
                  <a:srgbClr val="000000"/>
                </a:solidFill>
                <a:latin typeface="Calibri"/>
                <a:cs typeface="Calibri"/>
              </a:rPr>
              <a:t> </a:t>
            </a:r>
            <a:r>
              <a:rPr sz="2800" b="0" spc="-20" dirty="0">
                <a:solidFill>
                  <a:srgbClr val="000000"/>
                </a:solidFill>
                <a:latin typeface="Calibri"/>
                <a:cs typeface="Calibri"/>
              </a:rPr>
              <a:t>to</a:t>
            </a:r>
            <a:r>
              <a:rPr sz="2800" b="0" spc="-5" dirty="0">
                <a:solidFill>
                  <a:srgbClr val="000000"/>
                </a:solidFill>
                <a:latin typeface="Calibri"/>
                <a:cs typeface="Calibri"/>
              </a:rPr>
              <a:t> </a:t>
            </a:r>
            <a:r>
              <a:rPr sz="2800" b="0" spc="-10" dirty="0">
                <a:solidFill>
                  <a:srgbClr val="000000"/>
                </a:solidFill>
                <a:latin typeface="Calibri"/>
                <a:cs typeface="Calibri"/>
              </a:rPr>
              <a:t>begin</a:t>
            </a:r>
            <a:r>
              <a:rPr sz="2800" b="0" spc="10" dirty="0">
                <a:solidFill>
                  <a:srgbClr val="000000"/>
                </a:solidFill>
                <a:latin typeface="Calibri"/>
                <a:cs typeface="Calibri"/>
              </a:rPr>
              <a:t> </a:t>
            </a:r>
            <a:r>
              <a:rPr sz="2800" b="0" spc="-5" dirty="0">
                <a:solidFill>
                  <a:srgbClr val="000000"/>
                </a:solidFill>
                <a:latin typeface="Calibri"/>
                <a:cs typeface="Calibri"/>
              </a:rPr>
              <a:t>with.</a:t>
            </a:r>
            <a:r>
              <a:rPr sz="2800" b="0" spc="20" dirty="0">
                <a:solidFill>
                  <a:srgbClr val="000000"/>
                </a:solidFill>
                <a:latin typeface="Calibri"/>
                <a:cs typeface="Calibri"/>
              </a:rPr>
              <a:t> </a:t>
            </a:r>
            <a:r>
              <a:rPr sz="2800" b="0" spc="-5" dirty="0">
                <a:solidFill>
                  <a:srgbClr val="000000"/>
                </a:solidFill>
                <a:latin typeface="Calibri"/>
                <a:cs typeface="Calibri"/>
              </a:rPr>
              <a:t>It</a:t>
            </a:r>
            <a:r>
              <a:rPr sz="2800" b="0" dirty="0">
                <a:solidFill>
                  <a:srgbClr val="000000"/>
                </a:solidFill>
                <a:latin typeface="Calibri"/>
                <a:cs typeface="Calibri"/>
              </a:rPr>
              <a:t> </a:t>
            </a:r>
            <a:r>
              <a:rPr sz="2800" b="0" spc="-10" dirty="0">
                <a:solidFill>
                  <a:srgbClr val="000000"/>
                </a:solidFill>
                <a:latin typeface="Calibri"/>
                <a:cs typeface="Calibri"/>
              </a:rPr>
              <a:t>soon</a:t>
            </a:r>
            <a:r>
              <a:rPr sz="2800" b="0" spc="20" dirty="0">
                <a:solidFill>
                  <a:srgbClr val="000000"/>
                </a:solidFill>
                <a:latin typeface="Calibri"/>
                <a:cs typeface="Calibri"/>
              </a:rPr>
              <a:t> </a:t>
            </a:r>
            <a:r>
              <a:rPr sz="2800" b="0" spc="-15" dirty="0">
                <a:solidFill>
                  <a:srgbClr val="000000"/>
                </a:solidFill>
                <a:latin typeface="Calibri"/>
                <a:cs typeface="Calibri"/>
              </a:rPr>
              <a:t>expanded </a:t>
            </a:r>
            <a:r>
              <a:rPr sz="2800" b="0" spc="-620" dirty="0">
                <a:solidFill>
                  <a:srgbClr val="000000"/>
                </a:solidFill>
                <a:latin typeface="Calibri"/>
                <a:cs typeface="Calibri"/>
              </a:rPr>
              <a:t> </a:t>
            </a:r>
            <a:r>
              <a:rPr sz="2800" b="0" spc="-5" dirty="0">
                <a:solidFill>
                  <a:srgbClr val="000000"/>
                </a:solidFill>
                <a:latin typeface="Calibri"/>
                <a:cs typeface="Calibri"/>
              </a:rPr>
              <a:t>and</a:t>
            </a:r>
            <a:r>
              <a:rPr sz="2800" b="0" dirty="0">
                <a:solidFill>
                  <a:srgbClr val="000000"/>
                </a:solidFill>
                <a:latin typeface="Calibri"/>
                <a:cs typeface="Calibri"/>
              </a:rPr>
              <a:t> </a:t>
            </a:r>
            <a:r>
              <a:rPr sz="2800" b="0" spc="-15" dirty="0">
                <a:solidFill>
                  <a:srgbClr val="000000"/>
                </a:solidFill>
                <a:latin typeface="Calibri"/>
                <a:cs typeface="Calibri"/>
              </a:rPr>
              <a:t>began</a:t>
            </a:r>
            <a:r>
              <a:rPr sz="2800" b="0" spc="10" dirty="0">
                <a:solidFill>
                  <a:srgbClr val="000000"/>
                </a:solidFill>
                <a:latin typeface="Calibri"/>
                <a:cs typeface="Calibri"/>
              </a:rPr>
              <a:t> </a:t>
            </a:r>
            <a:r>
              <a:rPr sz="2800" b="0" spc="-20" dirty="0">
                <a:solidFill>
                  <a:srgbClr val="000000"/>
                </a:solidFill>
                <a:latin typeface="Calibri"/>
                <a:cs typeface="Calibri"/>
              </a:rPr>
              <a:t>offering</a:t>
            </a:r>
            <a:r>
              <a:rPr sz="2800" b="0" spc="-15" dirty="0">
                <a:solidFill>
                  <a:srgbClr val="000000"/>
                </a:solidFill>
                <a:latin typeface="Calibri"/>
                <a:cs typeface="Calibri"/>
              </a:rPr>
              <a:t> </a:t>
            </a:r>
            <a:r>
              <a:rPr sz="2800" b="0" spc="-5" dirty="0">
                <a:solidFill>
                  <a:srgbClr val="000000"/>
                </a:solidFill>
                <a:latin typeface="Calibri"/>
                <a:cs typeface="Calibri"/>
              </a:rPr>
              <a:t>a wide</a:t>
            </a:r>
            <a:r>
              <a:rPr sz="2800" b="0" dirty="0">
                <a:solidFill>
                  <a:srgbClr val="000000"/>
                </a:solidFill>
                <a:latin typeface="Calibri"/>
                <a:cs typeface="Calibri"/>
              </a:rPr>
              <a:t> </a:t>
            </a:r>
            <a:r>
              <a:rPr sz="2800" b="0" spc="-10" dirty="0">
                <a:solidFill>
                  <a:srgbClr val="000000"/>
                </a:solidFill>
                <a:latin typeface="Calibri"/>
                <a:cs typeface="Calibri"/>
              </a:rPr>
              <a:t>variety </a:t>
            </a:r>
            <a:r>
              <a:rPr sz="2800" b="0" spc="-5" dirty="0">
                <a:solidFill>
                  <a:srgbClr val="000000"/>
                </a:solidFill>
                <a:latin typeface="Calibri"/>
                <a:cs typeface="Calibri"/>
              </a:rPr>
              <a:t>of</a:t>
            </a:r>
            <a:r>
              <a:rPr sz="2800" b="0" spc="-10" dirty="0">
                <a:solidFill>
                  <a:srgbClr val="000000"/>
                </a:solidFill>
                <a:latin typeface="Calibri"/>
                <a:cs typeface="Calibri"/>
              </a:rPr>
              <a:t> goods</a:t>
            </a:r>
            <a:endParaRPr sz="2800">
              <a:latin typeface="Calibri"/>
              <a:cs typeface="Calibri"/>
            </a:endParaRPr>
          </a:p>
        </p:txBody>
      </p:sp>
      <p:pic>
        <p:nvPicPr>
          <p:cNvPr id="3" name="object 3"/>
          <p:cNvPicPr/>
          <p:nvPr/>
        </p:nvPicPr>
        <p:blipFill>
          <a:blip r:embed="rId2" cstate="print"/>
          <a:stretch>
            <a:fillRect/>
          </a:stretch>
        </p:blipFill>
        <p:spPr>
          <a:xfrm>
            <a:off x="0" y="2666998"/>
            <a:ext cx="9144000" cy="41909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953500" cy="1732280"/>
          </a:xfrm>
          <a:prstGeom prst="rect">
            <a:avLst/>
          </a:prstGeom>
        </p:spPr>
        <p:txBody>
          <a:bodyPr vert="horz" wrap="square" lIns="0" tIns="12065" rIns="0" bIns="0" rtlCol="0">
            <a:spAutoFit/>
          </a:bodyPr>
          <a:lstStyle/>
          <a:p>
            <a:pPr marL="93345" algn="just">
              <a:lnSpc>
                <a:spcPct val="100000"/>
              </a:lnSpc>
              <a:spcBef>
                <a:spcPts val="95"/>
              </a:spcBef>
            </a:pPr>
            <a:r>
              <a:rPr sz="2800" b="1" spc="-5" dirty="0">
                <a:latin typeface="Calibri"/>
                <a:cs typeface="Calibri"/>
              </a:rPr>
              <a:t>Funding</a:t>
            </a:r>
            <a:r>
              <a:rPr sz="2800" b="1" spc="-20" dirty="0">
                <a:latin typeface="Calibri"/>
                <a:cs typeface="Calibri"/>
              </a:rPr>
              <a:t> </a:t>
            </a:r>
            <a:r>
              <a:rPr sz="2800" b="1" spc="-15" dirty="0">
                <a:latin typeface="Calibri"/>
                <a:cs typeface="Calibri"/>
              </a:rPr>
              <a:t>History</a:t>
            </a:r>
            <a:endParaRPr sz="2800">
              <a:latin typeface="Calibri"/>
              <a:cs typeface="Calibri"/>
            </a:endParaRPr>
          </a:p>
          <a:p>
            <a:pPr marL="12700" marR="5080" algn="just">
              <a:lnSpc>
                <a:spcPct val="100000"/>
              </a:lnSpc>
            </a:pPr>
            <a:r>
              <a:rPr sz="2800" spc="-10" dirty="0">
                <a:latin typeface="Calibri"/>
                <a:cs typeface="Calibri"/>
              </a:rPr>
              <a:t>This soon increased </a:t>
            </a:r>
            <a:r>
              <a:rPr sz="2800" spc="-20" dirty="0">
                <a:latin typeface="Calibri"/>
                <a:cs typeface="Calibri"/>
              </a:rPr>
              <a:t>to </a:t>
            </a:r>
            <a:r>
              <a:rPr sz="2800" spc="-10" dirty="0">
                <a:latin typeface="Calibri"/>
                <a:cs typeface="Calibri"/>
              </a:rPr>
              <a:t>200 million </a:t>
            </a:r>
            <a:r>
              <a:rPr sz="2800" spc="-5" dirty="0">
                <a:latin typeface="Calibri"/>
                <a:cs typeface="Calibri"/>
              </a:rPr>
              <a:t>Indian rupees the </a:t>
            </a:r>
            <a:r>
              <a:rPr sz="2800" spc="-15" dirty="0">
                <a:latin typeface="Calibri"/>
                <a:cs typeface="Calibri"/>
              </a:rPr>
              <a:t>following </a:t>
            </a:r>
            <a:r>
              <a:rPr sz="2800" spc="-620" dirty="0">
                <a:latin typeface="Calibri"/>
                <a:cs typeface="Calibri"/>
              </a:rPr>
              <a:t> </a:t>
            </a:r>
            <a:r>
              <a:rPr sz="2800" spc="-70" dirty="0">
                <a:latin typeface="Calibri"/>
                <a:cs typeface="Calibri"/>
              </a:rPr>
              <a:t>year. </a:t>
            </a:r>
            <a:r>
              <a:rPr sz="2800" spc="-10" dirty="0">
                <a:latin typeface="Calibri"/>
                <a:cs typeface="Calibri"/>
              </a:rPr>
              <a:t>Their </a:t>
            </a:r>
            <a:r>
              <a:rPr sz="2800" spc="-15" dirty="0">
                <a:latin typeface="Calibri"/>
                <a:cs typeface="Calibri"/>
              </a:rPr>
              <a:t>last </a:t>
            </a:r>
            <a:r>
              <a:rPr sz="2800" spc="-20" dirty="0">
                <a:latin typeface="Calibri"/>
                <a:cs typeface="Calibri"/>
              </a:rPr>
              <a:t>round </a:t>
            </a:r>
            <a:r>
              <a:rPr sz="2800" spc="-5" dirty="0">
                <a:latin typeface="Calibri"/>
                <a:cs typeface="Calibri"/>
              </a:rPr>
              <a:t>of </a:t>
            </a:r>
            <a:r>
              <a:rPr sz="2800" spc="-15" dirty="0">
                <a:latin typeface="Calibri"/>
                <a:cs typeface="Calibri"/>
              </a:rPr>
              <a:t>Fundraising </a:t>
            </a:r>
            <a:r>
              <a:rPr sz="2800" spc="-5" dirty="0">
                <a:latin typeface="Calibri"/>
                <a:cs typeface="Calibri"/>
              </a:rPr>
              <a:t>had </a:t>
            </a:r>
            <a:r>
              <a:rPr sz="2800" spc="-10" dirty="0">
                <a:latin typeface="Calibri"/>
                <a:cs typeface="Calibri"/>
              </a:rPr>
              <a:t>increased </a:t>
            </a:r>
            <a:r>
              <a:rPr sz="2800" spc="-5" dirty="0">
                <a:latin typeface="Calibri"/>
                <a:cs typeface="Calibri"/>
              </a:rPr>
              <a:t>their </a:t>
            </a:r>
            <a:r>
              <a:rPr sz="2800" spc="-15" dirty="0">
                <a:latin typeface="Calibri"/>
                <a:cs typeface="Calibri"/>
              </a:rPr>
              <a:t>value </a:t>
            </a:r>
            <a:r>
              <a:rPr sz="2800" spc="-10" dirty="0">
                <a:latin typeface="Calibri"/>
                <a:cs typeface="Calibri"/>
              </a:rPr>
              <a:t> </a:t>
            </a:r>
            <a:r>
              <a:rPr sz="2800" spc="-20" dirty="0">
                <a:latin typeface="Calibri"/>
                <a:cs typeface="Calibri"/>
              </a:rPr>
              <a:t>to</a:t>
            </a:r>
            <a:r>
              <a:rPr sz="2800" spc="-10" dirty="0">
                <a:latin typeface="Calibri"/>
                <a:cs typeface="Calibri"/>
              </a:rPr>
              <a:t> </a:t>
            </a:r>
            <a:r>
              <a:rPr sz="2800" spc="-5" dirty="0">
                <a:latin typeface="Calibri"/>
                <a:cs typeface="Calibri"/>
              </a:rPr>
              <a:t>$</a:t>
            </a:r>
            <a:r>
              <a:rPr sz="2800" spc="15" dirty="0">
                <a:latin typeface="Calibri"/>
                <a:cs typeface="Calibri"/>
              </a:rPr>
              <a:t> </a:t>
            </a:r>
            <a:r>
              <a:rPr sz="2800" spc="-5" dirty="0">
                <a:latin typeface="Calibri"/>
                <a:cs typeface="Calibri"/>
              </a:rPr>
              <a:t>15</a:t>
            </a:r>
            <a:r>
              <a:rPr sz="2800" spc="10" dirty="0">
                <a:latin typeface="Calibri"/>
                <a:cs typeface="Calibri"/>
              </a:rPr>
              <a:t> </a:t>
            </a:r>
            <a:r>
              <a:rPr sz="2800" spc="-10" dirty="0">
                <a:latin typeface="Calibri"/>
                <a:cs typeface="Calibri"/>
              </a:rPr>
              <a:t>billion.</a:t>
            </a:r>
            <a:endParaRPr sz="2800">
              <a:latin typeface="Calibri"/>
              <a:cs typeface="Calibri"/>
            </a:endParaRPr>
          </a:p>
        </p:txBody>
      </p:sp>
      <p:pic>
        <p:nvPicPr>
          <p:cNvPr id="3" name="object 3"/>
          <p:cNvPicPr/>
          <p:nvPr/>
        </p:nvPicPr>
        <p:blipFill>
          <a:blip r:embed="rId2" cstate="print"/>
          <a:stretch>
            <a:fillRect/>
          </a:stretch>
        </p:blipFill>
        <p:spPr>
          <a:xfrm>
            <a:off x="0" y="2133598"/>
            <a:ext cx="9144000" cy="47243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801735" cy="6488315"/>
          </a:xfrm>
          <a:prstGeom prst="rect">
            <a:avLst/>
          </a:prstGeom>
        </p:spPr>
        <p:txBody>
          <a:bodyPr vert="horz" wrap="square" lIns="0" tIns="12065" rIns="0" bIns="0" rtlCol="0">
            <a:spAutoFit/>
          </a:bodyPr>
          <a:lstStyle/>
          <a:p>
            <a:pPr marL="93345">
              <a:lnSpc>
                <a:spcPct val="100000"/>
              </a:lnSpc>
              <a:spcBef>
                <a:spcPts val="95"/>
              </a:spcBef>
            </a:pPr>
            <a:r>
              <a:rPr sz="2800" b="1" spc="-15" dirty="0">
                <a:latin typeface="Calibri"/>
                <a:cs typeface="Calibri"/>
              </a:rPr>
              <a:t>Evolution</a:t>
            </a:r>
            <a:endParaRPr lang="en-US" sz="2800" b="1" spc="-15" dirty="0">
              <a:latin typeface="Calibri"/>
              <a:cs typeface="Calibri"/>
            </a:endParaRPr>
          </a:p>
          <a:p>
            <a:pPr rtl="0"/>
            <a:r>
              <a:rPr lang="en-US" sz="2800" dirty="0">
                <a:effectLst/>
              </a:rPr>
              <a:t>Flipkart revolutionized online shopping in India by introducing Cash on Delivery (COD) and card payment on delivery, making it more accessible. COD became a standard feature across Indian e-commerce platforms after Flipkart's pioneering implementation.</a:t>
            </a: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marL="93345">
              <a:lnSpc>
                <a:spcPct val="100000"/>
              </a:lnSpc>
              <a:spcBef>
                <a:spcPts val="95"/>
              </a:spcBef>
            </a:pPr>
            <a:endParaRPr lang="en-US" sz="2800" b="1" spc="-15" dirty="0">
              <a:latin typeface="Calibri"/>
              <a:cs typeface="Calibri"/>
            </a:endParaRPr>
          </a:p>
        </p:txBody>
      </p:sp>
      <p:pic>
        <p:nvPicPr>
          <p:cNvPr id="3" name="object 3"/>
          <p:cNvPicPr/>
          <p:nvPr/>
        </p:nvPicPr>
        <p:blipFill>
          <a:blip r:embed="rId2" cstate="print"/>
          <a:stretch>
            <a:fillRect/>
          </a:stretch>
        </p:blipFill>
        <p:spPr>
          <a:xfrm>
            <a:off x="0" y="3962399"/>
            <a:ext cx="9144000" cy="2895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756015" cy="7350089"/>
          </a:xfrm>
          <a:prstGeom prst="rect">
            <a:avLst/>
          </a:prstGeom>
        </p:spPr>
        <p:txBody>
          <a:bodyPr vert="horz" wrap="square" lIns="0" tIns="12065" rIns="0" bIns="0" rtlCol="0">
            <a:spAutoFit/>
          </a:bodyPr>
          <a:lstStyle/>
          <a:p>
            <a:pPr marL="93345">
              <a:lnSpc>
                <a:spcPct val="100000"/>
              </a:lnSpc>
              <a:spcBef>
                <a:spcPts val="95"/>
              </a:spcBef>
            </a:pPr>
            <a:r>
              <a:rPr sz="2800" b="1" spc="-15" dirty="0">
                <a:latin typeface="Calibri"/>
                <a:cs typeface="Calibri"/>
              </a:rPr>
              <a:t>Evolution</a:t>
            </a:r>
            <a:endParaRPr lang="en-US" sz="2800" b="1" spc="-15" dirty="0">
              <a:latin typeface="Calibri"/>
              <a:cs typeface="Calibri"/>
            </a:endParaRPr>
          </a:p>
          <a:p>
            <a:pPr rtl="0"/>
            <a:r>
              <a:rPr lang="en-US" sz="2800" dirty="0">
                <a:effectLst/>
              </a:rPr>
              <a:t>Flipkart solved delivery issues by creating its own system to ensure timely shipments. This helped them deliver orders quickly and reliably.</a:t>
            </a: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marL="93345">
              <a:lnSpc>
                <a:spcPct val="100000"/>
              </a:lnSpc>
              <a:spcBef>
                <a:spcPts val="95"/>
              </a:spcBef>
            </a:pPr>
            <a:endParaRPr sz="2800" dirty="0">
              <a:latin typeface="Calibri"/>
              <a:cs typeface="Calibri"/>
            </a:endParaRPr>
          </a:p>
        </p:txBody>
      </p:sp>
      <p:pic>
        <p:nvPicPr>
          <p:cNvPr id="3" name="object 3"/>
          <p:cNvPicPr/>
          <p:nvPr/>
        </p:nvPicPr>
        <p:blipFill>
          <a:blip r:embed="rId2" cstate="print"/>
          <a:stretch>
            <a:fillRect/>
          </a:stretch>
        </p:blipFill>
        <p:spPr>
          <a:xfrm>
            <a:off x="0" y="2667000"/>
            <a:ext cx="9144000" cy="2895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6065" y="19685"/>
            <a:ext cx="8877935" cy="2302553"/>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Calibri"/>
                <a:cs typeface="Calibri"/>
              </a:rPr>
              <a:t>Acquisitions</a:t>
            </a:r>
            <a:endParaRPr lang="en-US" sz="2800" b="1" spc="-5" dirty="0">
              <a:latin typeface="Calibri"/>
              <a:cs typeface="Calibri"/>
            </a:endParaRPr>
          </a:p>
          <a:p>
            <a:pPr marL="12700">
              <a:lnSpc>
                <a:spcPct val="100000"/>
              </a:lnSpc>
              <a:spcBef>
                <a:spcPts val="95"/>
              </a:spcBef>
            </a:pPr>
            <a:r>
              <a:rPr lang="en-US" sz="2400" dirty="0">
                <a:effectLst/>
                <a:latin typeface="Times New Roman" panose="02020603050405020304" pitchFamily="18" charset="0"/>
                <a:cs typeface="Times New Roman" panose="02020603050405020304" pitchFamily="18" charset="0"/>
              </a:rPr>
              <a:t>Flipkart expanded its market presence by acquiring companies like Myntra and </a:t>
            </a:r>
            <a:r>
              <a:rPr lang="en-US" sz="2400" dirty="0" err="1">
                <a:effectLst/>
                <a:latin typeface="Times New Roman" panose="02020603050405020304" pitchFamily="18" charset="0"/>
                <a:cs typeface="Times New Roman" panose="02020603050405020304" pitchFamily="18" charset="0"/>
              </a:rPr>
              <a:t>LetsBuy</a:t>
            </a:r>
            <a:r>
              <a:rPr lang="en-US" sz="2400" dirty="0">
                <a:effectLst/>
                <a:latin typeface="Times New Roman" panose="02020603050405020304" pitchFamily="18" charset="0"/>
                <a:cs typeface="Times New Roman" panose="02020603050405020304" pitchFamily="18" charset="0"/>
              </a:rPr>
              <a:t>, transforming from a small book retailer to India’s largest e-commerce platform. Its journey has inspired startups and revolutionized the Indian e-commerce industry, breaking stereotypes along the way.</a:t>
            </a:r>
            <a:endParaRPr sz="24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0" y="3886200"/>
            <a:ext cx="9144000" cy="297179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147310" cy="1120178"/>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panose="02020603050405020304" pitchFamily="18" charset="0"/>
                <a:cs typeface="Times New Roman" panose="02020603050405020304" pitchFamily="18" charset="0"/>
              </a:rPr>
              <a:t>FOUNDER</a:t>
            </a:r>
            <a:endParaRPr sz="2400" dirty="0">
              <a:latin typeface="Times New Roman" panose="02020603050405020304" pitchFamily="18" charset="0"/>
              <a:cs typeface="Times New Roman" panose="02020603050405020304" pitchFamily="18" charset="0"/>
            </a:endParaRPr>
          </a:p>
          <a:p>
            <a:pPr marL="12700" marR="5080">
              <a:lnSpc>
                <a:spcPct val="100000"/>
              </a:lnSpc>
              <a:spcBef>
                <a:spcPts val="5"/>
              </a:spcBef>
            </a:pPr>
            <a:r>
              <a:rPr sz="2400" spc="-10" dirty="0">
                <a:latin typeface="Times New Roman" panose="02020603050405020304" pitchFamily="18" charset="0"/>
                <a:cs typeface="Times New Roman" panose="02020603050405020304" pitchFamily="18" charset="0"/>
              </a:rPr>
              <a:t>Deep</a:t>
            </a:r>
            <a:r>
              <a:rPr sz="2400" spc="5"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Kalra</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 the</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proud</a:t>
            </a:r>
            <a:r>
              <a:rPr sz="2400" spc="3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founder</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of </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Gurgaon </a:t>
            </a:r>
            <a:r>
              <a:rPr sz="2400" spc="-10" dirty="0">
                <a:latin typeface="Times New Roman" panose="02020603050405020304" pitchFamily="18" charset="0"/>
                <a:cs typeface="Times New Roman" panose="02020603050405020304" pitchFamily="18" charset="0"/>
              </a:rPr>
              <a:t>based</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MakeMyTrip.com. </a:t>
            </a:r>
            <a:r>
              <a:rPr sz="2400" spc="-620"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222240" cy="3705502"/>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panose="02020603050405020304" pitchFamily="18" charset="0"/>
                <a:cs typeface="Times New Roman" panose="02020603050405020304" pitchFamily="18" charset="0"/>
              </a:rPr>
              <a:t>FOUNDER</a:t>
            </a:r>
            <a:endParaRPr sz="2400" dirty="0">
              <a:latin typeface="Times New Roman" panose="02020603050405020304" pitchFamily="18" charset="0"/>
              <a:cs typeface="Times New Roman" panose="02020603050405020304" pitchFamily="18" charset="0"/>
            </a:endParaRPr>
          </a:p>
          <a:p>
            <a:pPr marL="12700">
              <a:lnSpc>
                <a:spcPct val="100000"/>
              </a:lnSpc>
              <a:spcBef>
                <a:spcPts val="5"/>
              </a:spcBef>
            </a:pPr>
            <a:r>
              <a:rPr sz="2400" b="1" spc="-5" dirty="0">
                <a:latin typeface="Times New Roman" panose="02020603050405020304" pitchFamily="18" charset="0"/>
                <a:cs typeface="Times New Roman" panose="02020603050405020304" pitchFamily="18" charset="0"/>
              </a:rPr>
              <a:t>How</a:t>
            </a:r>
            <a:r>
              <a:rPr sz="2400" b="1" spc="-2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did</a:t>
            </a:r>
            <a:r>
              <a:rPr sz="2400" b="1" spc="-5" dirty="0">
                <a:latin typeface="Times New Roman" panose="02020603050405020304" pitchFamily="18" charset="0"/>
                <a:cs typeface="Times New Roman" panose="02020603050405020304" pitchFamily="18" charset="0"/>
              </a:rPr>
              <a:t> his</a:t>
            </a:r>
            <a:r>
              <a:rPr sz="2400" b="1" spc="-10" dirty="0">
                <a:latin typeface="Times New Roman" panose="02020603050405020304" pitchFamily="18" charset="0"/>
                <a:cs typeface="Times New Roman" panose="02020603050405020304" pitchFamily="18" charset="0"/>
              </a:rPr>
              <a:t> journey</a:t>
            </a:r>
            <a:r>
              <a:rPr sz="2400" b="1" spc="-5" dirty="0">
                <a:latin typeface="Times New Roman" panose="02020603050405020304" pitchFamily="18" charset="0"/>
                <a:cs typeface="Times New Roman" panose="02020603050405020304" pitchFamily="18" charset="0"/>
              </a:rPr>
              <a:t> begin?</a:t>
            </a:r>
            <a:endParaRPr lang="en-US" sz="2400" b="1" spc="-5" dirty="0">
              <a:latin typeface="Times New Roman" panose="02020603050405020304" pitchFamily="18" charset="0"/>
              <a:cs typeface="Times New Roman" panose="02020603050405020304" pitchFamily="18" charset="0"/>
            </a:endParaRPr>
          </a:p>
          <a:p>
            <a:pPr marL="12700">
              <a:lnSpc>
                <a:spcPct val="100000"/>
              </a:lnSpc>
              <a:spcBef>
                <a:spcPts val="5"/>
              </a:spcBef>
            </a:pPr>
            <a:r>
              <a:rPr lang="en-US" sz="2400" dirty="0">
                <a:effectLst/>
                <a:latin typeface="Times New Roman" panose="02020603050405020304" pitchFamily="18" charset="0"/>
                <a:cs typeface="Times New Roman" panose="02020603050405020304" pitchFamily="18" charset="0"/>
              </a:rPr>
              <a:t>Deep Kalra began his career after completing his Masters at IIM-A and worked at companies like GE Capital and ABN AMRO Bank. In 1995, he took a big risk by leaving his stable job to join AMF Bowling, an American company looking to set up bowling alleys and billiard halls in India.</a:t>
            </a: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060315" cy="8199039"/>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libri"/>
                <a:cs typeface="Calibri"/>
              </a:rPr>
              <a:t>FOUNDER</a:t>
            </a:r>
            <a:endParaRPr sz="2800" dirty="0">
              <a:latin typeface="Calibri"/>
              <a:cs typeface="Calibri"/>
            </a:endParaRPr>
          </a:p>
          <a:p>
            <a:pPr marL="12700">
              <a:lnSpc>
                <a:spcPct val="100000"/>
              </a:lnSpc>
              <a:spcBef>
                <a:spcPts val="5"/>
              </a:spcBef>
            </a:pPr>
            <a:r>
              <a:rPr sz="2800" b="1" spc="-5" dirty="0">
                <a:latin typeface="Calibri"/>
                <a:cs typeface="Calibri"/>
              </a:rPr>
              <a:t>How</a:t>
            </a:r>
            <a:r>
              <a:rPr sz="2800" b="1" spc="-20" dirty="0">
                <a:latin typeface="Calibri"/>
                <a:cs typeface="Calibri"/>
              </a:rPr>
              <a:t> </a:t>
            </a:r>
            <a:r>
              <a:rPr sz="2800" b="1" spc="-10" dirty="0">
                <a:latin typeface="Calibri"/>
                <a:cs typeface="Calibri"/>
              </a:rPr>
              <a:t>did</a:t>
            </a:r>
            <a:r>
              <a:rPr sz="2800" b="1" spc="-5" dirty="0">
                <a:latin typeface="Calibri"/>
                <a:cs typeface="Calibri"/>
              </a:rPr>
              <a:t> his</a:t>
            </a:r>
            <a:r>
              <a:rPr sz="2800" b="1" spc="-10" dirty="0">
                <a:latin typeface="Calibri"/>
                <a:cs typeface="Calibri"/>
              </a:rPr>
              <a:t> journey</a:t>
            </a:r>
            <a:r>
              <a:rPr sz="2800" b="1" spc="-5" dirty="0">
                <a:latin typeface="Calibri"/>
                <a:cs typeface="Calibri"/>
              </a:rPr>
              <a:t> begin?</a:t>
            </a:r>
            <a:endParaRPr lang="en-US" sz="2800" b="1" spc="-5" dirty="0">
              <a:latin typeface="Calibri"/>
              <a:cs typeface="Calibri"/>
            </a:endParaRPr>
          </a:p>
          <a:p>
            <a:pPr rtl="0"/>
            <a:r>
              <a:rPr lang="en-US" sz="2800" dirty="0">
                <a:effectLst/>
              </a:rPr>
              <a:t>Deep Kalra worked hard and managed to open over 200 bowling lanes, mostly in small centers. However, the venture wasn’t his own, and he had a distant boss in America who didn’t provide the proper guidance or support.</a:t>
            </a: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marL="12700">
              <a:lnSpc>
                <a:spcPct val="100000"/>
              </a:lnSpc>
              <a:spcBef>
                <a:spcPts val="5"/>
              </a:spcBef>
            </a:pPr>
            <a:endParaRPr sz="2800" dirty="0">
              <a:latin typeface="Calibri"/>
              <a:cs typeface="Calibri"/>
            </a:endParaRPr>
          </a:p>
        </p:txBody>
      </p:sp>
      <p:pic>
        <p:nvPicPr>
          <p:cNvPr id="4" name="object 4"/>
          <p:cNvPicPr/>
          <p:nvPr/>
        </p:nvPicPr>
        <p:blipFill>
          <a:blip r:embed="rId2" cstate="print"/>
          <a:stretch>
            <a:fillRect/>
          </a:stretch>
        </p:blipFill>
        <p:spPr>
          <a:xfrm>
            <a:off x="5410200" y="914400"/>
            <a:ext cx="3733799" cy="594359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6586" y="9855"/>
            <a:ext cx="2633980" cy="995680"/>
          </a:xfrm>
          <a:prstGeom prst="rect">
            <a:avLst/>
          </a:prstGeom>
        </p:spPr>
        <p:txBody>
          <a:bodyPr vert="horz" wrap="square" lIns="0" tIns="12065" rIns="0" bIns="0" rtlCol="0">
            <a:spAutoFit/>
          </a:bodyPr>
          <a:lstStyle/>
          <a:p>
            <a:pPr marL="140335">
              <a:lnSpc>
                <a:spcPts val="3340"/>
              </a:lnSpc>
              <a:spcBef>
                <a:spcPts val="95"/>
              </a:spcBef>
            </a:pPr>
            <a:r>
              <a:rPr sz="2800" spc="-45" dirty="0"/>
              <a:t>STARTUP</a:t>
            </a:r>
            <a:r>
              <a:rPr sz="2800" spc="-20" dirty="0"/>
              <a:t> </a:t>
            </a:r>
            <a:r>
              <a:rPr sz="2800" spc="-35" dirty="0"/>
              <a:t>STORY</a:t>
            </a:r>
            <a:endParaRPr sz="2800"/>
          </a:p>
          <a:p>
            <a:pPr marL="12700">
              <a:lnSpc>
                <a:spcPts val="4300"/>
              </a:lnSpc>
            </a:pPr>
            <a:r>
              <a:rPr sz="3600" spc="-30" dirty="0"/>
              <a:t>Make</a:t>
            </a:r>
            <a:r>
              <a:rPr sz="3600" spc="-45" dirty="0"/>
              <a:t> </a:t>
            </a:r>
            <a:r>
              <a:rPr sz="3600" spc="-5" dirty="0"/>
              <a:t>My</a:t>
            </a:r>
            <a:r>
              <a:rPr sz="3600" spc="-40" dirty="0"/>
              <a:t> </a:t>
            </a:r>
            <a:r>
              <a:rPr sz="3600" spc="-50" dirty="0"/>
              <a:t>Trip</a:t>
            </a:r>
            <a:endParaRPr sz="3600"/>
          </a:p>
        </p:txBody>
      </p:sp>
      <p:sp>
        <p:nvSpPr>
          <p:cNvPr id="3" name="object 3"/>
          <p:cNvSpPr txBox="1"/>
          <p:nvPr/>
        </p:nvSpPr>
        <p:spPr>
          <a:xfrm>
            <a:off x="78739" y="985773"/>
            <a:ext cx="4909820" cy="3439795"/>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a:t>
            </a:r>
            <a:endParaRPr sz="2800">
              <a:latin typeface="Calibri"/>
              <a:cs typeface="Calibri"/>
            </a:endParaRPr>
          </a:p>
          <a:p>
            <a:pPr marL="12700" marR="5080">
              <a:lnSpc>
                <a:spcPct val="100000"/>
              </a:lnSpc>
            </a:pPr>
            <a:r>
              <a:rPr sz="2800" b="1" spc="-5" dirty="0">
                <a:latin typeface="Calibri"/>
                <a:cs typeface="Calibri"/>
              </a:rPr>
              <a:t>How</a:t>
            </a:r>
            <a:r>
              <a:rPr sz="2800" b="1" spc="-20" dirty="0">
                <a:latin typeface="Calibri"/>
                <a:cs typeface="Calibri"/>
              </a:rPr>
              <a:t> </a:t>
            </a:r>
            <a:r>
              <a:rPr sz="2800" b="1" spc="-5" dirty="0">
                <a:latin typeface="Calibri"/>
                <a:cs typeface="Calibri"/>
              </a:rPr>
              <a:t>did his</a:t>
            </a:r>
            <a:r>
              <a:rPr sz="2800" b="1" dirty="0">
                <a:latin typeface="Calibri"/>
                <a:cs typeface="Calibri"/>
              </a:rPr>
              <a:t> </a:t>
            </a:r>
            <a:r>
              <a:rPr sz="2800" b="1" spc="-10" dirty="0">
                <a:latin typeface="Calibri"/>
                <a:cs typeface="Calibri"/>
              </a:rPr>
              <a:t>journey</a:t>
            </a:r>
            <a:r>
              <a:rPr sz="2800" b="1" dirty="0">
                <a:latin typeface="Calibri"/>
                <a:cs typeface="Calibri"/>
              </a:rPr>
              <a:t> </a:t>
            </a:r>
            <a:r>
              <a:rPr sz="2800" b="1" spc="-5" dirty="0">
                <a:latin typeface="Calibri"/>
                <a:cs typeface="Calibri"/>
              </a:rPr>
              <a:t>begin? </a:t>
            </a:r>
            <a:r>
              <a:rPr sz="2800" b="1" dirty="0">
                <a:latin typeface="Calibri"/>
                <a:cs typeface="Calibri"/>
              </a:rPr>
              <a:t> </a:t>
            </a:r>
            <a:r>
              <a:rPr sz="2800" spc="-40" dirty="0">
                <a:latin typeface="Calibri"/>
                <a:cs typeface="Calibri"/>
              </a:rPr>
              <a:t>Evidently,</a:t>
            </a:r>
            <a:r>
              <a:rPr sz="2800" spc="15"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obvious</a:t>
            </a:r>
            <a:r>
              <a:rPr sz="2800" spc="25" dirty="0">
                <a:latin typeface="Calibri"/>
                <a:cs typeface="Calibri"/>
              </a:rPr>
              <a:t> </a:t>
            </a:r>
            <a:r>
              <a:rPr sz="2800" spc="-10" dirty="0">
                <a:latin typeface="Calibri"/>
                <a:cs typeface="Calibri"/>
              </a:rPr>
              <a:t>reasons</a:t>
            </a:r>
            <a:r>
              <a:rPr sz="2800" spc="15" dirty="0">
                <a:latin typeface="Calibri"/>
                <a:cs typeface="Calibri"/>
              </a:rPr>
              <a:t> </a:t>
            </a:r>
            <a:r>
              <a:rPr sz="2800" spc="-10" dirty="0">
                <a:latin typeface="Calibri"/>
                <a:cs typeface="Calibri"/>
              </a:rPr>
              <a:t>this </a:t>
            </a:r>
            <a:r>
              <a:rPr sz="2800" spc="-615" dirty="0">
                <a:latin typeface="Calibri"/>
                <a:cs typeface="Calibri"/>
              </a:rPr>
              <a:t> </a:t>
            </a:r>
            <a:r>
              <a:rPr sz="2800" spc="-10" dirty="0">
                <a:latin typeface="Calibri"/>
                <a:cs typeface="Calibri"/>
              </a:rPr>
              <a:t>did</a:t>
            </a:r>
            <a:r>
              <a:rPr sz="2800" spc="10" dirty="0">
                <a:latin typeface="Calibri"/>
                <a:cs typeface="Calibri"/>
              </a:rPr>
              <a:t> </a:t>
            </a:r>
            <a:r>
              <a:rPr sz="2800" spc="-10" dirty="0">
                <a:latin typeface="Calibri"/>
                <a:cs typeface="Calibri"/>
              </a:rPr>
              <a:t>not</a:t>
            </a:r>
            <a:r>
              <a:rPr sz="2800" spc="5" dirty="0">
                <a:latin typeface="Calibri"/>
                <a:cs typeface="Calibri"/>
              </a:rPr>
              <a:t> </a:t>
            </a:r>
            <a:r>
              <a:rPr sz="2800" spc="-5" dirty="0">
                <a:latin typeface="Calibri"/>
                <a:cs typeface="Calibri"/>
              </a:rPr>
              <a:t>appeal</a:t>
            </a:r>
            <a:r>
              <a:rPr sz="2800" dirty="0">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him</a:t>
            </a:r>
            <a:r>
              <a:rPr sz="2800" spc="-5" dirty="0">
                <a:latin typeface="Calibri"/>
                <a:cs typeface="Calibri"/>
              </a:rPr>
              <a:t> and</a:t>
            </a:r>
            <a:r>
              <a:rPr sz="2800" spc="20" dirty="0">
                <a:latin typeface="Calibri"/>
                <a:cs typeface="Calibri"/>
              </a:rPr>
              <a:t> </a:t>
            </a:r>
            <a:r>
              <a:rPr sz="2800" spc="-5" dirty="0">
                <a:latin typeface="Calibri"/>
                <a:cs typeface="Calibri"/>
              </a:rPr>
              <a:t>he</a:t>
            </a:r>
            <a:r>
              <a:rPr sz="2800" spc="-10" dirty="0">
                <a:latin typeface="Calibri"/>
                <a:cs typeface="Calibri"/>
              </a:rPr>
              <a:t> </a:t>
            </a:r>
            <a:r>
              <a:rPr sz="2800" spc="-5" dirty="0">
                <a:latin typeface="Calibri"/>
                <a:cs typeface="Calibri"/>
              </a:rPr>
              <a:t>also </a:t>
            </a:r>
            <a:r>
              <a:rPr sz="2800" spc="-615" dirty="0">
                <a:latin typeface="Calibri"/>
                <a:cs typeface="Calibri"/>
              </a:rPr>
              <a:t> </a:t>
            </a:r>
            <a:r>
              <a:rPr sz="2800" spc="-20" dirty="0">
                <a:latin typeface="Calibri"/>
                <a:cs typeface="Calibri"/>
              </a:rPr>
              <a:t>realized</a:t>
            </a:r>
            <a:r>
              <a:rPr sz="2800" spc="-5" dirty="0">
                <a:latin typeface="Calibri"/>
                <a:cs typeface="Calibri"/>
              </a:rPr>
              <a:t> </a:t>
            </a:r>
            <a:r>
              <a:rPr sz="2800" spc="-10" dirty="0">
                <a:latin typeface="Calibri"/>
                <a:cs typeface="Calibri"/>
              </a:rPr>
              <a:t>that</a:t>
            </a:r>
            <a:r>
              <a:rPr sz="2800" spc="-5" dirty="0">
                <a:latin typeface="Calibri"/>
                <a:cs typeface="Calibri"/>
              </a:rPr>
              <a:t> </a:t>
            </a:r>
            <a:r>
              <a:rPr sz="2800" spc="-10" dirty="0">
                <a:latin typeface="Calibri"/>
                <a:cs typeface="Calibri"/>
              </a:rPr>
              <a:t>they</a:t>
            </a:r>
            <a:r>
              <a:rPr sz="2800" spc="5" dirty="0">
                <a:latin typeface="Calibri"/>
                <a:cs typeface="Calibri"/>
              </a:rPr>
              <a:t> </a:t>
            </a:r>
            <a:r>
              <a:rPr sz="2800" spc="-20" dirty="0">
                <a:latin typeface="Calibri"/>
                <a:cs typeface="Calibri"/>
              </a:rPr>
              <a:t>were</a:t>
            </a:r>
            <a:r>
              <a:rPr sz="2800" dirty="0">
                <a:latin typeface="Calibri"/>
                <a:cs typeface="Calibri"/>
              </a:rPr>
              <a:t> </a:t>
            </a:r>
            <a:r>
              <a:rPr sz="2800" spc="-10" dirty="0">
                <a:latin typeface="Calibri"/>
                <a:cs typeface="Calibri"/>
              </a:rPr>
              <a:t>all</a:t>
            </a:r>
            <a:r>
              <a:rPr sz="2800" spc="-5" dirty="0">
                <a:latin typeface="Calibri"/>
                <a:cs typeface="Calibri"/>
              </a:rPr>
              <a:t> </a:t>
            </a:r>
            <a:r>
              <a:rPr sz="2800" spc="-10" dirty="0">
                <a:latin typeface="Calibri"/>
                <a:cs typeface="Calibri"/>
              </a:rPr>
              <a:t>not </a:t>
            </a:r>
            <a:r>
              <a:rPr sz="2800" spc="-5" dirty="0">
                <a:latin typeface="Calibri"/>
                <a:cs typeface="Calibri"/>
              </a:rPr>
              <a:t> </a:t>
            </a:r>
            <a:r>
              <a:rPr sz="2800" spc="-10" dirty="0">
                <a:latin typeface="Calibri"/>
                <a:cs typeface="Calibri"/>
              </a:rPr>
              <a:t>worth</a:t>
            </a:r>
            <a:r>
              <a:rPr sz="2800" dirty="0">
                <a:latin typeface="Calibri"/>
                <a:cs typeface="Calibri"/>
              </a:rPr>
              <a:t> </a:t>
            </a:r>
            <a:r>
              <a:rPr sz="2800" spc="-10" dirty="0">
                <a:latin typeface="Calibri"/>
                <a:cs typeface="Calibri"/>
              </a:rPr>
              <a:t>his</a:t>
            </a:r>
            <a:r>
              <a:rPr sz="2800" spc="15" dirty="0">
                <a:latin typeface="Calibri"/>
                <a:cs typeface="Calibri"/>
              </a:rPr>
              <a:t> </a:t>
            </a:r>
            <a:r>
              <a:rPr sz="2800" spc="-15" dirty="0">
                <a:latin typeface="Calibri"/>
                <a:cs typeface="Calibri"/>
              </a:rPr>
              <a:t>talent.</a:t>
            </a:r>
            <a:r>
              <a:rPr sz="2800" spc="10" dirty="0">
                <a:latin typeface="Calibri"/>
                <a:cs typeface="Calibri"/>
              </a:rPr>
              <a:t> </a:t>
            </a:r>
            <a:r>
              <a:rPr sz="2800" spc="-5" dirty="0">
                <a:latin typeface="Calibri"/>
                <a:cs typeface="Calibri"/>
              </a:rPr>
              <a:t>He </a:t>
            </a:r>
            <a:r>
              <a:rPr sz="2800" spc="-10" dirty="0">
                <a:latin typeface="Calibri"/>
                <a:cs typeface="Calibri"/>
              </a:rPr>
              <a:t>needed </a:t>
            </a:r>
            <a:r>
              <a:rPr sz="2800" spc="-5" dirty="0">
                <a:latin typeface="Calibri"/>
                <a:cs typeface="Calibri"/>
              </a:rPr>
              <a:t> </a:t>
            </a:r>
            <a:r>
              <a:rPr sz="2800" spc="-10" dirty="0">
                <a:latin typeface="Calibri"/>
                <a:cs typeface="Calibri"/>
              </a:rPr>
              <a:t>something</a:t>
            </a:r>
            <a:r>
              <a:rPr sz="2800" spc="5" dirty="0">
                <a:latin typeface="Calibri"/>
                <a:cs typeface="Calibri"/>
              </a:rPr>
              <a:t> </a:t>
            </a:r>
            <a:r>
              <a:rPr sz="2800" spc="-15" dirty="0">
                <a:latin typeface="Calibri"/>
                <a:cs typeface="Calibri"/>
              </a:rPr>
              <a:t>more</a:t>
            </a:r>
            <a:r>
              <a:rPr sz="2800" spc="-5" dirty="0">
                <a:latin typeface="Calibri"/>
                <a:cs typeface="Calibri"/>
              </a:rPr>
              <a:t> </a:t>
            </a:r>
            <a:r>
              <a:rPr sz="2800" spc="-15" dirty="0">
                <a:latin typeface="Calibri"/>
                <a:cs typeface="Calibri"/>
              </a:rPr>
              <a:t>to </a:t>
            </a:r>
            <a:r>
              <a:rPr sz="2800" spc="-10" dirty="0">
                <a:latin typeface="Calibri"/>
                <a:cs typeface="Calibri"/>
              </a:rPr>
              <a:t>showcase</a:t>
            </a:r>
            <a:r>
              <a:rPr sz="2800" spc="5" dirty="0">
                <a:latin typeface="Calibri"/>
                <a:cs typeface="Calibri"/>
              </a:rPr>
              <a:t> </a:t>
            </a:r>
            <a:r>
              <a:rPr sz="2800" spc="-5" dirty="0">
                <a:latin typeface="Calibri"/>
                <a:cs typeface="Calibri"/>
              </a:rPr>
              <a:t>the </a:t>
            </a:r>
            <a:r>
              <a:rPr sz="2800" dirty="0">
                <a:latin typeface="Calibri"/>
                <a:cs typeface="Calibri"/>
              </a:rPr>
              <a:t> </a:t>
            </a:r>
            <a:r>
              <a:rPr sz="2800" spc="-10" dirty="0">
                <a:latin typeface="Calibri"/>
                <a:cs typeface="Calibri"/>
              </a:rPr>
              <a:t>same!</a:t>
            </a:r>
            <a:endParaRPr sz="2800">
              <a:latin typeface="Calibri"/>
              <a:cs typeface="Calibri"/>
            </a:endParaRPr>
          </a:p>
        </p:txBody>
      </p:sp>
      <p:pic>
        <p:nvPicPr>
          <p:cNvPr id="4" name="object 4"/>
          <p:cNvPicPr/>
          <p:nvPr/>
        </p:nvPicPr>
        <p:blipFill>
          <a:blip r:embed="rId2" cstate="print"/>
          <a:stretch>
            <a:fillRect/>
          </a:stretch>
        </p:blipFill>
        <p:spPr>
          <a:xfrm>
            <a:off x="5410200" y="762000"/>
            <a:ext cx="3733799" cy="60959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6586" y="9855"/>
            <a:ext cx="2633980" cy="995680"/>
          </a:xfrm>
          <a:prstGeom prst="rect">
            <a:avLst/>
          </a:prstGeom>
        </p:spPr>
        <p:txBody>
          <a:bodyPr vert="horz" wrap="square" lIns="0" tIns="12065" rIns="0" bIns="0" rtlCol="0">
            <a:spAutoFit/>
          </a:bodyPr>
          <a:lstStyle/>
          <a:p>
            <a:pPr marL="140335">
              <a:lnSpc>
                <a:spcPts val="3340"/>
              </a:lnSpc>
              <a:spcBef>
                <a:spcPts val="95"/>
              </a:spcBef>
            </a:pPr>
            <a:r>
              <a:rPr sz="2800" spc="-45" dirty="0"/>
              <a:t>STARTUP</a:t>
            </a:r>
            <a:r>
              <a:rPr sz="2800" spc="-20" dirty="0"/>
              <a:t> </a:t>
            </a:r>
            <a:r>
              <a:rPr sz="2800" spc="-35" dirty="0"/>
              <a:t>STORY</a:t>
            </a:r>
            <a:endParaRPr sz="2800"/>
          </a:p>
          <a:p>
            <a:pPr marL="12700">
              <a:lnSpc>
                <a:spcPts val="4300"/>
              </a:lnSpc>
            </a:pPr>
            <a:r>
              <a:rPr sz="3600" spc="-30" dirty="0"/>
              <a:t>Make</a:t>
            </a:r>
            <a:r>
              <a:rPr sz="3600" spc="-45" dirty="0"/>
              <a:t> </a:t>
            </a:r>
            <a:r>
              <a:rPr sz="3600" spc="-5" dirty="0"/>
              <a:t>My</a:t>
            </a:r>
            <a:r>
              <a:rPr sz="3600" spc="-40" dirty="0"/>
              <a:t> </a:t>
            </a:r>
            <a:r>
              <a:rPr sz="3600" spc="-50" dirty="0"/>
              <a:t>Trip</a:t>
            </a:r>
            <a:endParaRPr sz="3600"/>
          </a:p>
        </p:txBody>
      </p:sp>
      <p:sp>
        <p:nvSpPr>
          <p:cNvPr id="3" name="object 3"/>
          <p:cNvSpPr txBox="1"/>
          <p:nvPr/>
        </p:nvSpPr>
        <p:spPr>
          <a:xfrm>
            <a:off x="226275" y="1005535"/>
            <a:ext cx="5230495" cy="3890168"/>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a:t>
            </a:r>
            <a:endParaRPr sz="2800" dirty="0">
              <a:latin typeface="Calibri"/>
              <a:cs typeface="Calibri"/>
            </a:endParaRPr>
          </a:p>
          <a:p>
            <a:pPr marL="12700">
              <a:lnSpc>
                <a:spcPct val="100000"/>
              </a:lnSpc>
            </a:pPr>
            <a:r>
              <a:rPr sz="2800" b="1" spc="-5" dirty="0">
                <a:latin typeface="Calibri"/>
                <a:cs typeface="Calibri"/>
              </a:rPr>
              <a:t>How</a:t>
            </a:r>
            <a:r>
              <a:rPr sz="2800" b="1" spc="-25" dirty="0">
                <a:latin typeface="Calibri"/>
                <a:cs typeface="Calibri"/>
              </a:rPr>
              <a:t> </a:t>
            </a:r>
            <a:r>
              <a:rPr sz="2800" b="1" spc="-5" dirty="0">
                <a:latin typeface="Calibri"/>
                <a:cs typeface="Calibri"/>
              </a:rPr>
              <a:t>did</a:t>
            </a:r>
            <a:r>
              <a:rPr sz="2800" b="1" spc="-10" dirty="0">
                <a:latin typeface="Calibri"/>
                <a:cs typeface="Calibri"/>
              </a:rPr>
              <a:t> </a:t>
            </a:r>
            <a:r>
              <a:rPr sz="2800" b="1" spc="-5" dirty="0">
                <a:latin typeface="Calibri"/>
                <a:cs typeface="Calibri"/>
              </a:rPr>
              <a:t>his</a:t>
            </a:r>
            <a:r>
              <a:rPr sz="2800" b="1" spc="-10" dirty="0">
                <a:latin typeface="Calibri"/>
                <a:cs typeface="Calibri"/>
              </a:rPr>
              <a:t> journey</a:t>
            </a:r>
            <a:r>
              <a:rPr sz="2800" b="1" dirty="0">
                <a:latin typeface="Calibri"/>
                <a:cs typeface="Calibri"/>
              </a:rPr>
              <a:t> </a:t>
            </a:r>
            <a:r>
              <a:rPr sz="2800" b="1" spc="-5" dirty="0">
                <a:latin typeface="Calibri"/>
                <a:cs typeface="Calibri"/>
              </a:rPr>
              <a:t>begin?</a:t>
            </a:r>
            <a:endParaRPr lang="en-US" sz="2800" b="1" spc="-5" dirty="0">
              <a:latin typeface="Calibri"/>
              <a:cs typeface="Calibri"/>
            </a:endParaRPr>
          </a:p>
          <a:p>
            <a:pPr marL="12700">
              <a:lnSpc>
                <a:spcPct val="100000"/>
              </a:lnSpc>
            </a:pPr>
            <a:r>
              <a:rPr lang="en-US" sz="2800" dirty="0">
                <a:effectLst/>
              </a:rPr>
              <a:t>Deep Kalra noticed the growth of the internet and quit his job to simplify the messy online travel booking industry. He founded MakeMyTrip, transforming travel bookings and quickly making it one of India’s leading travel platforms.</a:t>
            </a:r>
            <a:endParaRPr lang="en-US" sz="2800" b="1" spc="-5" dirty="0">
              <a:latin typeface="Calibri"/>
              <a:cs typeface="Calibri"/>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9855"/>
            <a:ext cx="8794750" cy="5574030"/>
          </a:xfrm>
          <a:prstGeom prst="rect">
            <a:avLst/>
          </a:prstGeom>
        </p:spPr>
        <p:txBody>
          <a:bodyPr vert="horz" wrap="square" lIns="0" tIns="12065" rIns="0" bIns="0" rtlCol="0">
            <a:spAutoFit/>
          </a:bodyPr>
          <a:lstStyle/>
          <a:p>
            <a:pPr marL="12700">
              <a:lnSpc>
                <a:spcPct val="100000"/>
              </a:lnSpc>
              <a:spcBef>
                <a:spcPts val="95"/>
              </a:spcBef>
            </a:pPr>
            <a:r>
              <a:rPr lang="en-US" sz="2800" b="1" spc="-45" dirty="0">
                <a:solidFill>
                  <a:srgbClr val="E36C09"/>
                </a:solidFill>
                <a:latin typeface="Calibri"/>
                <a:cs typeface="Calibri"/>
              </a:rPr>
              <a:t>			</a:t>
            </a:r>
            <a:r>
              <a:rPr sz="2800" b="1" spc="-45" dirty="0">
                <a:solidFill>
                  <a:srgbClr val="E36C09"/>
                </a:solidFill>
                <a:latin typeface="Calibri"/>
                <a:cs typeface="Calibri"/>
              </a:rPr>
              <a:t>STARTUP</a:t>
            </a:r>
            <a:r>
              <a:rPr sz="2800" b="1" spc="-20" dirty="0">
                <a:solidFill>
                  <a:srgbClr val="E36C09"/>
                </a:solidFill>
                <a:latin typeface="Calibri"/>
                <a:cs typeface="Calibri"/>
              </a:rPr>
              <a:t> </a:t>
            </a:r>
            <a:r>
              <a:rPr sz="2800" b="1" spc="-35" dirty="0">
                <a:solidFill>
                  <a:srgbClr val="E36C09"/>
                </a:solidFill>
                <a:latin typeface="Calibri"/>
                <a:cs typeface="Calibri"/>
              </a:rPr>
              <a:t>STORY</a:t>
            </a:r>
            <a:endParaRPr sz="2800" dirty="0">
              <a:latin typeface="Calibri"/>
              <a:cs typeface="Calibri"/>
            </a:endParaRPr>
          </a:p>
          <a:p>
            <a:pPr marL="12700">
              <a:lnSpc>
                <a:spcPct val="100000"/>
              </a:lnSpc>
              <a:spcBef>
                <a:spcPts val="5"/>
              </a:spcBef>
            </a:pPr>
            <a:r>
              <a:rPr sz="2800" b="1" spc="-10" dirty="0">
                <a:latin typeface="Calibri"/>
                <a:cs typeface="Calibri"/>
              </a:rPr>
              <a:t>Achievements</a:t>
            </a:r>
            <a:endParaRPr sz="2800" dirty="0">
              <a:latin typeface="Calibri"/>
              <a:cs typeface="Calibri"/>
            </a:endParaRPr>
          </a:p>
          <a:p>
            <a:pPr marL="12700" marR="996315">
              <a:lnSpc>
                <a:spcPct val="100000"/>
              </a:lnSpc>
            </a:pPr>
            <a:r>
              <a:rPr sz="2800" spc="-15" dirty="0">
                <a:latin typeface="Calibri"/>
                <a:cs typeface="Calibri"/>
              </a:rPr>
              <a:t>Chairperson</a:t>
            </a:r>
            <a:r>
              <a:rPr sz="2800" spc="3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NASSCOM</a:t>
            </a:r>
            <a:r>
              <a:rPr sz="2800" spc="30" dirty="0">
                <a:latin typeface="Calibri"/>
                <a:cs typeface="Calibri"/>
              </a:rPr>
              <a:t> </a:t>
            </a:r>
            <a:r>
              <a:rPr sz="2800" spc="-15" dirty="0">
                <a:latin typeface="Calibri"/>
                <a:cs typeface="Calibri"/>
              </a:rPr>
              <a:t>Internet</a:t>
            </a:r>
            <a:r>
              <a:rPr sz="2800" dirty="0">
                <a:latin typeface="Calibri"/>
                <a:cs typeface="Calibri"/>
              </a:rPr>
              <a:t> </a:t>
            </a:r>
            <a:r>
              <a:rPr sz="2800" spc="-25" dirty="0">
                <a:latin typeface="Calibri"/>
                <a:cs typeface="Calibri"/>
              </a:rPr>
              <a:t>Working</a:t>
            </a:r>
            <a:r>
              <a:rPr sz="2800" spc="30" dirty="0">
                <a:latin typeface="Calibri"/>
                <a:cs typeface="Calibri"/>
              </a:rPr>
              <a:t> </a:t>
            </a:r>
            <a:r>
              <a:rPr sz="2800" spc="-20" dirty="0">
                <a:latin typeface="Calibri"/>
                <a:cs typeface="Calibri"/>
              </a:rPr>
              <a:t>Group </a:t>
            </a:r>
            <a:r>
              <a:rPr sz="2800" spc="-620" dirty="0">
                <a:latin typeface="Calibri"/>
                <a:cs typeface="Calibri"/>
              </a:rPr>
              <a:t> </a:t>
            </a:r>
            <a:r>
              <a:rPr sz="2800" spc="-10" dirty="0">
                <a:latin typeface="Calibri"/>
                <a:cs typeface="Calibri"/>
              </a:rPr>
              <a:t>Member</a:t>
            </a:r>
            <a:r>
              <a:rPr sz="2800" spc="5" dirty="0">
                <a:latin typeface="Calibri"/>
                <a:cs typeface="Calibri"/>
              </a:rPr>
              <a:t> </a:t>
            </a:r>
            <a:r>
              <a:rPr sz="2800" spc="-5" dirty="0">
                <a:latin typeface="Calibri"/>
                <a:cs typeface="Calibri"/>
              </a:rPr>
              <a:t>of the</a:t>
            </a:r>
            <a:r>
              <a:rPr sz="2800" dirty="0">
                <a:latin typeface="Calibri"/>
                <a:cs typeface="Calibri"/>
              </a:rPr>
              <a:t> </a:t>
            </a:r>
            <a:r>
              <a:rPr sz="2800" spc="-15" dirty="0">
                <a:latin typeface="Calibri"/>
                <a:cs typeface="Calibri"/>
              </a:rPr>
              <a:t>Executive</a:t>
            </a:r>
            <a:r>
              <a:rPr sz="2800" dirty="0">
                <a:latin typeface="Calibri"/>
                <a:cs typeface="Calibri"/>
              </a:rPr>
              <a:t> </a:t>
            </a:r>
            <a:r>
              <a:rPr sz="2800" spc="-5" dirty="0">
                <a:latin typeface="Calibri"/>
                <a:cs typeface="Calibri"/>
              </a:rPr>
              <a:t>Council</a:t>
            </a:r>
            <a:r>
              <a:rPr sz="2800" spc="10" dirty="0">
                <a:latin typeface="Calibri"/>
                <a:cs typeface="Calibri"/>
              </a:rPr>
              <a:t> </a:t>
            </a:r>
            <a:r>
              <a:rPr sz="2800" spc="-5" dirty="0">
                <a:latin typeface="Calibri"/>
                <a:cs typeface="Calibri"/>
              </a:rPr>
              <a:t>of</a:t>
            </a:r>
            <a:r>
              <a:rPr sz="2800" spc="-20" dirty="0">
                <a:latin typeface="Calibri"/>
                <a:cs typeface="Calibri"/>
              </a:rPr>
              <a:t> </a:t>
            </a:r>
            <a:r>
              <a:rPr sz="2800" spc="-10" dirty="0">
                <a:latin typeface="Calibri"/>
                <a:cs typeface="Calibri"/>
              </a:rPr>
              <a:t>NASSCOM</a:t>
            </a:r>
            <a:endParaRPr sz="2800" dirty="0">
              <a:latin typeface="Calibri"/>
              <a:cs typeface="Calibri"/>
            </a:endParaRPr>
          </a:p>
          <a:p>
            <a:pPr marL="12700">
              <a:lnSpc>
                <a:spcPct val="100000"/>
              </a:lnSpc>
            </a:pPr>
            <a:r>
              <a:rPr sz="2800" spc="-5" dirty="0">
                <a:latin typeface="Calibri"/>
                <a:cs typeface="Calibri"/>
              </a:rPr>
              <a:t>Member</a:t>
            </a:r>
            <a:r>
              <a:rPr sz="2800" spc="15" dirty="0">
                <a:latin typeface="Calibri"/>
                <a:cs typeface="Calibri"/>
              </a:rPr>
              <a:t> </a:t>
            </a:r>
            <a:r>
              <a:rPr sz="2800" spc="-5" dirty="0">
                <a:latin typeface="Calibri"/>
                <a:cs typeface="Calibri"/>
              </a:rPr>
              <a:t>of </a:t>
            </a:r>
            <a:r>
              <a:rPr sz="2800" spc="-40" dirty="0">
                <a:latin typeface="Calibri"/>
                <a:cs typeface="Calibri"/>
              </a:rPr>
              <a:t>CII’s</a:t>
            </a:r>
            <a:r>
              <a:rPr sz="2800" spc="-20" dirty="0">
                <a:latin typeface="Calibri"/>
                <a:cs typeface="Calibri"/>
              </a:rPr>
              <a:t> </a:t>
            </a:r>
            <a:r>
              <a:rPr sz="2800" spc="-45" dirty="0">
                <a:latin typeface="Calibri"/>
                <a:cs typeface="Calibri"/>
              </a:rPr>
              <a:t>Tourism</a:t>
            </a:r>
            <a:r>
              <a:rPr sz="2800" spc="30" dirty="0">
                <a:latin typeface="Calibri"/>
                <a:cs typeface="Calibri"/>
              </a:rPr>
              <a:t> </a:t>
            </a:r>
            <a:r>
              <a:rPr sz="2800" spc="-15" dirty="0">
                <a:latin typeface="Calibri"/>
                <a:cs typeface="Calibri"/>
              </a:rPr>
              <a:t>sub-committee</a:t>
            </a:r>
            <a:endParaRPr sz="2800" dirty="0">
              <a:latin typeface="Calibri"/>
              <a:cs typeface="Calibri"/>
            </a:endParaRPr>
          </a:p>
          <a:p>
            <a:pPr marL="12700" marR="548640">
              <a:lnSpc>
                <a:spcPct val="100000"/>
              </a:lnSpc>
            </a:pPr>
            <a:r>
              <a:rPr sz="2800" spc="-15" dirty="0">
                <a:latin typeface="Calibri"/>
                <a:cs typeface="Calibri"/>
              </a:rPr>
              <a:t>Awarded</a:t>
            </a:r>
            <a:r>
              <a:rPr sz="2800" spc="5" dirty="0">
                <a:latin typeface="Calibri"/>
                <a:cs typeface="Calibri"/>
              </a:rPr>
              <a:t> </a:t>
            </a:r>
            <a:r>
              <a:rPr sz="2800" spc="-5" dirty="0">
                <a:latin typeface="Calibri"/>
                <a:cs typeface="Calibri"/>
              </a:rPr>
              <a:t>as the</a:t>
            </a:r>
            <a:r>
              <a:rPr sz="2800" spc="15" dirty="0">
                <a:latin typeface="Calibri"/>
                <a:cs typeface="Calibri"/>
              </a:rPr>
              <a:t> </a:t>
            </a:r>
            <a:r>
              <a:rPr sz="2800" spc="-10" dirty="0">
                <a:latin typeface="Calibri"/>
                <a:cs typeface="Calibri"/>
              </a:rPr>
              <a:t>“Best</a:t>
            </a:r>
            <a:r>
              <a:rPr sz="2800" spc="10" dirty="0">
                <a:latin typeface="Calibri"/>
                <a:cs typeface="Calibri"/>
              </a:rPr>
              <a:t> </a:t>
            </a:r>
            <a:r>
              <a:rPr sz="2800" spc="-55" dirty="0">
                <a:latin typeface="Calibri"/>
                <a:cs typeface="Calibri"/>
              </a:rPr>
              <a:t>Travel</a:t>
            </a:r>
            <a:r>
              <a:rPr sz="2800" spc="-35" dirty="0">
                <a:latin typeface="Calibri"/>
                <a:cs typeface="Calibri"/>
              </a:rPr>
              <a:t> </a:t>
            </a:r>
            <a:r>
              <a:rPr sz="2800" spc="-25" dirty="0">
                <a:latin typeface="Calibri"/>
                <a:cs typeface="Calibri"/>
              </a:rPr>
              <a:t>Portal</a:t>
            </a:r>
            <a:r>
              <a:rPr sz="2800" spc="20" dirty="0">
                <a:latin typeface="Calibri"/>
                <a:cs typeface="Calibri"/>
              </a:rPr>
              <a:t> </a:t>
            </a:r>
            <a:r>
              <a:rPr sz="2800" spc="-5" dirty="0">
                <a:latin typeface="Calibri"/>
                <a:cs typeface="Calibri"/>
              </a:rPr>
              <a:t>India”</a:t>
            </a:r>
            <a:r>
              <a:rPr sz="2800" spc="20" dirty="0">
                <a:latin typeface="Calibri"/>
                <a:cs typeface="Calibri"/>
              </a:rPr>
              <a:t> </a:t>
            </a:r>
            <a:r>
              <a:rPr sz="2800" spc="-15" dirty="0">
                <a:latin typeface="Calibri"/>
                <a:cs typeface="Calibri"/>
              </a:rPr>
              <a:t>by</a:t>
            </a:r>
            <a:r>
              <a:rPr sz="2800" spc="5" dirty="0">
                <a:latin typeface="Calibri"/>
                <a:cs typeface="Calibri"/>
              </a:rPr>
              <a:t> </a:t>
            </a:r>
            <a:r>
              <a:rPr sz="2800" spc="-30" dirty="0">
                <a:latin typeface="Calibri"/>
                <a:cs typeface="Calibri"/>
              </a:rPr>
              <a:t>World</a:t>
            </a:r>
            <a:r>
              <a:rPr sz="2800" spc="5" dirty="0">
                <a:latin typeface="Calibri"/>
                <a:cs typeface="Calibri"/>
              </a:rPr>
              <a:t> </a:t>
            </a:r>
            <a:r>
              <a:rPr sz="2800" spc="-55" dirty="0">
                <a:latin typeface="Calibri"/>
                <a:cs typeface="Calibri"/>
              </a:rPr>
              <a:t>Travel </a:t>
            </a:r>
            <a:r>
              <a:rPr sz="2800" spc="-615" dirty="0">
                <a:latin typeface="Calibri"/>
                <a:cs typeface="Calibri"/>
              </a:rPr>
              <a:t> </a:t>
            </a:r>
            <a:r>
              <a:rPr sz="2800" spc="-15" dirty="0">
                <a:latin typeface="Calibri"/>
                <a:cs typeface="Calibri"/>
              </a:rPr>
              <a:t>Awards</a:t>
            </a:r>
            <a:r>
              <a:rPr sz="2800" spc="5" dirty="0">
                <a:latin typeface="Calibri"/>
                <a:cs typeface="Calibri"/>
              </a:rPr>
              <a:t> </a:t>
            </a:r>
            <a:r>
              <a:rPr sz="2800" spc="-5" dirty="0">
                <a:latin typeface="Calibri"/>
                <a:cs typeface="Calibri"/>
              </a:rPr>
              <a:t>(2014,</a:t>
            </a:r>
            <a:r>
              <a:rPr sz="2800" spc="20" dirty="0">
                <a:latin typeface="Calibri"/>
                <a:cs typeface="Calibri"/>
              </a:rPr>
              <a:t> </a:t>
            </a:r>
            <a:r>
              <a:rPr sz="2800" spc="-5" dirty="0">
                <a:latin typeface="Calibri"/>
                <a:cs typeface="Calibri"/>
              </a:rPr>
              <a:t>2013)</a:t>
            </a:r>
            <a:endParaRPr sz="2800" dirty="0">
              <a:latin typeface="Calibri"/>
              <a:cs typeface="Calibri"/>
            </a:endParaRPr>
          </a:p>
          <a:p>
            <a:pPr marL="12700" marR="567690">
              <a:lnSpc>
                <a:spcPct val="100000"/>
              </a:lnSpc>
              <a:spcBef>
                <a:spcPts val="5"/>
              </a:spcBef>
            </a:pPr>
            <a:r>
              <a:rPr sz="2800" spc="-15" dirty="0">
                <a:latin typeface="Calibri"/>
                <a:cs typeface="Calibri"/>
              </a:rPr>
              <a:t>Awarded</a:t>
            </a:r>
            <a:r>
              <a:rPr sz="2800" spc="5" dirty="0">
                <a:latin typeface="Calibri"/>
                <a:cs typeface="Calibri"/>
              </a:rPr>
              <a:t> </a:t>
            </a:r>
            <a:r>
              <a:rPr sz="2800" spc="-5" dirty="0">
                <a:latin typeface="Calibri"/>
                <a:cs typeface="Calibri"/>
              </a:rPr>
              <a:t>as</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“E-tailer</a:t>
            </a:r>
            <a:r>
              <a:rPr sz="2800" spc="-1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Year”</a:t>
            </a:r>
            <a:r>
              <a:rPr sz="2800" spc="-5" dirty="0">
                <a:latin typeface="Calibri"/>
                <a:cs typeface="Calibri"/>
              </a:rPr>
              <a:t> </a:t>
            </a:r>
            <a:r>
              <a:rPr sz="2800" spc="-15" dirty="0">
                <a:latin typeface="Calibri"/>
                <a:cs typeface="Calibri"/>
              </a:rPr>
              <a:t>by</a:t>
            </a:r>
            <a:r>
              <a:rPr sz="2800" dirty="0">
                <a:latin typeface="Calibri"/>
                <a:cs typeface="Calibri"/>
              </a:rPr>
              <a:t> </a:t>
            </a:r>
            <a:r>
              <a:rPr sz="2800" spc="-5" dirty="0">
                <a:latin typeface="Calibri"/>
                <a:cs typeface="Calibri"/>
              </a:rPr>
              <a:t>ET</a:t>
            </a:r>
            <a:r>
              <a:rPr sz="2800" dirty="0">
                <a:latin typeface="Calibri"/>
                <a:cs typeface="Calibri"/>
              </a:rPr>
              <a:t> </a:t>
            </a:r>
            <a:r>
              <a:rPr sz="2800" spc="-20" dirty="0">
                <a:latin typeface="Calibri"/>
                <a:cs typeface="Calibri"/>
              </a:rPr>
              <a:t>Retail</a:t>
            </a:r>
            <a:r>
              <a:rPr sz="2800" spc="-10" dirty="0">
                <a:latin typeface="Calibri"/>
                <a:cs typeface="Calibri"/>
              </a:rPr>
              <a:t> </a:t>
            </a:r>
            <a:r>
              <a:rPr sz="2800" spc="-15" dirty="0">
                <a:latin typeface="Calibri"/>
                <a:cs typeface="Calibri"/>
              </a:rPr>
              <a:t>Awards </a:t>
            </a:r>
            <a:r>
              <a:rPr sz="2800" spc="-620" dirty="0">
                <a:latin typeface="Calibri"/>
                <a:cs typeface="Calibri"/>
              </a:rPr>
              <a:t> </a:t>
            </a:r>
            <a:r>
              <a:rPr sz="2800" spc="-10" dirty="0">
                <a:latin typeface="Calibri"/>
                <a:cs typeface="Calibri"/>
              </a:rPr>
              <a:t>(2014,</a:t>
            </a:r>
            <a:r>
              <a:rPr sz="2800" spc="25" dirty="0">
                <a:latin typeface="Calibri"/>
                <a:cs typeface="Calibri"/>
              </a:rPr>
              <a:t> </a:t>
            </a:r>
            <a:r>
              <a:rPr sz="2800" spc="-5" dirty="0">
                <a:latin typeface="Calibri"/>
                <a:cs typeface="Calibri"/>
              </a:rPr>
              <a:t>2013)</a:t>
            </a:r>
            <a:endParaRPr sz="2800" dirty="0">
              <a:latin typeface="Calibri"/>
              <a:cs typeface="Calibri"/>
            </a:endParaRPr>
          </a:p>
          <a:p>
            <a:pPr marL="12700" marR="356870">
              <a:lnSpc>
                <a:spcPct val="100000"/>
              </a:lnSpc>
            </a:pPr>
            <a:r>
              <a:rPr sz="2800" spc="-15" dirty="0">
                <a:latin typeface="Calibri"/>
                <a:cs typeface="Calibri"/>
              </a:rPr>
              <a:t>Awarded</a:t>
            </a:r>
            <a:r>
              <a:rPr sz="2800" spc="15" dirty="0">
                <a:latin typeface="Calibri"/>
                <a:cs typeface="Calibri"/>
              </a:rPr>
              <a:t> </a:t>
            </a:r>
            <a:r>
              <a:rPr sz="2800" spc="-5" dirty="0">
                <a:latin typeface="Calibri"/>
                <a:cs typeface="Calibri"/>
              </a:rPr>
              <a:t>as</a:t>
            </a:r>
            <a:r>
              <a:rPr sz="2800"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“Best</a:t>
            </a:r>
            <a:r>
              <a:rPr sz="2800" spc="20" dirty="0">
                <a:latin typeface="Calibri"/>
                <a:cs typeface="Calibri"/>
              </a:rPr>
              <a:t> </a:t>
            </a:r>
            <a:r>
              <a:rPr sz="2800" spc="-10" dirty="0">
                <a:latin typeface="Calibri"/>
                <a:cs typeface="Calibri"/>
              </a:rPr>
              <a:t>Online</a:t>
            </a:r>
            <a:r>
              <a:rPr sz="2800" spc="15" dirty="0">
                <a:latin typeface="Calibri"/>
                <a:cs typeface="Calibri"/>
              </a:rPr>
              <a:t> </a:t>
            </a:r>
            <a:r>
              <a:rPr sz="2800" spc="-55" dirty="0">
                <a:latin typeface="Calibri"/>
                <a:cs typeface="Calibri"/>
              </a:rPr>
              <a:t>Travel</a:t>
            </a:r>
            <a:r>
              <a:rPr sz="2800" spc="-25" dirty="0">
                <a:latin typeface="Calibri"/>
                <a:cs typeface="Calibri"/>
              </a:rPr>
              <a:t> </a:t>
            </a:r>
            <a:r>
              <a:rPr sz="2800" spc="-5" dirty="0">
                <a:latin typeface="Calibri"/>
                <a:cs typeface="Calibri"/>
              </a:rPr>
              <a:t>Service</a:t>
            </a:r>
            <a:r>
              <a:rPr sz="2800" spc="25" dirty="0">
                <a:latin typeface="Calibri"/>
                <a:cs typeface="Calibri"/>
              </a:rPr>
              <a:t> </a:t>
            </a:r>
            <a:r>
              <a:rPr sz="2800" spc="-10" dirty="0">
                <a:latin typeface="Calibri"/>
                <a:cs typeface="Calibri"/>
              </a:rPr>
              <a:t>Firm”</a:t>
            </a:r>
            <a:r>
              <a:rPr sz="2800" spc="15" dirty="0">
                <a:latin typeface="Calibri"/>
                <a:cs typeface="Calibri"/>
              </a:rPr>
              <a:t> </a:t>
            </a:r>
            <a:r>
              <a:rPr sz="2800" spc="-15" dirty="0">
                <a:latin typeface="Calibri"/>
                <a:cs typeface="Calibri"/>
              </a:rPr>
              <a:t>by</a:t>
            </a:r>
            <a:r>
              <a:rPr sz="2800" spc="5" dirty="0">
                <a:latin typeface="Calibri"/>
                <a:cs typeface="Calibri"/>
              </a:rPr>
              <a:t> </a:t>
            </a:r>
            <a:r>
              <a:rPr sz="2800" spc="-5" dirty="0">
                <a:latin typeface="Calibri"/>
                <a:cs typeface="Calibri"/>
              </a:rPr>
              <a:t>Times </a:t>
            </a:r>
            <a:r>
              <a:rPr sz="2800" spc="-615" dirty="0">
                <a:latin typeface="Calibri"/>
                <a:cs typeface="Calibri"/>
              </a:rPr>
              <a:t> </a:t>
            </a:r>
            <a:r>
              <a:rPr sz="2800" spc="-55" dirty="0">
                <a:latin typeface="Calibri"/>
                <a:cs typeface="Calibri"/>
              </a:rPr>
              <a:t>Travel</a:t>
            </a:r>
            <a:r>
              <a:rPr sz="2800" spc="-20" dirty="0">
                <a:latin typeface="Calibri"/>
                <a:cs typeface="Calibri"/>
              </a:rPr>
              <a:t> </a:t>
            </a:r>
            <a:r>
              <a:rPr sz="2800" spc="-15" dirty="0">
                <a:latin typeface="Calibri"/>
                <a:cs typeface="Calibri"/>
              </a:rPr>
              <a:t>Honours</a:t>
            </a:r>
            <a:r>
              <a:rPr sz="2800" spc="30" dirty="0">
                <a:latin typeface="Calibri"/>
                <a:cs typeface="Calibri"/>
              </a:rPr>
              <a:t> </a:t>
            </a:r>
            <a:r>
              <a:rPr sz="2800" spc="-10" dirty="0">
                <a:latin typeface="Calibri"/>
                <a:cs typeface="Calibri"/>
              </a:rPr>
              <a:t>(2011)</a:t>
            </a:r>
            <a:endParaRPr sz="2800" dirty="0">
              <a:latin typeface="Calibri"/>
              <a:cs typeface="Calibri"/>
            </a:endParaRPr>
          </a:p>
          <a:p>
            <a:pPr marL="12700" marR="5080">
              <a:lnSpc>
                <a:spcPct val="100000"/>
              </a:lnSpc>
            </a:pPr>
            <a:r>
              <a:rPr sz="2800" spc="-20" dirty="0">
                <a:latin typeface="Calibri"/>
                <a:cs typeface="Calibri"/>
              </a:rPr>
              <a:t>Listed</a:t>
            </a:r>
            <a:r>
              <a:rPr sz="2800" spc="5" dirty="0">
                <a:latin typeface="Calibri"/>
                <a:cs typeface="Calibri"/>
              </a:rPr>
              <a:t> </a:t>
            </a:r>
            <a:r>
              <a:rPr sz="2800" spc="-5" dirty="0">
                <a:latin typeface="Calibri"/>
                <a:cs typeface="Calibri"/>
              </a:rPr>
              <a:t>as</a:t>
            </a:r>
            <a:r>
              <a:rPr sz="2800" spc="20" dirty="0">
                <a:latin typeface="Calibri"/>
                <a:cs typeface="Calibri"/>
              </a:rPr>
              <a:t> </a:t>
            </a:r>
            <a:r>
              <a:rPr sz="2800" spc="-35" dirty="0">
                <a:latin typeface="Calibri"/>
                <a:cs typeface="Calibri"/>
              </a:rPr>
              <a:t>“Ten</a:t>
            </a:r>
            <a:r>
              <a:rPr sz="2800" dirty="0">
                <a:latin typeface="Calibri"/>
                <a:cs typeface="Calibri"/>
              </a:rPr>
              <a:t> </a:t>
            </a:r>
            <a:r>
              <a:rPr sz="2800" spc="-15" dirty="0">
                <a:latin typeface="Calibri"/>
                <a:cs typeface="Calibri"/>
              </a:rPr>
              <a:t>Best</a:t>
            </a:r>
            <a:r>
              <a:rPr sz="2800" spc="15" dirty="0">
                <a:latin typeface="Calibri"/>
                <a:cs typeface="Calibri"/>
              </a:rPr>
              <a:t> </a:t>
            </a:r>
            <a:r>
              <a:rPr sz="2800" spc="-10" dirty="0">
                <a:latin typeface="Calibri"/>
                <a:cs typeface="Calibri"/>
              </a:rPr>
              <a:t>Companies</a:t>
            </a:r>
            <a:r>
              <a:rPr sz="2800" spc="35" dirty="0">
                <a:latin typeface="Calibri"/>
                <a:cs typeface="Calibri"/>
              </a:rPr>
              <a:t> </a:t>
            </a:r>
            <a:r>
              <a:rPr sz="2800" spc="-20" dirty="0">
                <a:latin typeface="Calibri"/>
                <a:cs typeface="Calibri"/>
              </a:rPr>
              <a:t>to</a:t>
            </a:r>
            <a:r>
              <a:rPr sz="2800" dirty="0">
                <a:latin typeface="Calibri"/>
                <a:cs typeface="Calibri"/>
              </a:rPr>
              <a:t> </a:t>
            </a:r>
            <a:r>
              <a:rPr sz="2800" spc="-40" dirty="0">
                <a:latin typeface="Calibri"/>
                <a:cs typeface="Calibri"/>
              </a:rPr>
              <a:t>Work</a:t>
            </a:r>
            <a:r>
              <a:rPr sz="2800" spc="5" dirty="0">
                <a:latin typeface="Calibri"/>
                <a:cs typeface="Calibri"/>
              </a:rPr>
              <a:t> </a:t>
            </a:r>
            <a:r>
              <a:rPr sz="2800" spc="-20" dirty="0">
                <a:latin typeface="Calibri"/>
                <a:cs typeface="Calibri"/>
              </a:rPr>
              <a:t>For</a:t>
            </a:r>
            <a:r>
              <a:rPr sz="2800" spc="10" dirty="0">
                <a:latin typeface="Calibri"/>
                <a:cs typeface="Calibri"/>
              </a:rPr>
              <a:t> </a:t>
            </a:r>
            <a:r>
              <a:rPr sz="2800" spc="-5" dirty="0">
                <a:latin typeface="Calibri"/>
                <a:cs typeface="Calibri"/>
              </a:rPr>
              <a:t>in</a:t>
            </a:r>
            <a:r>
              <a:rPr sz="2800" dirty="0">
                <a:latin typeface="Calibri"/>
                <a:cs typeface="Calibri"/>
              </a:rPr>
              <a:t> </a:t>
            </a:r>
            <a:r>
              <a:rPr sz="2800" spc="-5" dirty="0">
                <a:latin typeface="Calibri"/>
                <a:cs typeface="Calibri"/>
              </a:rPr>
              <a:t>India”</a:t>
            </a:r>
            <a:r>
              <a:rPr sz="2800" spc="25" dirty="0">
                <a:latin typeface="Calibri"/>
                <a:cs typeface="Calibri"/>
              </a:rPr>
              <a:t> </a:t>
            </a:r>
            <a:r>
              <a:rPr sz="2800" spc="-15" dirty="0">
                <a:latin typeface="Calibri"/>
                <a:cs typeface="Calibri"/>
              </a:rPr>
              <a:t>by</a:t>
            </a:r>
            <a:r>
              <a:rPr sz="2800" spc="10" dirty="0">
                <a:latin typeface="Calibri"/>
                <a:cs typeface="Calibri"/>
              </a:rPr>
              <a:t> </a:t>
            </a:r>
            <a:r>
              <a:rPr sz="2800" spc="-15" dirty="0">
                <a:latin typeface="Calibri"/>
                <a:cs typeface="Calibri"/>
              </a:rPr>
              <a:t>Great </a:t>
            </a:r>
            <a:r>
              <a:rPr sz="2800" spc="-620" dirty="0">
                <a:latin typeface="Calibri"/>
                <a:cs typeface="Calibri"/>
              </a:rPr>
              <a:t> </a:t>
            </a:r>
            <a:r>
              <a:rPr sz="2800" spc="-5" dirty="0">
                <a:latin typeface="Calibri"/>
                <a:cs typeface="Calibri"/>
              </a:rPr>
              <a:t>Place</a:t>
            </a:r>
            <a:r>
              <a:rPr sz="2800" dirty="0">
                <a:latin typeface="Calibri"/>
                <a:cs typeface="Calibri"/>
              </a:rPr>
              <a:t> </a:t>
            </a:r>
            <a:r>
              <a:rPr sz="2800" spc="-20" dirty="0">
                <a:latin typeface="Calibri"/>
                <a:cs typeface="Calibri"/>
              </a:rPr>
              <a:t>to</a:t>
            </a:r>
            <a:r>
              <a:rPr sz="2800" spc="-5" dirty="0">
                <a:latin typeface="Calibri"/>
                <a:cs typeface="Calibri"/>
              </a:rPr>
              <a:t> </a:t>
            </a:r>
            <a:r>
              <a:rPr sz="2800" spc="-35" dirty="0">
                <a:latin typeface="Calibri"/>
                <a:cs typeface="Calibri"/>
              </a:rPr>
              <a:t>Work</a:t>
            </a:r>
            <a:r>
              <a:rPr sz="2800" spc="5" dirty="0">
                <a:latin typeface="Calibri"/>
                <a:cs typeface="Calibri"/>
              </a:rPr>
              <a:t> </a:t>
            </a:r>
            <a:r>
              <a:rPr sz="2800" spc="-15" dirty="0">
                <a:latin typeface="Calibri"/>
                <a:cs typeface="Calibri"/>
              </a:rPr>
              <a:t>Institute</a:t>
            </a:r>
            <a:r>
              <a:rPr sz="2800" spc="20" dirty="0">
                <a:latin typeface="Calibri"/>
                <a:cs typeface="Calibri"/>
              </a:rPr>
              <a:t> </a:t>
            </a:r>
            <a:r>
              <a:rPr sz="2800" spc="-5" dirty="0">
                <a:latin typeface="Calibri"/>
                <a:cs typeface="Calibri"/>
              </a:rPr>
              <a:t>(2013,</a:t>
            </a:r>
            <a:r>
              <a:rPr sz="2800" spc="20" dirty="0">
                <a:latin typeface="Calibri"/>
                <a:cs typeface="Calibri"/>
              </a:rPr>
              <a:t> </a:t>
            </a:r>
            <a:r>
              <a:rPr sz="2800" spc="-5" dirty="0">
                <a:latin typeface="Calibri"/>
                <a:cs typeface="Calibri"/>
              </a:rPr>
              <a:t>2012,</a:t>
            </a:r>
            <a:r>
              <a:rPr sz="2800" spc="45" dirty="0">
                <a:latin typeface="Calibri"/>
                <a:cs typeface="Calibri"/>
              </a:rPr>
              <a:t> </a:t>
            </a:r>
            <a:r>
              <a:rPr sz="2800" spc="-5" dirty="0">
                <a:latin typeface="Calibri"/>
                <a:cs typeface="Calibri"/>
              </a:rPr>
              <a:t>2011,</a:t>
            </a:r>
            <a:r>
              <a:rPr sz="2800" spc="35" dirty="0">
                <a:latin typeface="Calibri"/>
                <a:cs typeface="Calibri"/>
              </a:rPr>
              <a:t> </a:t>
            </a:r>
            <a:r>
              <a:rPr sz="2800" spc="-5" dirty="0">
                <a:latin typeface="Calibri"/>
                <a:cs typeface="Calibri"/>
              </a:rPr>
              <a:t>2010)</a:t>
            </a:r>
            <a:endParaRPr sz="28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A81B67-BE38-4230-648E-05BD2C0F0332}"/>
              </a:ext>
            </a:extLst>
          </p:cNvPr>
          <p:cNvSpPr txBox="1"/>
          <p:nvPr/>
        </p:nvSpPr>
        <p:spPr>
          <a:xfrm>
            <a:off x="1981200" y="2551837"/>
            <a:ext cx="4572000" cy="923330"/>
          </a:xfrm>
          <a:prstGeom prst="rect">
            <a:avLst/>
          </a:prstGeom>
          <a:noFill/>
        </p:spPr>
        <p:txBody>
          <a:bodyPr wrap="square">
            <a:spAutoFit/>
          </a:bodyPr>
          <a:lstStyle/>
          <a:p>
            <a:pPr algn="ctr"/>
            <a:r>
              <a:rPr lang="en-US" sz="5400" b="1" i="1" dirty="0"/>
              <a:t>Thank you</a:t>
            </a:r>
          </a:p>
        </p:txBody>
      </p:sp>
    </p:spTree>
    <p:extLst>
      <p:ext uri="{BB962C8B-B14F-4D97-AF65-F5344CB8AC3E}">
        <p14:creationId xmlns:p14="http://schemas.microsoft.com/office/powerpoint/2010/main" val="3692759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1481</TotalTime>
  <Words>1394</Words>
  <Application>Microsoft Office PowerPoint</Application>
  <PresentationFormat>On-screen Show (4:3)</PresentationFormat>
  <Paragraphs>205</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 MT</vt:lpstr>
      <vt:lpstr>Calibri</vt:lpstr>
      <vt:lpstr>Times New Roman</vt:lpstr>
      <vt:lpstr>Office Theme</vt:lpstr>
      <vt:lpstr>Startup in IT</vt:lpstr>
      <vt:lpstr>PowerPoint Presentation</vt:lpstr>
      <vt:lpstr>Personal Financial Statement</vt:lpstr>
      <vt:lpstr>Startup Expenses and Capitalization</vt:lpstr>
      <vt:lpstr>PowerPoint Presentation</vt:lpstr>
      <vt:lpstr>Startup Expenses and Capitalization</vt:lpstr>
      <vt:lpstr>Startup Expenses and Capitalization</vt:lpstr>
      <vt:lpstr>PowerPoint Presentation</vt:lpstr>
      <vt:lpstr>Financial Plan</vt:lpstr>
      <vt:lpstr>PowerPoint Presentation</vt:lpstr>
      <vt:lpstr>PowerPoint Presentation</vt:lpstr>
      <vt:lpstr>APPENDICES</vt:lpstr>
      <vt:lpstr>PowerPoint Presentation</vt:lpstr>
      <vt:lpstr>PowerPoint Presentation</vt:lpstr>
      <vt:lpstr>Refining the Plan</vt:lpstr>
      <vt:lpstr>Refining the Plan</vt:lpstr>
      <vt:lpstr>Refining the Plan For Type of Business   Manufacturing</vt:lpstr>
      <vt:lpstr>Refining the Plan</vt:lpstr>
      <vt:lpstr>STARTUP STORY  FLIPKART</vt:lpstr>
      <vt:lpstr>PowerPoint Presentation</vt:lpstr>
      <vt:lpstr>How it Started? Flipkart began selling books to begin with. It soon expanded  and began offering a wide variety of goods</vt:lpstr>
      <vt:lpstr>PowerPoint Presentation</vt:lpstr>
      <vt:lpstr>PowerPoint Presentation</vt:lpstr>
      <vt:lpstr>PowerPoint Presentation</vt:lpstr>
      <vt:lpstr>PowerPoint Presentation</vt:lpstr>
      <vt:lpstr>STARTUP STORY Make My Trip</vt:lpstr>
      <vt:lpstr>STARTUP STORY Make My Trip</vt:lpstr>
      <vt:lpstr>STARTUP STORY Make My Trip</vt:lpstr>
      <vt:lpstr>STARTUP STORY Make My Trip</vt:lpstr>
      <vt:lpstr>STARTUP STORY Make My Trip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dc:creator>
  <cp:lastModifiedBy>Hp</cp:lastModifiedBy>
  <cp:revision>45</cp:revision>
  <dcterms:created xsi:type="dcterms:W3CDTF">2023-09-17T11:58:04Z</dcterms:created>
  <dcterms:modified xsi:type="dcterms:W3CDTF">2025-04-04T04:59:19Z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2019-10-15T00:00:00Z</vt:filetime>
  </property>
  <property fmtid="{D5CDD505-2E9C-101B-9397-08002B2CF9AE}" pid="3" name="Creator">
    <vt:lpwstr>Microsoft® PowerPoint® 2016</vt:lpwstr>
  </property>
  <property fmtid="{D5CDD505-2E9C-101B-9397-08002B2CF9AE}" pid="4" name="LastSaved">
    <vt:filetime>2023-09-17T00:00:00Z</vt:filetime>
  </property>
</Properties>
</file>