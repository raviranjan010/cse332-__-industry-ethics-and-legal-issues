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5" r:id="rId5"/>
    <p:sldId id="260" r:id="rId6"/>
    <p:sldId id="276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32EBDF-A55F-4892-8B4F-F80F7F36CF6B}" v="16" dt="2025-01-27T10:51:12.925"/>
    <p1510:client id="{E91B7793-D7BB-44AE-A060-0999F9F5D03E}" v="14" dt="2025-01-26T19:23:32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pin Kumar Chaudhary" userId="d613aa5ee33e12c1" providerId="LiveId" clId="{5E32EBDF-A55F-4892-8B4F-F80F7F36CF6B}"/>
    <pc:docChg chg="modSld">
      <pc:chgData name="Vipin Kumar Chaudhary" userId="d613aa5ee33e12c1" providerId="LiveId" clId="{5E32EBDF-A55F-4892-8B4F-F80F7F36CF6B}" dt="2025-01-27T10:51:17.208" v="32" actId="1076"/>
      <pc:docMkLst>
        <pc:docMk/>
      </pc:docMkLst>
      <pc:sldChg chg="addSp modSp mod">
        <pc:chgData name="Vipin Kumar Chaudhary" userId="d613aa5ee33e12c1" providerId="LiveId" clId="{5E32EBDF-A55F-4892-8B4F-F80F7F36CF6B}" dt="2025-01-27T10:48:50.784" v="1" actId="1076"/>
        <pc:sldMkLst>
          <pc:docMk/>
          <pc:sldMk cId="1188049536" sldId="256"/>
        </pc:sldMkLst>
        <pc:picChg chg="add mod">
          <ac:chgData name="Vipin Kumar Chaudhary" userId="d613aa5ee33e12c1" providerId="LiveId" clId="{5E32EBDF-A55F-4892-8B4F-F80F7F36CF6B}" dt="2025-01-27T10:48:50.784" v="1" actId="1076"/>
          <ac:picMkLst>
            <pc:docMk/>
            <pc:sldMk cId="1188049536" sldId="256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8:56.219" v="3" actId="1076"/>
        <pc:sldMkLst>
          <pc:docMk/>
          <pc:sldMk cId="3517023859" sldId="257"/>
        </pc:sldMkLst>
        <pc:picChg chg="add mod">
          <ac:chgData name="Vipin Kumar Chaudhary" userId="d613aa5ee33e12c1" providerId="LiveId" clId="{5E32EBDF-A55F-4892-8B4F-F80F7F36CF6B}" dt="2025-01-27T10:48:56.219" v="3" actId="1076"/>
          <ac:picMkLst>
            <pc:docMk/>
            <pc:sldMk cId="3517023859" sldId="257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02.189" v="5" actId="1076"/>
        <pc:sldMkLst>
          <pc:docMk/>
          <pc:sldMk cId="2147566385" sldId="258"/>
        </pc:sldMkLst>
        <pc:picChg chg="add mod">
          <ac:chgData name="Vipin Kumar Chaudhary" userId="d613aa5ee33e12c1" providerId="LiveId" clId="{5E32EBDF-A55F-4892-8B4F-F80F7F36CF6B}" dt="2025-01-27T10:49:02.189" v="5" actId="1076"/>
          <ac:picMkLst>
            <pc:docMk/>
            <pc:sldMk cId="2147566385" sldId="258"/>
            <ac:picMk id="2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26.031" v="9" actId="1076"/>
        <pc:sldMkLst>
          <pc:docMk/>
          <pc:sldMk cId="1779955181" sldId="260"/>
        </pc:sldMkLst>
        <pc:picChg chg="add mod">
          <ac:chgData name="Vipin Kumar Chaudhary" userId="d613aa5ee33e12c1" providerId="LiveId" clId="{5E32EBDF-A55F-4892-8B4F-F80F7F36CF6B}" dt="2025-01-27T10:49:26.031" v="9" actId="1076"/>
          <ac:picMkLst>
            <pc:docMk/>
            <pc:sldMk cId="1779955181" sldId="260"/>
            <ac:picMk id="2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47.082" v="13" actId="1076"/>
        <pc:sldMkLst>
          <pc:docMk/>
          <pc:sldMk cId="3860743814" sldId="261"/>
        </pc:sldMkLst>
        <pc:picChg chg="add mod">
          <ac:chgData name="Vipin Kumar Chaudhary" userId="d613aa5ee33e12c1" providerId="LiveId" clId="{5E32EBDF-A55F-4892-8B4F-F80F7F36CF6B}" dt="2025-01-27T10:49:47.082" v="13" actId="1076"/>
          <ac:picMkLst>
            <pc:docMk/>
            <pc:sldMk cId="3860743814" sldId="261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53.758" v="15" actId="1076"/>
        <pc:sldMkLst>
          <pc:docMk/>
          <pc:sldMk cId="2382238555" sldId="262"/>
        </pc:sldMkLst>
        <pc:picChg chg="add mod">
          <ac:chgData name="Vipin Kumar Chaudhary" userId="d613aa5ee33e12c1" providerId="LiveId" clId="{5E32EBDF-A55F-4892-8B4F-F80F7F36CF6B}" dt="2025-01-27T10:49:53.758" v="15" actId="1076"/>
          <ac:picMkLst>
            <pc:docMk/>
            <pc:sldMk cId="2382238555" sldId="262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02.585" v="17" actId="1076"/>
        <pc:sldMkLst>
          <pc:docMk/>
          <pc:sldMk cId="3085389695" sldId="263"/>
        </pc:sldMkLst>
        <pc:picChg chg="add mod">
          <ac:chgData name="Vipin Kumar Chaudhary" userId="d613aa5ee33e12c1" providerId="LiveId" clId="{5E32EBDF-A55F-4892-8B4F-F80F7F36CF6B}" dt="2025-01-27T10:50:02.585" v="17" actId="1076"/>
          <ac:picMkLst>
            <pc:docMk/>
            <pc:sldMk cId="3085389695" sldId="263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21.746" v="19" actId="1076"/>
        <pc:sldMkLst>
          <pc:docMk/>
          <pc:sldMk cId="3618940005" sldId="264"/>
        </pc:sldMkLst>
        <pc:picChg chg="add mod">
          <ac:chgData name="Vipin Kumar Chaudhary" userId="d613aa5ee33e12c1" providerId="LiveId" clId="{5E32EBDF-A55F-4892-8B4F-F80F7F36CF6B}" dt="2025-01-27T10:50:21.746" v="19" actId="1076"/>
          <ac:picMkLst>
            <pc:docMk/>
            <pc:sldMk cId="3618940005" sldId="264"/>
            <ac:picMk id="6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29.458" v="21" actId="1076"/>
        <pc:sldMkLst>
          <pc:docMk/>
          <pc:sldMk cId="1454325595" sldId="265"/>
        </pc:sldMkLst>
        <pc:picChg chg="add mod">
          <ac:chgData name="Vipin Kumar Chaudhary" userId="d613aa5ee33e12c1" providerId="LiveId" clId="{5E32EBDF-A55F-4892-8B4F-F80F7F36CF6B}" dt="2025-01-27T10:50:29.458" v="21" actId="1076"/>
          <ac:picMkLst>
            <pc:docMk/>
            <pc:sldMk cId="1454325595" sldId="265"/>
            <ac:picMk id="8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37.589" v="23" actId="1076"/>
        <pc:sldMkLst>
          <pc:docMk/>
          <pc:sldMk cId="1462986714" sldId="266"/>
        </pc:sldMkLst>
        <pc:picChg chg="add mod">
          <ac:chgData name="Vipin Kumar Chaudhary" userId="d613aa5ee33e12c1" providerId="LiveId" clId="{5E32EBDF-A55F-4892-8B4F-F80F7F36CF6B}" dt="2025-01-27T10:50:37.589" v="23" actId="1076"/>
          <ac:picMkLst>
            <pc:docMk/>
            <pc:sldMk cId="1462986714" sldId="266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44.934" v="25" actId="1076"/>
        <pc:sldMkLst>
          <pc:docMk/>
          <pc:sldMk cId="350035573" sldId="267"/>
        </pc:sldMkLst>
        <pc:picChg chg="add mod">
          <ac:chgData name="Vipin Kumar Chaudhary" userId="d613aa5ee33e12c1" providerId="LiveId" clId="{5E32EBDF-A55F-4892-8B4F-F80F7F36CF6B}" dt="2025-01-27T10:50:44.934" v="25" actId="1076"/>
          <ac:picMkLst>
            <pc:docMk/>
            <pc:sldMk cId="350035573" sldId="267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54.237" v="27" actId="1076"/>
        <pc:sldMkLst>
          <pc:docMk/>
          <pc:sldMk cId="2301352988" sldId="268"/>
        </pc:sldMkLst>
        <pc:picChg chg="add mod">
          <ac:chgData name="Vipin Kumar Chaudhary" userId="d613aa5ee33e12c1" providerId="LiveId" clId="{5E32EBDF-A55F-4892-8B4F-F80F7F36CF6B}" dt="2025-01-27T10:50:54.237" v="27" actId="1076"/>
          <ac:picMkLst>
            <pc:docMk/>
            <pc:sldMk cId="2301352988" sldId="268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1:09.353" v="30" actId="1076"/>
        <pc:sldMkLst>
          <pc:docMk/>
          <pc:sldMk cId="0" sldId="273"/>
        </pc:sldMkLst>
        <pc:picChg chg="add mod">
          <ac:chgData name="Vipin Kumar Chaudhary" userId="d613aa5ee33e12c1" providerId="LiveId" clId="{5E32EBDF-A55F-4892-8B4F-F80F7F36CF6B}" dt="2025-01-27T10:51:09.353" v="30" actId="1076"/>
          <ac:picMkLst>
            <pc:docMk/>
            <pc:sldMk cId="0" sldId="273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1:17.208" v="32" actId="1076"/>
        <pc:sldMkLst>
          <pc:docMk/>
          <pc:sldMk cId="0" sldId="274"/>
        </pc:sldMkLst>
        <pc:picChg chg="add mod">
          <ac:chgData name="Vipin Kumar Chaudhary" userId="d613aa5ee33e12c1" providerId="LiveId" clId="{5E32EBDF-A55F-4892-8B4F-F80F7F36CF6B}" dt="2025-01-27T10:51:17.208" v="32" actId="1076"/>
          <ac:picMkLst>
            <pc:docMk/>
            <pc:sldMk cId="0" sldId="274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14.971" v="7" actId="1076"/>
        <pc:sldMkLst>
          <pc:docMk/>
          <pc:sldMk cId="3921826116" sldId="275"/>
        </pc:sldMkLst>
        <pc:picChg chg="add mod">
          <ac:chgData name="Vipin Kumar Chaudhary" userId="d613aa5ee33e12c1" providerId="LiveId" clId="{5E32EBDF-A55F-4892-8B4F-F80F7F36CF6B}" dt="2025-01-27T10:49:14.971" v="7" actId="1076"/>
          <ac:picMkLst>
            <pc:docMk/>
            <pc:sldMk cId="3921826116" sldId="275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36.059" v="11" actId="1076"/>
        <pc:sldMkLst>
          <pc:docMk/>
          <pc:sldMk cId="3409096144" sldId="276"/>
        </pc:sldMkLst>
        <pc:picChg chg="add mod">
          <ac:chgData name="Vipin Kumar Chaudhary" userId="d613aa5ee33e12c1" providerId="LiveId" clId="{5E32EBDF-A55F-4892-8B4F-F80F7F36CF6B}" dt="2025-01-27T10:49:36.059" v="11" actId="1076"/>
          <ac:picMkLst>
            <pc:docMk/>
            <pc:sldMk cId="3409096144" sldId="276"/>
            <ac:picMk id="4" creationId="{DFEFCC30-BB48-6CE1-CA8F-7B3CDB00FF0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1EF2D-8E91-4DAD-A233-733F1B8FBFAC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DA404-F113-421E-A5ED-FC4BE546E0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111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Apple's Logo:</a:t>
            </a:r>
            <a:r>
              <a:rPr lang="en-US" dirty="0"/>
              <a:t> The iconic bitten apple logo is a product mark associated with Apple devices like iPhones, iPads, and MacBooks.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Nike's Swoosh:</a:t>
            </a:r>
            <a:r>
              <a:rPr lang="en-US" dirty="0"/>
              <a:t> The swoosh logo is a product mark that identifies Nike's athletic footwear and apparel.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Coca-Cola:</a:t>
            </a:r>
            <a:r>
              <a:rPr lang="en-US" dirty="0"/>
              <a:t> The distinctive script logo and name represent the Coca-Cola brand and its beverages.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802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Service Identification:</a:t>
            </a:r>
            <a:r>
              <a:rPr lang="en-US" dirty="0"/>
              <a:t> It is used to identify and promote services rather than goods.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Source Indicator:</a:t>
            </a:r>
            <a:r>
              <a:rPr lang="en-US" dirty="0"/>
              <a:t> It signifies the origin of the service, helping consumers associate it with a particular business.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Non-Tangible Association:</a:t>
            </a:r>
            <a:r>
              <a:rPr lang="en-US" dirty="0"/>
              <a:t> Unlike product marks, service marks are linked to non-physical offerings like hospitality, education, or financial services.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655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FedEx:</a:t>
            </a:r>
            <a:r>
              <a:rPr lang="en-US" dirty="0"/>
              <a:t> The name and logo represent shipping and delivery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McDonald's Golden Arches:</a:t>
            </a:r>
            <a:r>
              <a:rPr lang="en-US" dirty="0"/>
              <a:t> Associated with the restaurant and food service industry.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Netflix:</a:t>
            </a:r>
            <a:r>
              <a:rPr lang="en-US" dirty="0"/>
              <a:t> The name and logo are service marks for online streaming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American Airlines Logo:</a:t>
            </a:r>
            <a:r>
              <a:rPr lang="en-US" dirty="0"/>
              <a:t> Identifies airline transportation services.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625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atin typeface="Calibri"/>
                <a:cs typeface="Calibri"/>
              </a:rPr>
              <a:t>Examples</a:t>
            </a:r>
            <a:r>
              <a:rPr lang="en-US" b="1" spc="-10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are</a:t>
            </a:r>
            <a:r>
              <a:rPr lang="en-US" spc="-10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like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"CA"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device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used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by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members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who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fall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under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Institute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of 	</a:t>
            </a:r>
            <a:r>
              <a:rPr lang="en-US" spc="-10" dirty="0">
                <a:latin typeface="Calibri"/>
                <a:cs typeface="Calibri"/>
              </a:rPr>
              <a:t>Chartered</a:t>
            </a:r>
            <a:r>
              <a:rPr lang="en-US" spc="-95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Accountants;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another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example</a:t>
            </a:r>
            <a:r>
              <a:rPr lang="en-US" spc="-9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"CPA"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which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denotes </a:t>
            </a:r>
            <a:r>
              <a:rPr lang="en-US" spc="-10" dirty="0">
                <a:latin typeface="Calibri"/>
                <a:cs typeface="Calibri"/>
              </a:rPr>
              <a:t>members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the 	</a:t>
            </a:r>
            <a:r>
              <a:rPr lang="en-US" dirty="0">
                <a:latin typeface="Calibri"/>
                <a:cs typeface="Calibri"/>
              </a:rPr>
              <a:t>Society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Certified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Public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Accountants.</a:t>
            </a:r>
            <a:endParaRPr lang="en-US" dirty="0">
              <a:latin typeface="Calibri"/>
              <a:cs typeface="Calibri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462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pc="-10" dirty="0" err="1"/>
              <a:t>Woolmark</a:t>
            </a:r>
            <a:r>
              <a:rPr lang="en-US" spc="-10" dirty="0"/>
              <a:t>,</a:t>
            </a:r>
            <a:r>
              <a:rPr lang="en-US" spc="-105" dirty="0"/>
              <a:t> </a:t>
            </a:r>
            <a:r>
              <a:rPr lang="en-US" dirty="0"/>
              <a:t>which</a:t>
            </a:r>
            <a:r>
              <a:rPr lang="en-US" spc="-125" dirty="0"/>
              <a:t> </a:t>
            </a:r>
            <a:r>
              <a:rPr lang="en-US" dirty="0"/>
              <a:t>is</a:t>
            </a:r>
            <a:r>
              <a:rPr lang="en-US" spc="-140" dirty="0"/>
              <a:t> </a:t>
            </a:r>
            <a:r>
              <a:rPr lang="en-US" dirty="0"/>
              <a:t>certified</a:t>
            </a:r>
            <a:r>
              <a:rPr lang="en-US" spc="-105" dirty="0"/>
              <a:t> </a:t>
            </a:r>
            <a:r>
              <a:rPr lang="en-US" dirty="0"/>
              <a:t>for</a:t>
            </a:r>
            <a:r>
              <a:rPr lang="en-US" spc="-150" dirty="0"/>
              <a:t> </a:t>
            </a:r>
            <a:r>
              <a:rPr lang="en-US" spc="-25" dirty="0"/>
              <a:t>the </a:t>
            </a:r>
            <a:r>
              <a:rPr lang="en-US" dirty="0"/>
              <a:t>fabrics</a:t>
            </a:r>
            <a:r>
              <a:rPr lang="en-US" spc="-120" dirty="0"/>
              <a:t> </a:t>
            </a:r>
            <a:r>
              <a:rPr lang="en-US" dirty="0"/>
              <a:t>on</a:t>
            </a:r>
            <a:r>
              <a:rPr lang="en-US" spc="-125" dirty="0"/>
              <a:t> </a:t>
            </a:r>
            <a:r>
              <a:rPr lang="en-US" dirty="0"/>
              <a:t>clothing,</a:t>
            </a:r>
            <a:r>
              <a:rPr lang="en-US" spc="-75" dirty="0"/>
              <a:t> </a:t>
            </a:r>
            <a:r>
              <a:rPr lang="en-US" dirty="0"/>
              <a:t>Agmark,</a:t>
            </a:r>
            <a:r>
              <a:rPr lang="en-US" spc="-85" dirty="0"/>
              <a:t> </a:t>
            </a:r>
            <a:r>
              <a:rPr lang="en-US" dirty="0"/>
              <a:t>and</a:t>
            </a:r>
            <a:r>
              <a:rPr lang="en-US" spc="-100" dirty="0"/>
              <a:t> </a:t>
            </a:r>
            <a:r>
              <a:rPr lang="en-US" spc="-20" dirty="0"/>
              <a:t>ISI.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UL (Underwriters Laboratories):</a:t>
            </a:r>
            <a:r>
              <a:rPr lang="en-US" dirty="0"/>
              <a:t> Indicates safety and quality standards for electrical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Fair Trade:</a:t>
            </a:r>
            <a:r>
              <a:rPr lang="en-US" dirty="0"/>
              <a:t> Ensures products meet ethical and sustainable production practices.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Energy Star:</a:t>
            </a:r>
            <a:r>
              <a:rPr lang="en-US" dirty="0"/>
              <a:t> Certifies energy-efficient appliances.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Organic Certification:</a:t>
            </a:r>
            <a:r>
              <a:rPr lang="en-US" dirty="0"/>
              <a:t> Verifies organic farming and production practices.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884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Shape marks</a:t>
            </a:r>
            <a:r>
              <a:rPr lang="en-US" dirty="0"/>
              <a:t> are a specific type of trademark that protects the three-dimensional shape or configuration of a product or its packaging. These marks are granted when the shape of the product itself is distinctive and capable of functioning as a source identifier for consumers. Shape marks are considered non-traditional trademarks because they go beyond the standard text or logo-based trademarks.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866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90FB-8E68-2DBB-7A86-CC639DF96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E1B7B-4D4A-B7B3-676F-8064D8BAF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FEDF3-F443-CEF0-97FA-08C01051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1478D-E8F2-178F-0E9B-223DE2E8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A1381-9DFC-D745-5C71-DC0E1AA03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602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75C2-9EC4-0B64-4499-D0B23550E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37BE0-609D-25FA-48E8-06D651D74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D5D53-7227-0854-EE76-C10D461F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4ADE5-A71F-C1E5-875F-916BA3322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E4B0A-5D3B-8347-EF1E-A329D179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80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FE1A-9B57-CAB7-0C99-40923ADB9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F7126-2433-BB9B-C303-59D766BE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CB29A-2BDA-F00C-E64B-4035298D3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3C7DD-4039-0000-4EBA-C69E96800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D6074-B69C-B925-7738-3E88E71E6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7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F6932-E341-B598-75D2-371A597F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E4BF1-8A50-F6A0-52B4-137262230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30EC5-1215-A817-154D-22883BCD3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6D7AA-513D-F798-0C37-2F5CD64F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F5507-0E63-4014-4182-FB5FEB4A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0C5EE-4DA8-33ED-D46C-36E2F8D0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54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43A21-8D8D-6DC8-E0D4-B8F271EB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AE906-769F-04D6-B6EB-F6AC296F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6A013-2324-EC36-F6E3-DD764418E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6490E3-EE10-E449-D11B-F4DC5E1FD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84797-5C4A-9F85-D5FA-D7C70C373F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888EE-6B1D-993C-8646-94B33AE3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957531-F680-CCE6-A68D-9837B2EC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0E30AA-9B95-AE64-AC71-8501B955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53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8D2E-786E-91BF-159A-D277DBB35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87E0C-9DF5-2047-8AE3-BD12A11B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858FF-B539-2DB9-81A4-FF97CBE14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B51E0D-FBCA-3CCF-0964-B709130FA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609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A0353C-7ADD-85B4-91E5-5D8C6CC43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FCE8CB-0309-CE34-80EA-553E02DC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70996-191D-5F95-61D8-DDF4B5FA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99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D312F-C182-4DCD-93B5-5023BB9C0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E06A7-1FD2-1C06-8AA7-2A6DBAF37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53543-4D50-4F5A-A94D-50F9ED029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C6011-D014-DC77-028B-3A2573C9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0210C-8A19-7547-06D5-E523FE7FD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46205-97FF-8768-2A7D-E89E7800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86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265B0-50BF-7E8A-A925-33631871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7A198C-95DD-A7DA-BECE-137B764BD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97345-DD07-F57B-946A-2C38BA0F0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B965E-4352-8932-7BA8-3F1758A0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BD7FE-5184-217A-0E05-0CA6DFF03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09D11-347C-AC67-488D-57CD8401A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321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5D3EA-DFF2-8B1D-0E33-99A21AD9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F81F1-7A89-8909-54DF-98400F1DA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7FA6A-4F9E-3E93-AD7D-24AA9D382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FBCBC-F799-12B7-0939-346F2503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30267-4AB9-67B6-BABE-74FBFE18B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70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A057-F7A4-372E-CC7A-9B6109148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1984D-6887-F7B8-4613-A3737C09C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49373-318D-CE4F-F12D-161640C3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5B917-686D-E454-A165-E0D7411E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502AE-75AF-C57F-6A88-8CFEB7E1A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12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26EDE9-DB01-0E91-95FA-958EE0C01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0F26D-CD48-C6BE-D5A9-363EF953D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67218-DB1D-9F50-8562-FF8398170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5A655-A962-47F0-89BF-D6E4B37F4230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7814E-5180-6ED7-398D-742BAAD9D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1B176-D53B-3EF1-1D57-269BFBA4D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25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78FD8-A02A-B53B-5745-4247B49DC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 of Trademarks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16789-A6FD-4F1B-6CC9-55CA323CC1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" y="1485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49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05943-5237-F96D-4CD6-18AC6636E8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C452E-7A7B-BB87-410F-B6643309DA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D0FAE-DD93-E8DE-9BCA-2D7B23528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826617"/>
            <a:ext cx="9143999" cy="50281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548" y="102616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02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6B0450-2A9D-7AB5-445B-64F59EA7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Calibri"/>
                <a:cs typeface="Calibri"/>
              </a:rPr>
              <a:t>Product</a:t>
            </a:r>
            <a:r>
              <a:rPr lang="en-IN" b="1" spc="-1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b="1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CC5773-E04A-5CC7-6080-2AC68FDCA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spc="-10" dirty="0">
                <a:latin typeface="Calibri"/>
                <a:cs typeface="Calibri"/>
              </a:rPr>
              <a:t>Identify</a:t>
            </a:r>
            <a:r>
              <a:rPr lang="en-US" sz="3200" spc="-10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10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products</a:t>
            </a:r>
            <a:r>
              <a:rPr lang="en-US" sz="3200" spc="-9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or</a:t>
            </a:r>
            <a:r>
              <a:rPr lang="en-US" sz="3200" spc="-8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goods</a:t>
            </a:r>
            <a:r>
              <a:rPr lang="en-US" sz="3200" spc="-12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instead</a:t>
            </a:r>
            <a:r>
              <a:rPr lang="en-US" sz="3200" spc="-8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of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services</a:t>
            </a:r>
            <a:endParaRPr lang="en-IN" spc="-10" dirty="0">
              <a:latin typeface="Calibri"/>
              <a:cs typeface="Calibri"/>
            </a:endParaRPr>
          </a:p>
          <a:p>
            <a:r>
              <a:rPr lang="en-US" sz="3200" dirty="0">
                <a:latin typeface="Calibri"/>
                <a:cs typeface="Calibri"/>
              </a:rPr>
              <a:t>Product</a:t>
            </a:r>
            <a:r>
              <a:rPr lang="en-US" sz="3200" spc="-10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is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unique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selling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feature</a:t>
            </a:r>
            <a:r>
              <a:rPr lang="en-US" sz="3200" spc="-11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of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9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company</a:t>
            </a:r>
            <a:endParaRPr lang="en-IN" sz="3200" b="1" spc="-10" dirty="0">
              <a:latin typeface="Calibri"/>
              <a:cs typeface="Calibri"/>
            </a:endParaRPr>
          </a:p>
          <a:p>
            <a:r>
              <a:rPr lang="en-US" sz="3200" spc="-30" dirty="0">
                <a:latin typeface="Calibri"/>
                <a:cs typeface="Calibri"/>
              </a:rPr>
              <a:t>Initially, </a:t>
            </a:r>
            <a:r>
              <a:rPr lang="en-US" sz="3200" dirty="0">
                <a:latin typeface="Calibri"/>
                <a:cs typeface="Calibri"/>
              </a:rPr>
              <a:t>TM,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which</a:t>
            </a:r>
            <a:r>
              <a:rPr lang="en-US" sz="3200" spc="-4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states</a:t>
            </a:r>
            <a:r>
              <a:rPr lang="en-US" sz="3200" spc="-14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that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mark</a:t>
            </a:r>
            <a:r>
              <a:rPr lang="en-US" sz="3200" spc="-7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is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not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yet</a:t>
            </a:r>
            <a:r>
              <a:rPr lang="en-US" sz="3200" spc="-50" dirty="0">
                <a:latin typeface="Calibri"/>
                <a:cs typeface="Calibri"/>
              </a:rPr>
              <a:t> </a:t>
            </a:r>
            <a:r>
              <a:rPr lang="en-US" sz="3200" spc="-20" dirty="0">
                <a:latin typeface="Calibri"/>
                <a:cs typeface="Calibri"/>
              </a:rPr>
              <a:t>registered.</a:t>
            </a:r>
            <a:endParaRPr lang="en-IN" b="1" spc="-10" dirty="0">
              <a:latin typeface="Calibri"/>
              <a:cs typeface="Calibri"/>
            </a:endParaRPr>
          </a:p>
          <a:p>
            <a:r>
              <a:rPr lang="en-US" sz="3200" spc="-20" dirty="0">
                <a:latin typeface="Calibri"/>
                <a:cs typeface="Calibri"/>
              </a:rPr>
              <a:t>Once </a:t>
            </a:r>
            <a:r>
              <a:rPr lang="en-US" sz="3200" dirty="0">
                <a:latin typeface="Calibri"/>
                <a:cs typeface="Calibri"/>
              </a:rPr>
              <a:t>they</a:t>
            </a:r>
            <a:r>
              <a:rPr lang="en-US" sz="3200" spc="-12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are</a:t>
            </a:r>
            <a:r>
              <a:rPr lang="en-US" sz="3200" spc="-9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registered,</a:t>
            </a:r>
            <a:r>
              <a:rPr lang="en-US" sz="3200" spc="-13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they</a:t>
            </a:r>
            <a:r>
              <a:rPr lang="en-US" sz="3200" spc="-12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have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to</a:t>
            </a:r>
            <a:r>
              <a:rPr lang="en-US" sz="3200" spc="-12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use</a:t>
            </a:r>
            <a:r>
              <a:rPr lang="en-US" sz="3200" spc="-70" dirty="0">
                <a:latin typeface="Calibri"/>
                <a:cs typeface="Calibri"/>
              </a:rPr>
              <a:t> </a:t>
            </a:r>
            <a:r>
              <a:rPr lang="en-US" sz="3200" spc="-25" dirty="0">
                <a:latin typeface="Calibri"/>
                <a:cs typeface="Calibri"/>
              </a:rPr>
              <a:t>®.</a:t>
            </a:r>
          </a:p>
          <a:p>
            <a:pPr marL="0" indent="0">
              <a:buNone/>
            </a:pPr>
            <a:r>
              <a:rPr lang="fr-FR" sz="3200" b="1" spc="-10" dirty="0" err="1">
                <a:latin typeface="Calibri"/>
                <a:cs typeface="Calibri"/>
              </a:rPr>
              <a:t>Examples</a:t>
            </a:r>
            <a:r>
              <a:rPr lang="fr-FR" sz="3200" b="1" spc="-10" dirty="0">
                <a:latin typeface="Calibri"/>
                <a:cs typeface="Calibri"/>
              </a:rPr>
              <a:t>:</a:t>
            </a:r>
            <a:r>
              <a:rPr lang="fr-FR" sz="3200" b="1" spc="-155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Pepsi®,</a:t>
            </a:r>
            <a:r>
              <a:rPr lang="fr-FR" sz="3200" spc="-5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Maggi®,</a:t>
            </a:r>
            <a:r>
              <a:rPr lang="fr-FR" sz="3200" spc="-10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PHILIPS®</a:t>
            </a:r>
            <a:r>
              <a:rPr lang="fr-FR" sz="3200" spc="-70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etc.</a:t>
            </a:r>
            <a:endParaRPr lang="fr-FR" sz="3200" dirty="0">
              <a:latin typeface="Calibri"/>
              <a:cs typeface="Calibri"/>
            </a:endParaRPr>
          </a:p>
          <a:p>
            <a:endParaRPr lang="en-IN" dirty="0"/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C1769A9F-F700-F77A-97F0-74D6F1A82D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288" y="5188975"/>
            <a:ext cx="7097684" cy="12191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06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6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FAC26-4280-BCEA-534D-DD37423FC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Product Marks: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AEB3D-C5A6-68C4-FFA3-6F08A5380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Apple's Logo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Nike's Swoosh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Coca-Cola 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6136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26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05B660-3526-14D0-7920-864B2228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Calibri"/>
                <a:cs typeface="Calibri"/>
              </a:rPr>
              <a:t>Service</a:t>
            </a:r>
            <a:r>
              <a:rPr lang="en-IN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3DE357-40A7-465F-B0FE-D5E4E0875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I</a:t>
            </a:r>
            <a:r>
              <a:rPr lang="en-US" sz="2800" dirty="0">
                <a:latin typeface="Calibri"/>
                <a:cs typeface="Calibri"/>
              </a:rPr>
              <a:t>dentify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and </a:t>
            </a:r>
            <a:r>
              <a:rPr lang="en-US" sz="2800" spc="-10" dirty="0">
                <a:latin typeface="Calibri"/>
                <a:cs typeface="Calibri"/>
              </a:rPr>
              <a:t>distinguish</a:t>
            </a:r>
            <a:r>
              <a:rPr lang="en-US" sz="2800" spc="-1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services</a:t>
            </a:r>
            <a:r>
              <a:rPr lang="en-US" sz="2800" spc="-10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rather</a:t>
            </a:r>
            <a:r>
              <a:rPr lang="en-US" sz="2800" spc="-8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products</a:t>
            </a:r>
            <a:endParaRPr lang="en-US" sz="2800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</a:t>
            </a:r>
            <a:r>
              <a:rPr lang="en-US" sz="2800" dirty="0">
                <a:latin typeface="Calibri"/>
                <a:cs typeface="Calibri"/>
              </a:rPr>
              <a:t>ymbol</a:t>
            </a:r>
            <a:r>
              <a:rPr lang="en-US" sz="2800" spc="-9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SM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not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TM.</a:t>
            </a:r>
          </a:p>
          <a:p>
            <a:pPr marL="0" indent="0">
              <a:buNone/>
            </a:pPr>
            <a:r>
              <a:rPr lang="en-US" b="1" dirty="0"/>
              <a:t> </a:t>
            </a:r>
            <a:endParaRPr lang="en-IN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55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CFAE6-8F21-8C95-6A5F-5C145FDA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Service Marks: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49CF7-CA81-AA7E-AE5D-2A894E2FF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FedEx:</a:t>
            </a:r>
            <a:r>
              <a:rPr lang="en-US" dirty="0"/>
              <a:t>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McDonald's Golden Arches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Netflix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American Airlines Logo 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" y="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96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CA1BFC26-F527-0202-BB38-56303FD043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3860" y="1986116"/>
            <a:ext cx="8677559" cy="3569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" y="87825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4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B1ABE-450E-53A5-1D32-B6DE35CF6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Calibri"/>
                <a:cs typeface="Calibri"/>
              </a:rPr>
              <a:t>Collective</a:t>
            </a:r>
            <a:r>
              <a:rPr lang="en-IN" b="1" spc="-22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b="1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2F084-55FE-F18C-B2E7-4BFA251A3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collective</a:t>
            </a:r>
            <a:r>
              <a:rPr lang="en-US" sz="2800" b="1" spc="-40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mark</a:t>
            </a:r>
            <a:r>
              <a:rPr lang="en-US" sz="2800" b="1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owned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by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collective</a:t>
            </a:r>
          </a:p>
          <a:p>
            <a:r>
              <a:rPr lang="en-US" dirty="0">
                <a:latin typeface="Calibri"/>
                <a:cs typeface="Calibri"/>
              </a:rPr>
              <a:t>I</a:t>
            </a:r>
            <a:r>
              <a:rPr lang="en-US" sz="2800" dirty="0">
                <a:latin typeface="Calibri"/>
                <a:cs typeface="Calibri"/>
              </a:rPr>
              <a:t>dentify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their </a:t>
            </a:r>
            <a:r>
              <a:rPr lang="en-US" sz="2800" dirty="0">
                <a:latin typeface="Calibri"/>
                <a:cs typeface="Calibri"/>
              </a:rPr>
              <a:t>goods and</a:t>
            </a:r>
            <a:r>
              <a:rPr lang="en-US" sz="2800" spc="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services</a:t>
            </a:r>
          </a:p>
          <a:p>
            <a:r>
              <a:rPr lang="en-US" dirty="0">
                <a:latin typeface="Calibri"/>
                <a:cs typeface="Calibri"/>
              </a:rPr>
              <a:t>D</a:t>
            </a:r>
            <a:r>
              <a:rPr lang="en-US" sz="2800" dirty="0">
                <a:latin typeface="Calibri"/>
                <a:cs typeface="Calibri"/>
              </a:rPr>
              <a:t>istinguish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their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goods/</a:t>
            </a:r>
            <a:r>
              <a:rPr lang="en-US" sz="2800" dirty="0">
                <a:latin typeface="Calibri"/>
                <a:cs typeface="Calibri"/>
              </a:rPr>
              <a:t>services</a:t>
            </a:r>
            <a:r>
              <a:rPr lang="en-US" sz="2800" spc="8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from</a:t>
            </a:r>
            <a:r>
              <a:rPr lang="en-US" sz="2800" spc="8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those</a:t>
            </a:r>
            <a:r>
              <a:rPr lang="en-US" sz="2800" spc="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of</a:t>
            </a:r>
            <a:r>
              <a:rPr lang="en-US" sz="2800" spc="90" dirty="0">
                <a:latin typeface="Calibri"/>
                <a:cs typeface="Calibri"/>
              </a:rPr>
              <a:t> </a:t>
            </a:r>
            <a:r>
              <a:rPr lang="en-US" sz="2800" spc="-40" dirty="0">
                <a:latin typeface="Calibri"/>
                <a:cs typeface="Calibri"/>
              </a:rPr>
              <a:t>non-</a:t>
            </a:r>
            <a:r>
              <a:rPr lang="en-US" sz="2800" dirty="0">
                <a:latin typeface="Calibri"/>
                <a:cs typeface="Calibri"/>
              </a:rPr>
              <a:t>members</a:t>
            </a:r>
          </a:p>
          <a:p>
            <a:r>
              <a:rPr lang="en-US" dirty="0">
                <a:latin typeface="Calibri"/>
                <a:cs typeface="Calibri"/>
              </a:rPr>
              <a:t>I</a:t>
            </a:r>
            <a:r>
              <a:rPr lang="en-US" sz="2800" dirty="0">
                <a:latin typeface="Calibri"/>
                <a:cs typeface="Calibri"/>
              </a:rPr>
              <a:t>ndicate</a:t>
            </a:r>
            <a:r>
              <a:rPr lang="en-US" sz="2800" spc="-10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membership</a:t>
            </a:r>
            <a:r>
              <a:rPr lang="en-US" sz="2800" spc="-1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in</a:t>
            </a:r>
            <a:r>
              <a:rPr lang="en-US" sz="2800" spc="-1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114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group.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" y="3124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38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582A-CBB7-3C71-5A40-467E1A3B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/>
                <a:cs typeface="Calibri"/>
              </a:rPr>
              <a:t>Examples</a:t>
            </a:r>
            <a:r>
              <a:rPr lang="en-US" b="1" spc="-10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 </a:t>
            </a:r>
            <a:br>
              <a:rPr lang="en-US" dirty="0">
                <a:latin typeface="Calibri"/>
                <a:cs typeface="Calibri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0D9BD-3B73-703B-9EBE-5D0C63E0B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D6ED083-D566-3406-16BA-A1BAE2DA427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1593861"/>
            <a:ext cx="5800344" cy="15361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3664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389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BEBA-9605-0097-9B06-031302E4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>
                <a:solidFill>
                  <a:srgbClr val="000000"/>
                </a:solidFill>
                <a:latin typeface="Calibri"/>
                <a:cs typeface="Calibri"/>
              </a:rPr>
              <a:t>Certification</a:t>
            </a:r>
            <a:r>
              <a:rPr lang="en-IN" spc="-1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spc="-10" dirty="0">
                <a:solidFill>
                  <a:srgbClr val="000000"/>
                </a:solidFill>
                <a:latin typeface="Calibri"/>
                <a:cs typeface="Calibri"/>
              </a:rPr>
              <a:t>marks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B96E1-C923-4CCE-7D59-8FACDFFD4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pc="-10" dirty="0"/>
              <a:t>Define "standard"</a:t>
            </a:r>
            <a:r>
              <a:rPr lang="en-US" spc="-140" dirty="0"/>
              <a:t> </a:t>
            </a:r>
            <a:r>
              <a:rPr lang="en-US" dirty="0"/>
              <a:t>of</a:t>
            </a:r>
            <a:r>
              <a:rPr lang="en-US" spc="-125" dirty="0"/>
              <a:t> </a:t>
            </a:r>
            <a:r>
              <a:rPr lang="en-US" dirty="0"/>
              <a:t>goods</a:t>
            </a:r>
            <a:r>
              <a:rPr lang="en-US" spc="-90" dirty="0"/>
              <a:t> </a:t>
            </a:r>
            <a:r>
              <a:rPr lang="en-US" dirty="0"/>
              <a:t>and</a:t>
            </a:r>
            <a:r>
              <a:rPr lang="en-US" spc="-105" dirty="0"/>
              <a:t> </a:t>
            </a:r>
            <a:r>
              <a:rPr lang="en-US" spc="-10" dirty="0"/>
              <a:t>services.</a:t>
            </a:r>
          </a:p>
          <a:p>
            <a:r>
              <a:rPr lang="en-US" dirty="0"/>
              <a:t>Examples of common certification marks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UL (Underwriters Laboratories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Fair Trade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Energy Star 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Organic Certification </a:t>
            </a:r>
            <a:endParaRPr lang="en-US" dirty="0"/>
          </a:p>
          <a:p>
            <a:endParaRPr lang="en-US"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B29CC51-06DB-D339-F43B-7801768F11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6144" y="3429000"/>
            <a:ext cx="2801112" cy="2380488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38238085-C005-68F1-779D-502C2FE0BC5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75960" y="3869556"/>
            <a:ext cx="2316341" cy="2005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" y="-86467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4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9745-99E1-D3BD-CF06-53B30655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Calibri"/>
                <a:cs typeface="Calibri"/>
              </a:rPr>
              <a:t>Shape</a:t>
            </a:r>
            <a:r>
              <a:rPr lang="en-IN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spc="-10" dirty="0">
                <a:solidFill>
                  <a:srgbClr val="000000"/>
                </a:solidFill>
                <a:latin typeface="Calibri"/>
                <a:cs typeface="Calibri"/>
              </a:rPr>
              <a:t>Marks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7F897-093C-C96B-31C0-D78B270F7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Trademark that protects three-dimensional shape</a:t>
            </a:r>
          </a:p>
          <a:p>
            <a:r>
              <a:rPr lang="en-US" dirty="0"/>
              <a:t>Configuration of a product /its packaging</a:t>
            </a:r>
          </a:p>
          <a:p>
            <a:r>
              <a:rPr lang="en-US" dirty="0"/>
              <a:t>Granted shape of product is distinctive</a:t>
            </a:r>
          </a:p>
          <a:p>
            <a:pPr marL="0" indent="0">
              <a:buNone/>
            </a:pPr>
            <a:r>
              <a:rPr lang="en-US" dirty="0"/>
              <a:t>.</a:t>
            </a:r>
            <a:endParaRPr lang="en-IN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E7E52D9-918B-6BFC-F63D-6DDAB9FA007C}"/>
              </a:ext>
            </a:extLst>
          </p:cNvPr>
          <p:cNvGrpSpPr/>
          <p:nvPr/>
        </p:nvGrpSpPr>
        <p:grpSpPr>
          <a:xfrm>
            <a:off x="1174285" y="3892122"/>
            <a:ext cx="9144000" cy="2115114"/>
            <a:chOff x="0" y="3861815"/>
            <a:chExt cx="9144000" cy="269748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49BCC8A-FCF2-3508-2DB2-F1CFE4D42D6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8383" y="3901439"/>
              <a:ext cx="3572255" cy="2618232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081CDE97-5D89-5C6C-623A-F1F13BE0C1D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4815" y="3901439"/>
              <a:ext cx="4139184" cy="2618232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F4629E8-10D7-100F-3C07-222386C1252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861815"/>
              <a:ext cx="2444496" cy="2697480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2470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25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4907D-EF45-5493-1596-8B84138A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Pattern 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103BC-BADD-CA1E-2329-36DEB9519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Trademark that protect specific pattern/design</a:t>
            </a:r>
          </a:p>
          <a:p>
            <a:r>
              <a:rPr lang="en-US" dirty="0"/>
              <a:t>Pattern /Design used to identify source of goods/services</a:t>
            </a:r>
          </a:p>
          <a:p>
            <a:pPr marL="0" indent="0">
              <a:buNone/>
            </a:pPr>
            <a:r>
              <a:rPr lang="en-IN" b="1" dirty="0"/>
              <a:t>Examples of Pattern Marks</a:t>
            </a:r>
          </a:p>
          <a:p>
            <a:pPr marL="0" indent="0">
              <a:buNone/>
            </a:pPr>
            <a:r>
              <a:rPr lang="en-IN" dirty="0"/>
              <a:t>Gucci GG Pattern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Louis Vuitton's Monogram Pattern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" y="-42964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986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55A28A64-CF46-7E3E-4A70-A4604A96D7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323" y="2064466"/>
            <a:ext cx="7615348" cy="20665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" y="18512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5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8226-8A16-50E9-8CE9-5777CB99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Calibri"/>
                <a:cs typeface="Calibri"/>
              </a:rPr>
              <a:t>Sound</a:t>
            </a:r>
            <a:r>
              <a:rPr lang="en-IN" b="1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b="1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6A5EF-237A-07E4-B6F4-F0C5C43A6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Protect specific/combination of sounds</a:t>
            </a:r>
          </a:p>
          <a:p>
            <a:r>
              <a:rPr lang="en-US" dirty="0"/>
              <a:t> Sounds to identify and distinguish goods/services of brand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CBE377A-5EA4-C6D2-3079-DD5E46114C3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6689" y="4354670"/>
            <a:ext cx="6757775" cy="18222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5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561</Words>
  <Application>Microsoft Office PowerPoint</Application>
  <PresentationFormat>Widescreen</PresentationFormat>
  <Paragraphs>70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Types of Trademarks</vt:lpstr>
      <vt:lpstr>PowerPoint Presentation</vt:lpstr>
      <vt:lpstr>Product Mark</vt:lpstr>
      <vt:lpstr>Examples of Product Marks: </vt:lpstr>
      <vt:lpstr>Service Mark</vt:lpstr>
      <vt:lpstr>Examples of Service Marks:</vt:lpstr>
      <vt:lpstr>PowerPoint Presentation</vt:lpstr>
      <vt:lpstr>Collective Mark</vt:lpstr>
      <vt:lpstr>Examples   </vt:lpstr>
      <vt:lpstr>Certification marks</vt:lpstr>
      <vt:lpstr>Shape Marks</vt:lpstr>
      <vt:lpstr>Pattern Mark</vt:lpstr>
      <vt:lpstr>PowerPoint Presentation</vt:lpstr>
      <vt:lpstr>Sound Mark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Trademarks</dc:title>
  <dc:creator>Vipin Kumar Chaudhary</dc:creator>
  <cp:lastModifiedBy>Hp</cp:lastModifiedBy>
  <cp:revision>12</cp:revision>
  <dcterms:created xsi:type="dcterms:W3CDTF">2025-01-26T18:35:25Z</dcterms:created>
  <dcterms:modified xsi:type="dcterms:W3CDTF">2025-03-03T05:08:21Z</dcterms:modified>
</cp:coreProperties>
</file>