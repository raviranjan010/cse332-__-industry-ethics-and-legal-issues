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316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58" autoAdjust="0"/>
    <p:restoredTop sz="94660"/>
  </p:normalViewPr>
  <p:slideViewPr>
    <p:cSldViewPr>
      <p:cViewPr varScale="1">
        <p:scale>
          <a:sx n="82" d="100"/>
          <a:sy n="82" d="100"/>
        </p:scale>
        <p:origin x="-696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New%20Folder%20(2)/Form-2.pdf" TargetMode="External"/><Relationship Id="rId2" Type="http://schemas.openxmlformats.org/officeDocument/2006/relationships/hyperlink" Target="New%20Folder%20(2)/Form-1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New%20Folder%20(2)/Form-5.pdf" TargetMode="External"/><Relationship Id="rId4" Type="http://schemas.openxmlformats.org/officeDocument/2006/relationships/hyperlink" Target="New%20Folder%20(2)/Form-26.pd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1571612"/>
            <a:ext cx="99298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Patent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A statutory grant by the government for new inventions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Monopoly Rights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Grants exclusive rights to the inventor for a defined period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Disclosure Requirement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inventor must fully disclose the invention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Legal Protection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Prevents others from using, making, or selling the invention without permission.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646" y="1500174"/>
            <a:ext cx="6096000" cy="37471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10" dirty="0" smtClean="0"/>
              <a:t>Patent</a:t>
            </a:r>
            <a:r>
              <a:rPr lang="en-US" sz="2000" spc="-100" dirty="0" smtClean="0"/>
              <a:t> </a:t>
            </a:r>
            <a:r>
              <a:rPr lang="en-US" sz="2000" spc="-10" dirty="0" smtClean="0"/>
              <a:t>rights</a:t>
            </a:r>
            <a:r>
              <a:rPr lang="en-US" sz="2000" spc="-65" dirty="0" smtClean="0"/>
              <a:t> </a:t>
            </a:r>
            <a:r>
              <a:rPr lang="en-US" sz="2000" dirty="0" smtClean="0"/>
              <a:t>are</a:t>
            </a:r>
            <a:r>
              <a:rPr lang="en-US" sz="2000" spc="-90" dirty="0" smtClean="0"/>
              <a:t> </a:t>
            </a:r>
            <a:r>
              <a:rPr lang="en-US" sz="2000" spc="-10" dirty="0" smtClean="0"/>
              <a:t>territorial</a:t>
            </a:r>
            <a:endParaRPr lang="en-US" sz="2000" dirty="0" smtClean="0"/>
          </a:p>
          <a:p>
            <a:pPr marL="353695" indent="-340995">
              <a:spcBef>
                <a:spcPts val="48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40" dirty="0" smtClean="0"/>
              <a:t>Term:</a:t>
            </a:r>
            <a:r>
              <a:rPr lang="en-US" sz="2000" spc="-75" dirty="0" smtClean="0"/>
              <a:t> </a:t>
            </a:r>
            <a:r>
              <a:rPr lang="en-US" sz="2000" dirty="0" smtClean="0"/>
              <a:t>20</a:t>
            </a:r>
            <a:r>
              <a:rPr lang="en-US" sz="2000" spc="-80" dirty="0" smtClean="0"/>
              <a:t> </a:t>
            </a:r>
            <a:r>
              <a:rPr lang="en-US" sz="2000" dirty="0" smtClean="0"/>
              <a:t>years</a:t>
            </a:r>
            <a:r>
              <a:rPr lang="en-US" sz="2000" spc="-50" dirty="0" smtClean="0"/>
              <a:t> </a:t>
            </a:r>
            <a:r>
              <a:rPr lang="en-US" sz="2000" dirty="0" smtClean="0"/>
              <a:t>from</a:t>
            </a:r>
            <a:r>
              <a:rPr lang="en-US" sz="2000" spc="-80" dirty="0" smtClean="0"/>
              <a:t> </a:t>
            </a:r>
            <a:r>
              <a:rPr lang="en-US" sz="2000" dirty="0" smtClean="0"/>
              <a:t>date</a:t>
            </a:r>
            <a:r>
              <a:rPr lang="en-US" sz="2000" spc="-55" dirty="0" smtClean="0"/>
              <a:t> </a:t>
            </a:r>
            <a:r>
              <a:rPr lang="en-US" sz="2000" dirty="0" smtClean="0"/>
              <a:t>of</a:t>
            </a:r>
            <a:r>
              <a:rPr lang="en-US" sz="2000" spc="-80" dirty="0" smtClean="0"/>
              <a:t> </a:t>
            </a:r>
            <a:r>
              <a:rPr lang="en-US" sz="2000" spc="-10" dirty="0" smtClean="0"/>
              <a:t>filing</a:t>
            </a:r>
            <a:endParaRPr lang="en-US" sz="2000" dirty="0" smtClean="0"/>
          </a:p>
          <a:p>
            <a:pPr marL="353695" indent="-340995">
              <a:spcBef>
                <a:spcPts val="5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b="1" spc="-25" dirty="0" smtClean="0"/>
              <a:t>Aim</a:t>
            </a:r>
            <a:endParaRPr lang="en-US" sz="2000" dirty="0" smtClean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 smtClean="0"/>
              <a:t>Encourage</a:t>
            </a:r>
            <a:r>
              <a:rPr lang="en-US" sz="2000" spc="-140" dirty="0" smtClean="0"/>
              <a:t> </a:t>
            </a:r>
            <a:r>
              <a:rPr lang="en-US" sz="2000" dirty="0" smtClean="0"/>
              <a:t>industrial</a:t>
            </a:r>
            <a:r>
              <a:rPr lang="en-US" sz="2000" spc="-20" dirty="0" smtClean="0"/>
              <a:t> </a:t>
            </a:r>
            <a:r>
              <a:rPr lang="en-US" sz="2000" spc="-10" dirty="0" smtClean="0"/>
              <a:t>development</a:t>
            </a:r>
            <a:endParaRPr lang="en-US" sz="2000" dirty="0" smtClean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 smtClean="0"/>
              <a:t>Encourages</a:t>
            </a:r>
            <a:r>
              <a:rPr lang="en-US" sz="2000" spc="-120" dirty="0" smtClean="0"/>
              <a:t> </a:t>
            </a:r>
            <a:r>
              <a:rPr lang="en-US" sz="2000" dirty="0" smtClean="0"/>
              <a:t>complete</a:t>
            </a:r>
            <a:r>
              <a:rPr lang="en-US" sz="2000" spc="-20" dirty="0" smtClean="0"/>
              <a:t> </a:t>
            </a:r>
            <a:r>
              <a:rPr lang="en-US" sz="2000" spc="-10" dirty="0" smtClean="0"/>
              <a:t>disclosure</a:t>
            </a:r>
            <a:endParaRPr lang="en-US" sz="2000" dirty="0" smtClean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 smtClean="0"/>
              <a:t>Prevents</a:t>
            </a:r>
            <a:r>
              <a:rPr lang="en-US" sz="2000" spc="-30" dirty="0" smtClean="0"/>
              <a:t> </a:t>
            </a:r>
            <a:r>
              <a:rPr lang="en-US" sz="2000" spc="-10" dirty="0" smtClean="0"/>
              <a:t>duplication</a:t>
            </a:r>
            <a:endParaRPr lang="en-US" sz="2000" dirty="0" smtClean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 smtClean="0"/>
              <a:t>Focus</a:t>
            </a:r>
            <a:r>
              <a:rPr lang="en-US" sz="2000" spc="-105" dirty="0" smtClean="0"/>
              <a:t> </a:t>
            </a:r>
            <a:r>
              <a:rPr lang="en-US" sz="2000" dirty="0" smtClean="0"/>
              <a:t>on</a:t>
            </a:r>
            <a:r>
              <a:rPr lang="en-US" sz="2000" spc="-110" dirty="0" smtClean="0"/>
              <a:t> </a:t>
            </a:r>
            <a:r>
              <a:rPr lang="en-US" sz="2000" dirty="0" smtClean="0"/>
              <a:t>commercial</a:t>
            </a:r>
            <a:r>
              <a:rPr lang="en-US" sz="2000" spc="-35" dirty="0" smtClean="0"/>
              <a:t> </a:t>
            </a:r>
            <a:r>
              <a:rPr lang="en-US" sz="2000" spc="-10" dirty="0" smtClean="0"/>
              <a:t>relevance</a:t>
            </a:r>
            <a:endParaRPr lang="en-US" sz="2000" dirty="0" smtClean="0"/>
          </a:p>
          <a:p>
            <a:pPr marL="756285" lvl="1" indent="-286385">
              <a:spcBef>
                <a:spcPts val="4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 smtClean="0"/>
              <a:t>Prevents</a:t>
            </a:r>
            <a:r>
              <a:rPr lang="en-US" sz="2000" spc="-5" dirty="0" smtClean="0"/>
              <a:t> </a:t>
            </a:r>
            <a:r>
              <a:rPr lang="en-US" sz="2000" spc="-20" dirty="0" smtClean="0"/>
              <a:t>exploitation</a:t>
            </a:r>
            <a:r>
              <a:rPr lang="en-US" sz="2000" spc="-80" dirty="0" smtClean="0"/>
              <a:t> </a:t>
            </a:r>
            <a:r>
              <a:rPr lang="en-US" sz="2000" dirty="0" smtClean="0"/>
              <a:t>of</a:t>
            </a:r>
            <a:r>
              <a:rPr lang="en-US" sz="2000" spc="-35" dirty="0" smtClean="0"/>
              <a:t> </a:t>
            </a:r>
            <a:r>
              <a:rPr lang="en-US" sz="2000" spc="-10" dirty="0" smtClean="0"/>
              <a:t>researchers</a:t>
            </a:r>
            <a:endParaRPr lang="en-US" sz="2000" dirty="0" smtClean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 smtClean="0"/>
              <a:t>Revenue</a:t>
            </a:r>
            <a:r>
              <a:rPr lang="en-US" sz="2000" spc="-70" dirty="0" smtClean="0"/>
              <a:t> </a:t>
            </a:r>
            <a:r>
              <a:rPr lang="en-US" sz="2000" spc="-10" dirty="0" smtClean="0"/>
              <a:t>generation</a:t>
            </a:r>
            <a:endParaRPr lang="en-US" sz="2000" dirty="0" smtClean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dirty="0" smtClean="0"/>
              <a:t>Source</a:t>
            </a:r>
            <a:r>
              <a:rPr lang="en-US" sz="2000" spc="-55" dirty="0" smtClean="0"/>
              <a:t> </a:t>
            </a:r>
            <a:r>
              <a:rPr lang="en-US" sz="2000" dirty="0" smtClean="0"/>
              <a:t>of</a:t>
            </a:r>
            <a:r>
              <a:rPr lang="en-US" sz="2000" spc="-50" dirty="0" smtClean="0"/>
              <a:t> </a:t>
            </a:r>
            <a:r>
              <a:rPr lang="en-US" sz="2000" spc="-10" dirty="0" smtClean="0"/>
              <a:t>technical</a:t>
            </a:r>
            <a:r>
              <a:rPr lang="en-US" sz="2000" spc="-105" dirty="0" smtClean="0"/>
              <a:t> </a:t>
            </a:r>
            <a:r>
              <a:rPr lang="en-US" sz="2000" spc="-10" dirty="0" smtClean="0"/>
              <a:t>information</a:t>
            </a:r>
            <a:endParaRPr lang="en-US" sz="2000" dirty="0"/>
          </a:p>
        </p:txBody>
      </p:sp>
      <p:pic>
        <p:nvPicPr>
          <p:cNvPr id="9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3190" y="2143116"/>
            <a:ext cx="4786346" cy="36433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398" y="1357298"/>
            <a:ext cx="6715172" cy="107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8150" y="2928934"/>
            <a:ext cx="5827395" cy="353250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Process</a:t>
            </a:r>
            <a:r>
              <a:rPr sz="2800" b="1" spc="-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Machine</a:t>
            </a:r>
            <a:r>
              <a:rPr sz="2800" b="1" spc="-1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2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Apparatus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Article</a:t>
            </a:r>
            <a:r>
              <a:rPr sz="28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Manufacture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Composition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Matter</a:t>
            </a:r>
            <a:endParaRPr sz="28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31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Chemical</a:t>
            </a:r>
            <a:r>
              <a:rPr sz="2800" b="1" spc="-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Compounds</a:t>
            </a:r>
            <a:endParaRPr sz="28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29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Physical</a:t>
            </a:r>
            <a:r>
              <a:rPr sz="2800" b="1" spc="-1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Mixtures</a:t>
            </a:r>
            <a:endParaRPr sz="2800">
              <a:latin typeface="Times New Roman"/>
              <a:cs typeface="Times New Roman"/>
            </a:endParaRPr>
          </a:p>
          <a:p>
            <a:pPr marL="558165" indent="-5454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558165" algn="l"/>
              </a:tabLst>
            </a:pP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Improvements</a:t>
            </a:r>
            <a:r>
              <a:rPr sz="2800" b="1" spc="-1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Any</a:t>
            </a:r>
            <a:r>
              <a:rPr sz="28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800" b="1" spc="-19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Above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58" y="1928802"/>
            <a:ext cx="8478838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150" y="1000108"/>
            <a:ext cx="5357850" cy="9286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44832" y="1557508"/>
            <a:ext cx="9423199" cy="38754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matter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SHOULD</a:t>
            </a:r>
            <a:r>
              <a:rPr sz="2400" b="1" spc="-9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NOT</a:t>
            </a:r>
            <a:r>
              <a:rPr sz="2400" b="1" spc="-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F81BB"/>
                </a:solidFill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sz="2400" smtClean="0">
                <a:latin typeface="Calibri"/>
                <a:cs typeface="Calibri"/>
              </a:rPr>
              <a:t>PUBLISHED</a:t>
            </a:r>
            <a:r>
              <a:rPr sz="2400" spc="105" smtClean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ANYWHERE</a:t>
            </a:r>
            <a:r>
              <a:rPr sz="2400" b="1" spc="1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1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WORLD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PATENT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INVENTING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25" smtClean="0">
                <a:latin typeface="Calibri"/>
                <a:cs typeface="Calibri"/>
              </a:rPr>
              <a:t>IT</a:t>
            </a:r>
            <a:endParaRPr lang="en-US" sz="2400" spc="-25" dirty="0" smtClean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spc="-25" dirty="0" smtClean="0">
              <a:latin typeface="Calibri"/>
              <a:cs typeface="Calibri"/>
            </a:endParaRPr>
          </a:p>
          <a:p>
            <a:pPr marL="756285" marR="10795" lvl="1" indent="-287020"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lang="en-US" sz="2400" dirty="0" smtClean="0"/>
              <a:t>IN</a:t>
            </a:r>
            <a:r>
              <a:rPr lang="en-US" sz="2400" spc="-40" dirty="0" smtClean="0"/>
              <a:t> </a:t>
            </a:r>
            <a:r>
              <a:rPr lang="en-US" sz="2400" b="1" dirty="0" smtClean="0"/>
              <a:t>PRIOR</a:t>
            </a:r>
            <a:r>
              <a:rPr lang="en-US" sz="2400" b="1" spc="-50" dirty="0" smtClean="0"/>
              <a:t> </a:t>
            </a:r>
            <a:r>
              <a:rPr lang="en-US" sz="2400" b="1" dirty="0" smtClean="0"/>
              <a:t>PUBLIC</a:t>
            </a:r>
            <a:r>
              <a:rPr lang="en-US" sz="2400" b="1" spc="-30" dirty="0" smtClean="0"/>
              <a:t> </a:t>
            </a:r>
            <a:r>
              <a:rPr lang="en-US" sz="2400" b="1" dirty="0" smtClean="0"/>
              <a:t>KNOWLEDGE</a:t>
            </a:r>
            <a:r>
              <a:rPr lang="en-US" sz="2400" b="1" spc="-85" dirty="0" smtClean="0"/>
              <a:t> </a:t>
            </a:r>
            <a:r>
              <a:rPr lang="en-US" sz="2400" b="1" dirty="0" smtClean="0"/>
              <a:t>OR</a:t>
            </a:r>
            <a:r>
              <a:rPr lang="en-US" sz="2400" b="1" spc="-20" dirty="0" smtClean="0"/>
              <a:t> </a:t>
            </a:r>
            <a:r>
              <a:rPr lang="en-US" sz="2400" b="1" dirty="0" smtClean="0"/>
              <a:t>PRIOR</a:t>
            </a:r>
            <a:r>
              <a:rPr lang="en-US" sz="2400" b="1" spc="-35" dirty="0" smtClean="0"/>
              <a:t> </a:t>
            </a:r>
            <a:r>
              <a:rPr lang="en-US" sz="2400" b="1" dirty="0" smtClean="0"/>
              <a:t>PUBLIC</a:t>
            </a:r>
            <a:r>
              <a:rPr lang="en-US" sz="2400" dirty="0" smtClean="0"/>
              <a:t>,</a:t>
            </a:r>
            <a:r>
              <a:rPr lang="en-US" sz="2400" spc="-45" dirty="0" smtClean="0"/>
              <a:t> </a:t>
            </a:r>
            <a:r>
              <a:rPr lang="en-US" sz="2400" spc="-25" dirty="0" smtClean="0"/>
              <a:t>BUT </a:t>
            </a:r>
            <a:r>
              <a:rPr lang="en-US" sz="2400" dirty="0" smtClean="0"/>
              <a:t>NOT</a:t>
            </a:r>
            <a:r>
              <a:rPr lang="en-US" sz="2400" spc="-60" dirty="0" smtClean="0"/>
              <a:t> </a:t>
            </a:r>
            <a:r>
              <a:rPr lang="en-US" sz="2400" spc="-35" dirty="0" smtClean="0"/>
              <a:t>NECESSARILY</a:t>
            </a:r>
            <a:r>
              <a:rPr lang="en-US" sz="2400" spc="-195" dirty="0" smtClean="0"/>
              <a:t> </a:t>
            </a:r>
            <a:r>
              <a:rPr lang="en-US" sz="2400" spc="-45" dirty="0" smtClean="0"/>
              <a:t>PATENTED</a:t>
            </a:r>
            <a:r>
              <a:rPr lang="en-US" sz="2400" spc="-65" dirty="0" smtClean="0"/>
              <a:t> </a:t>
            </a:r>
            <a:r>
              <a:rPr lang="en-US" sz="2400" dirty="0" smtClean="0"/>
              <a:t>OR</a:t>
            </a:r>
            <a:r>
              <a:rPr lang="en-US" sz="2400" spc="-60" dirty="0" smtClean="0"/>
              <a:t> </a:t>
            </a:r>
            <a:r>
              <a:rPr lang="en-US" sz="2400" spc="-10" dirty="0" smtClean="0"/>
              <a:t>PUBLISHED</a:t>
            </a:r>
            <a:endParaRPr lang="en-US" sz="2400" dirty="0" smtClean="0"/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643896"/>
            <a:ext cx="10215634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 smtClean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 smtClean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400" dirty="0" smtClean="0"/>
              <a:t>USE</a:t>
            </a:r>
            <a:r>
              <a:rPr lang="en-US" sz="2400" dirty="0" smtClean="0"/>
              <a:t>,</a:t>
            </a:r>
            <a:r>
              <a:rPr lang="en-US" sz="2400" spc="-65" dirty="0" smtClean="0"/>
              <a:t> </a:t>
            </a:r>
            <a:r>
              <a:rPr lang="en-US" sz="2400" dirty="0" smtClean="0"/>
              <a:t>SALE,</a:t>
            </a:r>
            <a:r>
              <a:rPr lang="en-US" sz="2400" spc="-60" dirty="0" smtClean="0"/>
              <a:t> </a:t>
            </a:r>
            <a:r>
              <a:rPr lang="en-US" sz="2400" dirty="0" smtClean="0"/>
              <a:t>MANUFACTURE,</a:t>
            </a:r>
            <a:r>
              <a:rPr lang="en-US" sz="2400" spc="-45" dirty="0" smtClean="0"/>
              <a:t> </a:t>
            </a:r>
            <a:r>
              <a:rPr lang="en-US" sz="2400" dirty="0" smtClean="0"/>
              <a:t>&amp;</a:t>
            </a:r>
            <a:r>
              <a:rPr lang="en-US" sz="2400" spc="-60" dirty="0" smtClean="0"/>
              <a:t> </a:t>
            </a:r>
            <a:r>
              <a:rPr lang="en-US" sz="2400" dirty="0" smtClean="0"/>
              <a:t>DEVELOPED</a:t>
            </a:r>
            <a:r>
              <a:rPr lang="en-US" sz="2400" spc="-60" dirty="0" smtClean="0"/>
              <a:t> </a:t>
            </a:r>
            <a:r>
              <a:rPr lang="en-US" sz="2400" b="1" spc="-10" dirty="0" smtClean="0"/>
              <a:t>ANYWHERE </a:t>
            </a:r>
            <a:r>
              <a:rPr lang="en-US" sz="2400" b="1" dirty="0" smtClean="0"/>
              <a:t>IN</a:t>
            </a:r>
            <a:r>
              <a:rPr lang="en-US" sz="2400" b="1" spc="-70" dirty="0" smtClean="0"/>
              <a:t> </a:t>
            </a:r>
            <a:r>
              <a:rPr lang="en-US" sz="2400" b="1" dirty="0" smtClean="0"/>
              <a:t>THE</a:t>
            </a:r>
            <a:r>
              <a:rPr lang="en-US" sz="2400" b="1" spc="-45" dirty="0" smtClean="0"/>
              <a:t> </a:t>
            </a:r>
            <a:r>
              <a:rPr lang="en-US" sz="2400" b="1" spc="-10" dirty="0" smtClean="0"/>
              <a:t>WORLD</a:t>
            </a:r>
          </a:p>
          <a:p>
            <a:pPr marL="756285"/>
            <a:endParaRPr lang="en-US" sz="2400" b="1" spc="-10" dirty="0" smtClean="0"/>
          </a:p>
          <a:p>
            <a:pPr marL="756285"/>
            <a:endParaRPr lang="en-US" sz="2400" dirty="0" smtClean="0"/>
          </a:p>
          <a:p>
            <a:pPr marL="756285" lvl="1" indent="-286385">
              <a:spcBef>
                <a:spcPts val="600"/>
              </a:spcBef>
              <a:buFont typeface="Microsoft Sans Serif"/>
              <a:buChar char="–"/>
              <a:tabLst>
                <a:tab pos="756285" algn="l"/>
                <a:tab pos="2192020" algn="l"/>
                <a:tab pos="3457575" algn="l"/>
                <a:tab pos="4024629" algn="l"/>
                <a:tab pos="4497705" algn="l"/>
                <a:tab pos="5723255" algn="l"/>
              </a:tabLst>
            </a:pPr>
            <a:r>
              <a:rPr lang="en-US" sz="2400" spc="-10" dirty="0" smtClean="0"/>
              <a:t>CLAIMED</a:t>
            </a:r>
            <a:r>
              <a:rPr lang="en-US" sz="2400" dirty="0" smtClean="0"/>
              <a:t>	</a:t>
            </a:r>
            <a:r>
              <a:rPr lang="en-US" sz="2400" spc="-10" dirty="0" smtClean="0"/>
              <a:t>BEFORE</a:t>
            </a:r>
            <a:r>
              <a:rPr lang="en-US" sz="2400" dirty="0" smtClean="0"/>
              <a:t>	</a:t>
            </a:r>
            <a:r>
              <a:rPr lang="en-US" sz="2400" spc="-25" dirty="0" smtClean="0"/>
              <a:t>IN</a:t>
            </a:r>
            <a:r>
              <a:rPr lang="en-US" sz="2400" dirty="0" smtClean="0"/>
              <a:t>	</a:t>
            </a:r>
            <a:r>
              <a:rPr lang="en-US" sz="2400" spc="-50" dirty="0" smtClean="0"/>
              <a:t>A</a:t>
            </a:r>
            <a:r>
              <a:rPr lang="en-US" sz="2400" dirty="0" smtClean="0"/>
              <a:t>	</a:t>
            </a:r>
            <a:r>
              <a:rPr lang="en-US" sz="2400" spc="-10" dirty="0" smtClean="0"/>
              <a:t>PATENT</a:t>
            </a:r>
            <a:r>
              <a:rPr lang="en-US" sz="2400" dirty="0" smtClean="0"/>
              <a:t>	</a:t>
            </a:r>
            <a:r>
              <a:rPr lang="en-US" sz="2400" spc="-25" dirty="0" smtClean="0"/>
              <a:t>SPECIFICATION </a:t>
            </a:r>
            <a:r>
              <a:rPr lang="en-US" sz="2400" b="1" dirty="0" smtClean="0"/>
              <a:t>ANYWHERE</a:t>
            </a:r>
            <a:r>
              <a:rPr lang="en-US" sz="2400" b="1" spc="-80" dirty="0" smtClean="0"/>
              <a:t> </a:t>
            </a:r>
            <a:r>
              <a:rPr lang="en-US" sz="2400" b="1" dirty="0" smtClean="0"/>
              <a:t>IN</a:t>
            </a:r>
            <a:r>
              <a:rPr lang="en-US" sz="2400" b="1" spc="-60" dirty="0" smtClean="0"/>
              <a:t> </a:t>
            </a:r>
            <a:r>
              <a:rPr lang="en-US" sz="2400" b="1" dirty="0" smtClean="0"/>
              <a:t>THE</a:t>
            </a:r>
            <a:r>
              <a:rPr lang="en-US" sz="2400" b="1" spc="-55" dirty="0" smtClean="0"/>
              <a:t> </a:t>
            </a:r>
            <a:r>
              <a:rPr lang="en-US" sz="2400" b="1" spc="-10" dirty="0" smtClean="0"/>
              <a:t>WORLD</a:t>
            </a:r>
            <a:endParaRPr lang="en-US" sz="2400" dirty="0"/>
          </a:p>
        </p:txBody>
      </p:sp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/>
          <p:cNvGrpSpPr/>
          <p:nvPr/>
        </p:nvGrpSpPr>
        <p:grpSpPr>
          <a:xfrm>
            <a:off x="2755392" y="3916679"/>
            <a:ext cx="4632462" cy="2536190"/>
            <a:chOff x="2755392" y="3916679"/>
            <a:chExt cx="3615054" cy="2536190"/>
          </a:xfrm>
        </p:grpSpPr>
        <p:pic>
          <p:nvPicPr>
            <p:cNvPr id="4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392" y="3916679"/>
              <a:ext cx="3614928" cy="2535936"/>
            </a:xfrm>
            <a:prstGeom prst="rect">
              <a:avLst/>
            </a:prstGeom>
          </p:spPr>
        </p:pic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632" y="3931919"/>
              <a:ext cx="3529584" cy="2450592"/>
            </a:xfrm>
            <a:prstGeom prst="rect">
              <a:avLst/>
            </a:prstGeom>
          </p:spPr>
        </p:pic>
      </p:grpSp>
      <p:pic>
        <p:nvPicPr>
          <p:cNvPr id="6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398" y="785794"/>
            <a:ext cx="4237812" cy="478536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307035" y="1367104"/>
            <a:ext cx="10360997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 smtClean="0">
                <a:latin typeface="Calibri"/>
                <a:cs typeface="Calibri"/>
              </a:rPr>
              <a:t>The</a:t>
            </a:r>
            <a:r>
              <a:rPr sz="2400" spc="-7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conducted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invention </a:t>
            </a:r>
            <a:endParaRPr lang="en-US" sz="2400" spc="-10" dirty="0" smtClean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spc="-10" dirty="0" smtClean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tabLst>
                <a:tab pos="356870" algn="l"/>
              </a:tabLst>
            </a:pPr>
            <a:r>
              <a:rPr lang="en-US" sz="24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      </a:t>
            </a:r>
            <a:r>
              <a:rPr sz="2400" b="1" smtClean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3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anticipated</a:t>
            </a:r>
            <a:r>
              <a:rPr sz="24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prior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endParaRPr sz="2400" b="1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10578" y="1214422"/>
            <a:ext cx="3206750" cy="5200015"/>
            <a:chOff x="5779008" y="1322832"/>
            <a:chExt cx="3206750" cy="5200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9008" y="1322832"/>
              <a:ext cx="3206495" cy="5199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296" y="1341119"/>
              <a:ext cx="3118104" cy="5111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522" y="928670"/>
            <a:ext cx="4681728" cy="4297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035" y="1922205"/>
            <a:ext cx="7432039" cy="298350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  <a:buFont typeface="Microsoft Sans Serif"/>
              <a:buChar char="•"/>
            </a:pP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Meaning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65" dirty="0">
                <a:latin typeface="Calibri"/>
                <a:cs typeface="Calibri"/>
              </a:rPr>
              <a:t>w.r.t.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Patents:</a:t>
            </a:r>
            <a:endParaRPr sz="24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 smtClean="0">
                <a:latin typeface="Calibri"/>
                <a:cs typeface="Calibri"/>
              </a:rPr>
              <a:t>Any</a:t>
            </a:r>
            <a:r>
              <a:rPr sz="2400" spc="-15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invention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destroys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45998" y="1113485"/>
            <a:ext cx="33477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Who</a:t>
            </a:r>
            <a:r>
              <a:rPr kumimoji="0" lang="en-US" sz="2800" b="1" i="0" u="none" strike="noStrike" kern="0" cap="none" spc="-85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can</a:t>
            </a:r>
            <a:r>
              <a:rPr kumimoji="0" lang="en-US" sz="2800" b="1" i="0" u="none" strike="noStrike" kern="0" cap="none" spc="-25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file</a:t>
            </a:r>
            <a:r>
              <a:rPr kumimoji="0" lang="en-US" sz="2800" b="1" i="0" u="none" strike="noStrike" kern="0" cap="none" spc="-6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</a:t>
            </a:r>
            <a:r>
              <a:rPr kumimoji="0" lang="en-US" sz="2800" b="1" i="0" u="none" strike="noStrike" kern="0" cap="none" spc="-5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-1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patent?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998" y="1858721"/>
            <a:ext cx="5329555" cy="414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Section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6:</a:t>
            </a:r>
            <a:r>
              <a:rPr sz="2000" b="1" i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Persons</a:t>
            </a:r>
            <a:r>
              <a:rPr sz="2000" b="1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entitled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i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apply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patents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True</a:t>
            </a:r>
            <a:r>
              <a:rPr sz="2000" i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000" i="1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first</a:t>
            </a:r>
            <a:r>
              <a:rPr sz="2000" i="1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inventor</a:t>
            </a:r>
            <a:r>
              <a:rPr sz="2000" i="1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invention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Assignee</a:t>
            </a:r>
            <a:r>
              <a:rPr sz="2000" i="1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true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first</a:t>
            </a:r>
            <a:r>
              <a:rPr sz="2000" i="1" spc="-10" dirty="0">
                <a:latin typeface="Calibri"/>
                <a:cs typeface="Calibri"/>
              </a:rPr>
              <a:t> inventor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4184" marR="5080" indent="-452120" algn="just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Legal</a:t>
            </a:r>
            <a:r>
              <a:rPr sz="2000" i="1" spc="140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Representative</a:t>
            </a:r>
            <a:r>
              <a:rPr sz="2000" i="1" spc="14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12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14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deceased</a:t>
            </a:r>
            <a:r>
              <a:rPr sz="2000" i="1" spc="135" dirty="0">
                <a:latin typeface="Calibri"/>
                <a:cs typeface="Calibri"/>
              </a:rPr>
              <a:t>  </a:t>
            </a:r>
            <a:r>
              <a:rPr sz="2000" i="1" spc="-10" dirty="0">
                <a:latin typeface="Calibri"/>
                <a:cs typeface="Calibri"/>
              </a:rPr>
              <a:t>person 	</a:t>
            </a:r>
            <a:r>
              <a:rPr sz="2000" i="1" dirty="0">
                <a:latin typeface="Calibri"/>
                <a:cs typeface="Calibri"/>
              </a:rPr>
              <a:t>who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immediately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before</a:t>
            </a:r>
            <a:r>
              <a:rPr sz="2000" i="1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his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death</a:t>
            </a:r>
            <a:r>
              <a:rPr sz="2000" i="1" spc="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10" dirty="0">
                <a:latin typeface="Calibri"/>
                <a:cs typeface="Calibri"/>
              </a:rPr>
              <a:t> entitled 	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make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Application</a:t>
            </a:r>
            <a:r>
              <a:rPr sz="2000" i="1" spc="2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submitted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either</a:t>
            </a:r>
            <a:r>
              <a:rPr sz="2000" i="1" spc="2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alone</a:t>
            </a:r>
            <a:r>
              <a:rPr sz="2000" i="1" spc="2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229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jointly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other</a:t>
            </a:r>
            <a:r>
              <a:rPr sz="2000" i="1" spc="-8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person.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6330" y="1928802"/>
            <a:ext cx="2636520" cy="3364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642918"/>
            <a:ext cx="5151120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024298" y="714356"/>
            <a:ext cx="48158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Types</a:t>
            </a:r>
            <a:r>
              <a:rPr kumimoji="0" lang="en-US" sz="4400" b="0" i="0" u="none" strike="noStrike" kern="0" cap="none" spc="-18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204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Applications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2357430"/>
            <a:ext cx="6247765" cy="3559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8309" indent="-435609">
              <a:lnSpc>
                <a:spcPct val="100000"/>
              </a:lnSpc>
              <a:spcBef>
                <a:spcPts val="894"/>
              </a:spcBef>
              <a:buFont typeface="Microsoft Sans Serif"/>
              <a:buChar char="•"/>
              <a:tabLst>
                <a:tab pos="448309" algn="l"/>
                <a:tab pos="2082164" algn="l"/>
              </a:tabLst>
            </a:pP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5" dirty="0">
                <a:latin typeface="Calibri"/>
                <a:cs typeface="Calibri"/>
              </a:rPr>
              <a:t>Convention</a:t>
            </a:r>
            <a:r>
              <a:rPr sz="3200" spc="-1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Patent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Addition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Divisional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National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40" y="928670"/>
            <a:ext cx="1542288" cy="12374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80369" y="7201843"/>
            <a:ext cx="7143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07-10-</a:t>
            </a: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666712" y="915216"/>
            <a:ext cx="104299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05459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Documents</a:t>
            </a:r>
            <a:r>
              <a:rPr kumimoji="0" lang="en-US" sz="3600" b="0" i="0" u="none" strike="noStrike" kern="0" cap="none" spc="-4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required</a:t>
            </a:r>
            <a:r>
              <a:rPr kumimoji="0" lang="en-US" sz="3600" b="0" i="0" u="none" strike="noStrike" kern="0" cap="none" spc="-2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for </a:t>
            </a: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filing</a:t>
            </a:r>
            <a:r>
              <a:rPr kumimoji="0" lang="en-US" sz="3600" b="0" i="0" u="none" strike="noStrike" kern="0" cap="none" spc="-2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of</a:t>
            </a:r>
            <a:r>
              <a:rPr kumimoji="0" lang="en-US" sz="3600" b="0" i="0" u="none" strike="noStrike" kern="0" cap="none" spc="-2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</a:t>
            </a:r>
            <a:r>
              <a:rPr kumimoji="0" lang="en-US" sz="3600" b="0" i="0" u="none" strike="noStrike" kern="0" cap="none" spc="-21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3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Patent</a:t>
            </a:r>
            <a:r>
              <a:rPr kumimoji="0" lang="en-US" sz="3600" b="0" i="0" u="none" strike="noStrike" kern="0" cap="none" spc="-21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 Light"/>
              <a:cs typeface="Times New Roman"/>
              <a:sym typeface="Calibri Ligh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166778" y="2071678"/>
            <a:ext cx="9644130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5217160" algn="l"/>
              </a:tabLst>
            </a:pPr>
            <a:r>
              <a:rPr sz="2000" b="1" dirty="0">
                <a:latin typeface="Times New Roman"/>
                <a:cs typeface="Times New Roman"/>
              </a:rPr>
              <a:t>Application for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Grant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Patent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Form 1</a:t>
            </a:r>
            <a:r>
              <a:rPr sz="2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Complete/Provisional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Form</a:t>
            </a:r>
            <a:r>
              <a:rPr sz="200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2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Statement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Undertaking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ts val="216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Power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of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Attorney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Form 26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(in</a:t>
            </a:r>
            <a:r>
              <a:rPr sz="2000" b="1" spc="-10" dirty="0">
                <a:latin typeface="Times New Roman"/>
                <a:cs typeface="Times New Roman"/>
              </a:rPr>
              <a:t> original)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>
                <a:latin typeface="Times New Roman"/>
                <a:cs typeface="Times New Roman"/>
              </a:rPr>
              <a:t>filed </a:t>
            </a:r>
            <a:r>
              <a:rPr sz="2000" b="1" spc="-10" smtClean="0">
                <a:latin typeface="Times New Roman"/>
                <a:cs typeface="Times New Roman"/>
              </a:rPr>
              <a:t>through</a:t>
            </a:r>
            <a:r>
              <a:rPr lang="en-US" sz="2000" b="1" spc="-10" dirty="0" smtClean="0">
                <a:latin typeface="Times New Roman"/>
                <a:cs typeface="Times New Roman"/>
              </a:rPr>
              <a:t> </a:t>
            </a:r>
            <a:r>
              <a:rPr sz="2000" b="1" spc="-10" smtClean="0">
                <a:latin typeface="Times New Roman"/>
                <a:cs typeface="Times New Roman"/>
              </a:rPr>
              <a:t>attorney</a:t>
            </a:r>
            <a:r>
              <a:rPr sz="2000" b="1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Declaration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Inventor-ship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Form</a:t>
            </a:r>
            <a:r>
              <a:rPr sz="2000" b="1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 startAt="5"/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Requisite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Statutory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(copy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Priority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cheque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DD).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5"/>
            </a:pP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Covering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letter-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indicating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documents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738282" y="571480"/>
            <a:ext cx="7572428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Contents</a:t>
            </a:r>
            <a:r>
              <a:rPr kumimoji="0" lang="en-US" sz="4400" b="0" i="0" u="none" strike="noStrike" kern="0" cap="none" spc="-16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16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Specification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520570"/>
            <a:ext cx="9775207" cy="44469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Title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Background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invention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ART)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Brief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Detailed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Claims-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Abstract-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738150" y="2000240"/>
            <a:ext cx="5643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Provisional</a:t>
            </a:r>
            <a:r>
              <a:rPr kumimoji="0" lang="en-US" sz="3600" b="1" i="0" u="sng" strike="noStrike" kern="0" cap="none" spc="-7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3600" b="1" i="0" u="sng" strike="noStrike" kern="0" cap="none" spc="-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026" y="3000372"/>
            <a:ext cx="7223125" cy="24224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90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priority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expensive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Quick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Title/Description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305"/>
              </a:lnSpc>
              <a:spcBef>
                <a:spcPts val="5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claims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195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conventional/PCT/Divisional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ts val="2295"/>
              </a:lnSpc>
            </a:pPr>
            <a:r>
              <a:rPr sz="2000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 startAt="7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optional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advisable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1000108"/>
            <a:ext cx="6215106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19823" y="2191623"/>
            <a:ext cx="3021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1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</a:t>
            </a:r>
            <a:r>
              <a:rPr kumimoji="0" lang="en-US" sz="2400" b="1" i="0" u="sng" strike="noStrike" kern="0" cap="none" spc="-1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omplete</a:t>
            </a:r>
            <a:r>
              <a:rPr kumimoji="0" lang="en-US" sz="2400" b="1" i="0" u="sng" strike="noStrike" kern="0" cap="none" spc="-6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400" b="1" i="0" u="sng" strike="noStrike" kern="0" cap="none" spc="-1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specifications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22" y="2873741"/>
            <a:ext cx="10962589" cy="204286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570"/>
              </a:spcBef>
            </a:pPr>
            <a:r>
              <a:rPr lang="en-US" sz="2000" spc="325" dirty="0" smtClean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lang="en-US" sz="2000" spc="325" dirty="0" smtClean="0">
                <a:solidFill>
                  <a:srgbClr val="1F477B"/>
                </a:solidFill>
                <a:latin typeface="Calibri"/>
                <a:cs typeface="Calibri"/>
              </a:rPr>
              <a:t>  </a:t>
            </a:r>
            <a:r>
              <a:rPr sz="2000" spc="325" smtClean="0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patent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accompanied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32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specification,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specification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shall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twelve</a:t>
            </a:r>
            <a:r>
              <a:rPr sz="2000" u="sng" spc="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months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application,.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E.g.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2355"/>
              </a:spcBef>
            </a:pP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</a:pPr>
            <a:r>
              <a:rPr sz="2000" i="1" spc="-10" dirty="0">
                <a:latin typeface="Calibri"/>
                <a:cs typeface="Calibri"/>
              </a:rPr>
              <a:t>Provisional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application: </a:t>
            </a:r>
            <a:r>
              <a:rPr sz="2000" i="1" spc="-25" dirty="0">
                <a:latin typeface="Calibri"/>
                <a:cs typeface="Calibri"/>
              </a:rPr>
              <a:t>01-12-</a:t>
            </a:r>
            <a:r>
              <a:rPr sz="2000" i="1" spc="-20" dirty="0">
                <a:latin typeface="Calibri"/>
                <a:cs typeface="Calibri"/>
              </a:rPr>
              <a:t>2008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Calibri"/>
                <a:cs typeface="Calibri"/>
              </a:rPr>
              <a:t>Complete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specification: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01-</a:t>
            </a:r>
            <a:r>
              <a:rPr sz="2000" i="1" spc="-25" dirty="0">
                <a:latin typeface="Calibri"/>
                <a:cs typeface="Calibri"/>
              </a:rPr>
              <a:t>12-</a:t>
            </a:r>
            <a:r>
              <a:rPr sz="2000" i="1" spc="-20" dirty="0">
                <a:latin typeface="Calibri"/>
                <a:cs typeface="Calibri"/>
              </a:rPr>
              <a:t>2009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9786" y="1142984"/>
            <a:ext cx="4529328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336</Words>
  <PresentationFormat>Custom</PresentationFormat>
  <Paragraphs>109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12</cp:revision>
  <dcterms:modified xsi:type="dcterms:W3CDTF">2025-02-04T06:59:54Z</dcterms:modified>
</cp:coreProperties>
</file>